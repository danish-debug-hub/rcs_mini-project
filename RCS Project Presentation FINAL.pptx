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4"/>
  </p:notesMasterIdLst>
  <p:sldIdLst>
    <p:sldId id="257" r:id="rId2"/>
    <p:sldId id="256" r:id="rId3"/>
    <p:sldId id="281" r:id="rId4"/>
    <p:sldId id="296" r:id="rId5"/>
    <p:sldId id="260" r:id="rId6"/>
    <p:sldId id="261" r:id="rId7"/>
    <p:sldId id="283" r:id="rId8"/>
    <p:sldId id="301" r:id="rId9"/>
    <p:sldId id="262" r:id="rId10"/>
    <p:sldId id="285" r:id="rId11"/>
    <p:sldId id="304" r:id="rId12"/>
    <p:sldId id="302" r:id="rId13"/>
    <p:sldId id="303" r:id="rId14"/>
    <p:sldId id="305" r:id="rId15"/>
    <p:sldId id="306" r:id="rId16"/>
    <p:sldId id="307" r:id="rId17"/>
    <p:sldId id="308" r:id="rId18"/>
    <p:sldId id="309" r:id="rId19"/>
    <p:sldId id="310" r:id="rId20"/>
    <p:sldId id="311" r:id="rId21"/>
    <p:sldId id="263" r:id="rId22"/>
    <p:sldId id="284" r:id="rId23"/>
    <p:sldId id="297" r:id="rId24"/>
    <p:sldId id="298" r:id="rId25"/>
    <p:sldId id="312" r:id="rId26"/>
    <p:sldId id="313" r:id="rId27"/>
    <p:sldId id="314" r:id="rId28"/>
    <p:sldId id="315" r:id="rId29"/>
    <p:sldId id="299" r:id="rId30"/>
    <p:sldId id="316" r:id="rId31"/>
    <p:sldId id="300" r:id="rId32"/>
    <p:sldId id="271" r:id="rId33"/>
  </p:sldIdLst>
  <p:sldSz cx="12192000" cy="6858000"/>
  <p:notesSz cx="9144000" cy="6858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uaz Rauf" initials="MR" lastIdx="1" clrIdx="0">
    <p:extLst>
      <p:ext uri="{19B8F6BF-5375-455C-9EA6-DF929625EA0E}">
        <p15:presenceInfo xmlns:p15="http://schemas.microsoft.com/office/powerpoint/2012/main" userId="53ca93ec91737fce"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showAnimation="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52A93"/>
    <a:srgbClr val="404040"/>
    <a:srgbClr val="92278F"/>
    <a:srgbClr val="B0A7D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697" autoAdjust="0"/>
    <p:restoredTop sz="87650" autoAdjust="0"/>
  </p:normalViewPr>
  <p:slideViewPr>
    <p:cSldViewPr snapToGrid="0">
      <p:cViewPr varScale="1">
        <p:scale>
          <a:sx n="98" d="100"/>
          <a:sy n="98" d="100"/>
        </p:scale>
        <p:origin x="858"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C7A5D685-5A91-4064-A719-A3EA73A63D68}" type="datetimeFigureOut">
              <a:rPr lang="en-US" smtClean="0"/>
              <a:t>12/16/2025</a:t>
            </a:fld>
            <a:endParaRPr lang="en-US"/>
          </a:p>
        </p:txBody>
      </p:sp>
      <p:sp>
        <p:nvSpPr>
          <p:cNvPr id="4" name="Slide Image Placeholder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0A96E620-9823-46DB-9C8F-4569965EF744}" type="slidenum">
              <a:rPr lang="en-US" smtClean="0"/>
              <a:t>‹#›</a:t>
            </a:fld>
            <a:endParaRPr lang="en-US"/>
          </a:p>
        </p:txBody>
      </p:sp>
    </p:spTree>
    <p:extLst>
      <p:ext uri="{BB962C8B-B14F-4D97-AF65-F5344CB8AC3E}">
        <p14:creationId xmlns:p14="http://schemas.microsoft.com/office/powerpoint/2010/main" val="29090580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880087-4CB6-BA85-F45E-597CAE81B1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AB153E-A95B-8D66-A923-95B3771860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E1E904-EBB2-7455-6B50-503C61D6AC7E}"/>
              </a:ext>
            </a:extLst>
          </p:cNvPr>
          <p:cNvSpPr>
            <a:spLocks noGrp="1"/>
          </p:cNvSpPr>
          <p:nvPr>
            <p:ph type="body" idx="1"/>
          </p:nvPr>
        </p:nvSpPr>
        <p:spPr/>
        <p:txBody>
          <a:bodyPr/>
          <a:lstStyle/>
          <a:p>
            <a:r>
              <a:rPr lang="en-US" dirty="0"/>
              <a:t>As internet traffic grows, congestion becomes a critical issue. Traditional algorithms like Random Early Detection, or RED, often fail because they are hard to tune and unstable under varying loads. Our project explores a robust control method that mathematically guarantees stability despite these variations.</a:t>
            </a:r>
          </a:p>
        </p:txBody>
      </p:sp>
      <p:sp>
        <p:nvSpPr>
          <p:cNvPr id="4" name="Slide Number Placeholder 3">
            <a:extLst>
              <a:ext uri="{FF2B5EF4-FFF2-40B4-BE49-F238E27FC236}">
                <a16:creationId xmlns:a16="http://schemas.microsoft.com/office/drawing/2014/main" id="{41123E4A-866E-9A90-BEC4-A7683D48B9F1}"/>
              </a:ext>
            </a:extLst>
          </p:cNvPr>
          <p:cNvSpPr>
            <a:spLocks noGrp="1"/>
          </p:cNvSpPr>
          <p:nvPr>
            <p:ph type="sldNum" sz="quarter" idx="5"/>
          </p:nvPr>
        </p:nvSpPr>
        <p:spPr/>
        <p:txBody>
          <a:bodyPr/>
          <a:lstStyle/>
          <a:p>
            <a:fld id="{0A96E620-9823-46DB-9C8F-4569965EF744}" type="slidenum">
              <a:rPr lang="en-US" smtClean="0"/>
              <a:t>4</a:t>
            </a:fld>
            <a:endParaRPr lang="en-US"/>
          </a:p>
        </p:txBody>
      </p:sp>
    </p:spTree>
    <p:extLst>
      <p:ext uri="{BB962C8B-B14F-4D97-AF65-F5344CB8AC3E}">
        <p14:creationId xmlns:p14="http://schemas.microsoft.com/office/powerpoint/2010/main" val="29322114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main problem with existing robust controllers is that they need data the router doesn't have, like the window size of every user. Obtaining this is impractical. Our solution uses Static Output Feedback, which relies solely on the queue length—a metric the router already possesses—making it far more practical for real-world implementation.</a:t>
            </a:r>
          </a:p>
        </p:txBody>
      </p:sp>
      <p:sp>
        <p:nvSpPr>
          <p:cNvPr id="4" name="Slide Number Placeholder 3"/>
          <p:cNvSpPr>
            <a:spLocks noGrp="1"/>
          </p:cNvSpPr>
          <p:nvPr>
            <p:ph type="sldNum" sz="quarter" idx="5"/>
          </p:nvPr>
        </p:nvSpPr>
        <p:spPr/>
        <p:txBody>
          <a:bodyPr/>
          <a:lstStyle/>
          <a:p>
            <a:fld id="{0A96E620-9823-46DB-9C8F-4569965EF744}" type="slidenum">
              <a:rPr lang="en-US" smtClean="0"/>
              <a:t>5</a:t>
            </a:fld>
            <a:endParaRPr lang="en-US"/>
          </a:p>
        </p:txBody>
      </p:sp>
    </p:spTree>
    <p:extLst>
      <p:ext uri="{BB962C8B-B14F-4D97-AF65-F5344CB8AC3E}">
        <p14:creationId xmlns:p14="http://schemas.microsoft.com/office/powerpoint/2010/main" val="1297003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the nonlinear fluid-flow model. The first equation represents TCP's additive increase and multiplicative decrease behavior. The second equation simply tracks the queue length based on incoming traffic versus the link's outgoing capacity</a:t>
            </a:r>
          </a:p>
        </p:txBody>
      </p:sp>
      <p:sp>
        <p:nvSpPr>
          <p:cNvPr id="4" name="Slide Number Placeholder 3"/>
          <p:cNvSpPr>
            <a:spLocks noGrp="1"/>
          </p:cNvSpPr>
          <p:nvPr>
            <p:ph type="sldNum" sz="quarter" idx="5"/>
          </p:nvPr>
        </p:nvSpPr>
        <p:spPr/>
        <p:txBody>
          <a:bodyPr/>
          <a:lstStyle/>
          <a:p>
            <a:fld id="{0A96E620-9823-46DB-9C8F-4569965EF744}" type="slidenum">
              <a:rPr lang="en-US" smtClean="0"/>
              <a:t>6</a:t>
            </a:fld>
            <a:endParaRPr lang="en-US"/>
          </a:p>
        </p:txBody>
      </p:sp>
    </p:spTree>
    <p:extLst>
      <p:ext uri="{BB962C8B-B14F-4D97-AF65-F5344CB8AC3E}">
        <p14:creationId xmlns:p14="http://schemas.microsoft.com/office/powerpoint/2010/main" val="200194114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C0EB4-4E0E-0276-E703-8A388AF4E1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855CE0-88F3-40BB-6ADC-37118E107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EC237F-B170-0996-A980-7B5EBDACEA03}"/>
              </a:ext>
            </a:extLst>
          </p:cNvPr>
          <p:cNvSpPr>
            <a:spLocks noGrp="1"/>
          </p:cNvSpPr>
          <p:nvPr>
            <p:ph type="body" idx="1"/>
          </p:nvPr>
        </p:nvSpPr>
        <p:spPr/>
        <p:txBody>
          <a:bodyPr/>
          <a:lstStyle/>
          <a:p>
            <a:r>
              <a:rPr lang="en-US" dirty="0"/>
              <a:t>To apply linear control theory, we linearized the system around an equilibrium point. This gives us a state-space model that accounts for the deviations in window size and queue length. Crucially, this model includes terms for both state delays and input delays.</a:t>
            </a:r>
          </a:p>
        </p:txBody>
      </p:sp>
      <p:sp>
        <p:nvSpPr>
          <p:cNvPr id="4" name="Slide Number Placeholder 3">
            <a:extLst>
              <a:ext uri="{FF2B5EF4-FFF2-40B4-BE49-F238E27FC236}">
                <a16:creationId xmlns:a16="http://schemas.microsoft.com/office/drawing/2014/main" id="{F2ED14F6-B645-C059-CFE9-14808BE9E0AB}"/>
              </a:ext>
            </a:extLst>
          </p:cNvPr>
          <p:cNvSpPr>
            <a:spLocks noGrp="1"/>
          </p:cNvSpPr>
          <p:nvPr>
            <p:ph type="sldNum" sz="quarter" idx="5"/>
          </p:nvPr>
        </p:nvSpPr>
        <p:spPr/>
        <p:txBody>
          <a:bodyPr/>
          <a:lstStyle/>
          <a:p>
            <a:fld id="{0A96E620-9823-46DB-9C8F-4569965EF744}" type="slidenum">
              <a:rPr lang="en-US" smtClean="0"/>
              <a:t>7</a:t>
            </a:fld>
            <a:endParaRPr lang="en-US"/>
          </a:p>
        </p:txBody>
      </p:sp>
    </p:spTree>
    <p:extLst>
      <p:ext uri="{BB962C8B-B14F-4D97-AF65-F5344CB8AC3E}">
        <p14:creationId xmlns:p14="http://schemas.microsoft.com/office/powerpoint/2010/main" val="16154636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6D897B-90A2-7B8F-7A50-3A9D3514BD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223AF7-98EE-B0B7-52EE-91D72249EF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84BA2D-D493-FD5B-E87F-9D40BEC2CA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6E64E90-F92C-8727-B3AD-DC04F365D282}"/>
              </a:ext>
            </a:extLst>
          </p:cNvPr>
          <p:cNvSpPr>
            <a:spLocks noGrp="1"/>
          </p:cNvSpPr>
          <p:nvPr>
            <p:ph type="sldNum" sz="quarter" idx="5"/>
          </p:nvPr>
        </p:nvSpPr>
        <p:spPr/>
        <p:txBody>
          <a:bodyPr/>
          <a:lstStyle/>
          <a:p>
            <a:fld id="{0A96E620-9823-46DB-9C8F-4569965EF744}" type="slidenum">
              <a:rPr lang="en-US" smtClean="0"/>
              <a:t>8</a:t>
            </a:fld>
            <a:endParaRPr lang="en-US"/>
          </a:p>
        </p:txBody>
      </p:sp>
    </p:spTree>
    <p:extLst>
      <p:ext uri="{BB962C8B-B14F-4D97-AF65-F5344CB8AC3E}">
        <p14:creationId xmlns:p14="http://schemas.microsoft.com/office/powerpoint/2010/main" val="21998322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focused our reproduction on 'Case 3', where the input delay matches the state delay. Our controller is a Static Output Feedback type, meaning it calculates the control signal using only the current queue length and the queue length from one RTT ago</a:t>
            </a:r>
          </a:p>
        </p:txBody>
      </p:sp>
      <p:sp>
        <p:nvSpPr>
          <p:cNvPr id="4" name="Slide Number Placeholder 3"/>
          <p:cNvSpPr>
            <a:spLocks noGrp="1"/>
          </p:cNvSpPr>
          <p:nvPr>
            <p:ph type="sldNum" sz="quarter" idx="5"/>
          </p:nvPr>
        </p:nvSpPr>
        <p:spPr/>
        <p:txBody>
          <a:bodyPr/>
          <a:lstStyle/>
          <a:p>
            <a:fld id="{0A96E620-9823-46DB-9C8F-4569965EF744}" type="slidenum">
              <a:rPr lang="en-US" smtClean="0"/>
              <a:t>9</a:t>
            </a:fld>
            <a:endParaRPr lang="en-US"/>
          </a:p>
        </p:txBody>
      </p:sp>
    </p:spTree>
    <p:extLst>
      <p:ext uri="{BB962C8B-B14F-4D97-AF65-F5344CB8AC3E}">
        <p14:creationId xmlns:p14="http://schemas.microsoft.com/office/powerpoint/2010/main" val="8016029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5AEDB3-13D0-601F-23E9-0FF782048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11FC7C-FA1E-2D85-C79D-70B29D0639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C5521C-346C-1F35-4211-4A225343A9E4}"/>
              </a:ext>
            </a:extLst>
          </p:cNvPr>
          <p:cNvSpPr>
            <a:spLocks noGrp="1"/>
          </p:cNvSpPr>
          <p:nvPr>
            <p:ph type="body" idx="1"/>
          </p:nvPr>
        </p:nvSpPr>
        <p:spPr/>
        <p:txBody>
          <a:bodyPr/>
          <a:lstStyle/>
          <a:p>
            <a:r>
              <a:rPr lang="en-US" dirty="0"/>
              <a:t>To guarantee stability, we used a Lyapunov-</a:t>
            </a:r>
            <a:r>
              <a:rPr lang="en-US" dirty="0" err="1"/>
              <a:t>Krasovskii</a:t>
            </a:r>
            <a:r>
              <a:rPr lang="en-US" dirty="0"/>
              <a:t> functional. By manipulating this functional, we derived a Linear Matrix Inequality. Solving this LMI gives us the controller gains that ensure the system remains stable and rejects disturbances effectively</a:t>
            </a:r>
          </a:p>
        </p:txBody>
      </p:sp>
      <p:sp>
        <p:nvSpPr>
          <p:cNvPr id="4" name="Slide Number Placeholder 3">
            <a:extLst>
              <a:ext uri="{FF2B5EF4-FFF2-40B4-BE49-F238E27FC236}">
                <a16:creationId xmlns:a16="http://schemas.microsoft.com/office/drawing/2014/main" id="{6B283971-4739-7F55-61CA-B16B8D25E936}"/>
              </a:ext>
            </a:extLst>
          </p:cNvPr>
          <p:cNvSpPr>
            <a:spLocks noGrp="1"/>
          </p:cNvSpPr>
          <p:nvPr>
            <p:ph type="sldNum" sz="quarter" idx="5"/>
          </p:nvPr>
        </p:nvSpPr>
        <p:spPr/>
        <p:txBody>
          <a:bodyPr/>
          <a:lstStyle/>
          <a:p>
            <a:fld id="{0A96E620-9823-46DB-9C8F-4569965EF744}" type="slidenum">
              <a:rPr lang="en-US" smtClean="0"/>
              <a:t>10</a:t>
            </a:fld>
            <a:endParaRPr lang="en-US"/>
          </a:p>
        </p:txBody>
      </p:sp>
    </p:spTree>
    <p:extLst>
      <p:ext uri="{BB962C8B-B14F-4D97-AF65-F5344CB8AC3E}">
        <p14:creationId xmlns:p14="http://schemas.microsoft.com/office/powerpoint/2010/main" val="744328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9F3519-07E6-20A5-BD64-9F9149F95F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2D0C42-2A05-7690-FA7D-A054EE276E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15F82A-8617-E491-FE20-94F45C6FDC08}"/>
              </a:ext>
            </a:extLst>
          </p:cNvPr>
          <p:cNvSpPr>
            <a:spLocks noGrp="1"/>
          </p:cNvSpPr>
          <p:nvPr>
            <p:ph type="body" idx="1"/>
          </p:nvPr>
        </p:nvSpPr>
        <p:spPr/>
        <p:txBody>
          <a:bodyPr/>
          <a:lstStyle/>
          <a:p>
            <a:r>
              <a:rPr lang="en-US" dirty="0"/>
              <a:t>To guarantee stability, we used a Lyapunov-</a:t>
            </a:r>
            <a:r>
              <a:rPr lang="en-US" dirty="0" err="1"/>
              <a:t>Krasovskii</a:t>
            </a:r>
            <a:r>
              <a:rPr lang="en-US" dirty="0"/>
              <a:t> functional. By manipulating this functional, we derived a Linear Matrix Inequality. Solving this LMI gives us the controller gains that ensure the system remains stable and rejects disturbances effectively</a:t>
            </a:r>
          </a:p>
        </p:txBody>
      </p:sp>
      <p:sp>
        <p:nvSpPr>
          <p:cNvPr id="4" name="Slide Number Placeholder 3">
            <a:extLst>
              <a:ext uri="{FF2B5EF4-FFF2-40B4-BE49-F238E27FC236}">
                <a16:creationId xmlns:a16="http://schemas.microsoft.com/office/drawing/2014/main" id="{E60F67FC-C414-9256-80DD-B342F1EB0D59}"/>
              </a:ext>
            </a:extLst>
          </p:cNvPr>
          <p:cNvSpPr>
            <a:spLocks noGrp="1"/>
          </p:cNvSpPr>
          <p:nvPr>
            <p:ph type="sldNum" sz="quarter" idx="5"/>
          </p:nvPr>
        </p:nvSpPr>
        <p:spPr/>
        <p:txBody>
          <a:bodyPr/>
          <a:lstStyle/>
          <a:p>
            <a:fld id="{0A96E620-9823-46DB-9C8F-4569965EF744}" type="slidenum">
              <a:rPr lang="en-US" smtClean="0"/>
              <a:t>11</a:t>
            </a:fld>
            <a:endParaRPr lang="en-US"/>
          </a:p>
        </p:txBody>
      </p:sp>
    </p:spTree>
    <p:extLst>
      <p:ext uri="{BB962C8B-B14F-4D97-AF65-F5344CB8AC3E}">
        <p14:creationId xmlns:p14="http://schemas.microsoft.com/office/powerpoint/2010/main" val="3562898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46FFA-8488-7205-CB06-7A0E281CE2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A84D5A-1DFA-997D-3D8F-B9541E3EFA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F9F54-3C6B-2F03-B9A9-BFB5DA4D43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24D43D-044A-6C0E-1721-7BCC2D973777}"/>
              </a:ext>
            </a:extLst>
          </p:cNvPr>
          <p:cNvSpPr>
            <a:spLocks noGrp="1"/>
          </p:cNvSpPr>
          <p:nvPr>
            <p:ph type="sldNum" sz="quarter" idx="5"/>
          </p:nvPr>
        </p:nvSpPr>
        <p:spPr/>
        <p:txBody>
          <a:bodyPr/>
          <a:lstStyle/>
          <a:p>
            <a:fld id="{0A96E620-9823-46DB-9C8F-4569965EF744}" type="slidenum">
              <a:rPr lang="en-US" smtClean="0"/>
              <a:t>12</a:t>
            </a:fld>
            <a:endParaRPr lang="en-US"/>
          </a:p>
        </p:txBody>
      </p:sp>
    </p:spTree>
    <p:extLst>
      <p:ext uri="{BB962C8B-B14F-4D97-AF65-F5344CB8AC3E}">
        <p14:creationId xmlns:p14="http://schemas.microsoft.com/office/powerpoint/2010/main" val="51157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DC32D-0FAB-1032-BB98-9E649050AB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A44E86-4A0D-0F3F-1A5F-0D3095A444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B1D00E-EC74-A1D0-33F5-4C95A95B2E0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0C5D9F5-A816-0A63-472D-6331518AD4E3}"/>
              </a:ext>
            </a:extLst>
          </p:cNvPr>
          <p:cNvSpPr>
            <a:spLocks noGrp="1"/>
          </p:cNvSpPr>
          <p:nvPr>
            <p:ph type="sldNum" sz="quarter" idx="5"/>
          </p:nvPr>
        </p:nvSpPr>
        <p:spPr/>
        <p:txBody>
          <a:bodyPr/>
          <a:lstStyle/>
          <a:p>
            <a:fld id="{0A96E620-9823-46DB-9C8F-4569965EF744}" type="slidenum">
              <a:rPr lang="en-US" smtClean="0"/>
              <a:t>13</a:t>
            </a:fld>
            <a:endParaRPr lang="en-US"/>
          </a:p>
        </p:txBody>
      </p:sp>
    </p:spTree>
    <p:extLst>
      <p:ext uri="{BB962C8B-B14F-4D97-AF65-F5344CB8AC3E}">
        <p14:creationId xmlns:p14="http://schemas.microsoft.com/office/powerpoint/2010/main" val="14543350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883950-5A7E-F1F5-17B7-D1E51CBDB9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30768C-00FA-A7AF-E29C-ECA11A647A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B7C481-E1F2-1E63-4525-EA022A62B9C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32E4A8C-1167-321F-560B-224474CE82F6}"/>
              </a:ext>
            </a:extLst>
          </p:cNvPr>
          <p:cNvSpPr>
            <a:spLocks noGrp="1"/>
          </p:cNvSpPr>
          <p:nvPr>
            <p:ph type="sldNum" sz="quarter" idx="5"/>
          </p:nvPr>
        </p:nvSpPr>
        <p:spPr/>
        <p:txBody>
          <a:bodyPr/>
          <a:lstStyle/>
          <a:p>
            <a:fld id="{0A96E620-9823-46DB-9C8F-4569965EF744}" type="slidenum">
              <a:rPr lang="en-US" smtClean="0"/>
              <a:t>14</a:t>
            </a:fld>
            <a:endParaRPr lang="en-US"/>
          </a:p>
        </p:txBody>
      </p:sp>
    </p:spTree>
    <p:extLst>
      <p:ext uri="{BB962C8B-B14F-4D97-AF65-F5344CB8AC3E}">
        <p14:creationId xmlns:p14="http://schemas.microsoft.com/office/powerpoint/2010/main" val="29705299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41DA12-D3F1-1A13-F35A-5223C00035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D2FE0BC-21CB-65A5-BC21-D52F54C47D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34406C-B510-FCDB-DC31-4992D5DC09D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30BDD41-D907-99F6-2E64-DC58FF844B31}"/>
              </a:ext>
            </a:extLst>
          </p:cNvPr>
          <p:cNvSpPr>
            <a:spLocks noGrp="1"/>
          </p:cNvSpPr>
          <p:nvPr>
            <p:ph type="sldNum" sz="quarter" idx="5"/>
          </p:nvPr>
        </p:nvSpPr>
        <p:spPr/>
        <p:txBody>
          <a:bodyPr/>
          <a:lstStyle/>
          <a:p>
            <a:fld id="{0A96E620-9823-46DB-9C8F-4569965EF744}" type="slidenum">
              <a:rPr lang="en-US" smtClean="0"/>
              <a:t>15</a:t>
            </a:fld>
            <a:endParaRPr lang="en-US"/>
          </a:p>
        </p:txBody>
      </p:sp>
    </p:spTree>
    <p:extLst>
      <p:ext uri="{BB962C8B-B14F-4D97-AF65-F5344CB8AC3E}">
        <p14:creationId xmlns:p14="http://schemas.microsoft.com/office/powerpoint/2010/main" val="6771172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46BA5-6DD3-FEA0-861D-77CD07069B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A62747-03B6-3E90-AED7-886E5BF116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CC573D-3AEC-5B19-3CB8-5814AC09225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435625-8E06-4EB8-2937-2C88AC912A6B}"/>
              </a:ext>
            </a:extLst>
          </p:cNvPr>
          <p:cNvSpPr>
            <a:spLocks noGrp="1"/>
          </p:cNvSpPr>
          <p:nvPr>
            <p:ph type="sldNum" sz="quarter" idx="5"/>
          </p:nvPr>
        </p:nvSpPr>
        <p:spPr/>
        <p:txBody>
          <a:bodyPr/>
          <a:lstStyle/>
          <a:p>
            <a:fld id="{0A96E620-9823-46DB-9C8F-4569965EF744}" type="slidenum">
              <a:rPr lang="en-US" smtClean="0"/>
              <a:t>16</a:t>
            </a:fld>
            <a:endParaRPr lang="en-US"/>
          </a:p>
        </p:txBody>
      </p:sp>
    </p:spTree>
    <p:extLst>
      <p:ext uri="{BB962C8B-B14F-4D97-AF65-F5344CB8AC3E}">
        <p14:creationId xmlns:p14="http://schemas.microsoft.com/office/powerpoint/2010/main" val="31946863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22725-AA90-D9D9-E78F-B6628975F3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DE5FBC-783A-FC9B-270F-DFDF3D1A7A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F4F97C-D722-FC3F-CA0A-7F3411ACE8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7027A7-DE72-87A4-47B3-E031D6AB91B0}"/>
              </a:ext>
            </a:extLst>
          </p:cNvPr>
          <p:cNvSpPr>
            <a:spLocks noGrp="1"/>
          </p:cNvSpPr>
          <p:nvPr>
            <p:ph type="sldNum" sz="quarter" idx="5"/>
          </p:nvPr>
        </p:nvSpPr>
        <p:spPr/>
        <p:txBody>
          <a:bodyPr/>
          <a:lstStyle/>
          <a:p>
            <a:fld id="{0A96E620-9823-46DB-9C8F-4569965EF744}" type="slidenum">
              <a:rPr lang="en-US" smtClean="0"/>
              <a:t>17</a:t>
            </a:fld>
            <a:endParaRPr lang="en-US"/>
          </a:p>
        </p:txBody>
      </p:sp>
    </p:spTree>
    <p:extLst>
      <p:ext uri="{BB962C8B-B14F-4D97-AF65-F5344CB8AC3E}">
        <p14:creationId xmlns:p14="http://schemas.microsoft.com/office/powerpoint/2010/main" val="22490232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3C739E-AEEC-8BD9-7802-8D7F2852BB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E36189-0FDF-2222-003E-FB6DBFB2BC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FF6A41-9A64-2A37-EE90-405F0B90895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207EB8-D29C-1BF1-95FE-665C15F3AF6F}"/>
              </a:ext>
            </a:extLst>
          </p:cNvPr>
          <p:cNvSpPr>
            <a:spLocks noGrp="1"/>
          </p:cNvSpPr>
          <p:nvPr>
            <p:ph type="sldNum" sz="quarter" idx="5"/>
          </p:nvPr>
        </p:nvSpPr>
        <p:spPr/>
        <p:txBody>
          <a:bodyPr/>
          <a:lstStyle/>
          <a:p>
            <a:fld id="{0A96E620-9823-46DB-9C8F-4569965EF744}" type="slidenum">
              <a:rPr lang="en-US" smtClean="0"/>
              <a:t>18</a:t>
            </a:fld>
            <a:endParaRPr lang="en-US"/>
          </a:p>
        </p:txBody>
      </p:sp>
    </p:spTree>
    <p:extLst>
      <p:ext uri="{BB962C8B-B14F-4D97-AF65-F5344CB8AC3E}">
        <p14:creationId xmlns:p14="http://schemas.microsoft.com/office/powerpoint/2010/main" val="3370037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7E4209-1271-6B3A-07CA-675521AFBC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7F4B53-74C0-4B6E-5705-A370790F72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258EC09-AB4F-A4F7-BB31-2A0515B064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9359D71-C5A1-ABAB-C9B2-D04C652C7A1D}"/>
              </a:ext>
            </a:extLst>
          </p:cNvPr>
          <p:cNvSpPr>
            <a:spLocks noGrp="1"/>
          </p:cNvSpPr>
          <p:nvPr>
            <p:ph type="sldNum" sz="quarter" idx="5"/>
          </p:nvPr>
        </p:nvSpPr>
        <p:spPr/>
        <p:txBody>
          <a:bodyPr/>
          <a:lstStyle/>
          <a:p>
            <a:fld id="{0A96E620-9823-46DB-9C8F-4569965EF744}" type="slidenum">
              <a:rPr lang="en-US" smtClean="0"/>
              <a:t>19</a:t>
            </a:fld>
            <a:endParaRPr lang="en-US"/>
          </a:p>
        </p:txBody>
      </p:sp>
    </p:spTree>
    <p:extLst>
      <p:ext uri="{BB962C8B-B14F-4D97-AF65-F5344CB8AC3E}">
        <p14:creationId xmlns:p14="http://schemas.microsoft.com/office/powerpoint/2010/main" val="9305817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6FE28-F969-BFF8-6B96-5EB64831B2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339DF7-5A80-A274-B168-BA08B1678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E38ACD-389A-07C3-4048-D347CE9323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EC72F7E-72F9-ECC5-3A3D-9ED64B1E9E6B}"/>
              </a:ext>
            </a:extLst>
          </p:cNvPr>
          <p:cNvSpPr>
            <a:spLocks noGrp="1"/>
          </p:cNvSpPr>
          <p:nvPr>
            <p:ph type="sldNum" sz="quarter" idx="5"/>
          </p:nvPr>
        </p:nvSpPr>
        <p:spPr/>
        <p:txBody>
          <a:bodyPr/>
          <a:lstStyle/>
          <a:p>
            <a:fld id="{0A96E620-9823-46DB-9C8F-4569965EF744}" type="slidenum">
              <a:rPr lang="en-US" smtClean="0"/>
              <a:t>20</a:t>
            </a:fld>
            <a:endParaRPr lang="en-US"/>
          </a:p>
        </p:txBody>
      </p:sp>
    </p:spTree>
    <p:extLst>
      <p:ext uri="{BB962C8B-B14F-4D97-AF65-F5344CB8AC3E}">
        <p14:creationId xmlns:p14="http://schemas.microsoft.com/office/powerpoint/2010/main" val="10255503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A96E620-9823-46DB-9C8F-4569965EF744}" type="slidenum">
              <a:rPr lang="en-US" smtClean="0"/>
              <a:t>21</a:t>
            </a:fld>
            <a:endParaRPr lang="en-US"/>
          </a:p>
        </p:txBody>
      </p:sp>
    </p:spTree>
    <p:extLst>
      <p:ext uri="{BB962C8B-B14F-4D97-AF65-F5344CB8AC3E}">
        <p14:creationId xmlns:p14="http://schemas.microsoft.com/office/powerpoint/2010/main" val="40418233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E10BC-C716-1B06-9DE7-C0DA41BB44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A4B9C-C20F-4BE1-09A8-1CBAD2E49A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5CBDC5-229F-25C7-98C4-2C344D25A47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130CA88-5580-79A5-D4EB-CCC0C194940F}"/>
              </a:ext>
            </a:extLst>
          </p:cNvPr>
          <p:cNvSpPr>
            <a:spLocks noGrp="1"/>
          </p:cNvSpPr>
          <p:nvPr>
            <p:ph type="sldNum" sz="quarter" idx="5"/>
          </p:nvPr>
        </p:nvSpPr>
        <p:spPr/>
        <p:txBody>
          <a:bodyPr/>
          <a:lstStyle/>
          <a:p>
            <a:fld id="{0A96E620-9823-46DB-9C8F-4569965EF744}" type="slidenum">
              <a:rPr lang="en-US" smtClean="0"/>
              <a:t>22</a:t>
            </a:fld>
            <a:endParaRPr lang="en-US"/>
          </a:p>
        </p:txBody>
      </p:sp>
    </p:spTree>
    <p:extLst>
      <p:ext uri="{BB962C8B-B14F-4D97-AF65-F5344CB8AC3E}">
        <p14:creationId xmlns:p14="http://schemas.microsoft.com/office/powerpoint/2010/main" val="6404872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414AE7-9BFE-98FB-7BD3-92D3FA2A45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1F798B-6815-861D-09CC-C786B16516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7C9E73-32E4-B38A-DCE2-9CC243648DA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DF5EACF-7EBF-A6BF-1D22-3899CE9E9C10}"/>
              </a:ext>
            </a:extLst>
          </p:cNvPr>
          <p:cNvSpPr>
            <a:spLocks noGrp="1"/>
          </p:cNvSpPr>
          <p:nvPr>
            <p:ph type="sldNum" sz="quarter" idx="5"/>
          </p:nvPr>
        </p:nvSpPr>
        <p:spPr/>
        <p:txBody>
          <a:bodyPr/>
          <a:lstStyle/>
          <a:p>
            <a:fld id="{0A96E620-9823-46DB-9C8F-4569965EF744}" type="slidenum">
              <a:rPr lang="en-US" smtClean="0"/>
              <a:t>23</a:t>
            </a:fld>
            <a:endParaRPr lang="en-US"/>
          </a:p>
        </p:txBody>
      </p:sp>
    </p:spTree>
    <p:extLst>
      <p:ext uri="{BB962C8B-B14F-4D97-AF65-F5344CB8AC3E}">
        <p14:creationId xmlns:p14="http://schemas.microsoft.com/office/powerpoint/2010/main" val="33656340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9728E-4D1D-7E3B-2CBA-2FC805EEFA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48075D-387F-8B9A-4397-C5F2733E49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ABA20C-3E98-4123-071D-D21CC083815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844E38-86E6-4F1D-BA7B-2DC7ECF257BD}"/>
              </a:ext>
            </a:extLst>
          </p:cNvPr>
          <p:cNvSpPr>
            <a:spLocks noGrp="1"/>
          </p:cNvSpPr>
          <p:nvPr>
            <p:ph type="sldNum" sz="quarter" idx="5"/>
          </p:nvPr>
        </p:nvSpPr>
        <p:spPr/>
        <p:txBody>
          <a:bodyPr/>
          <a:lstStyle/>
          <a:p>
            <a:fld id="{0A96E620-9823-46DB-9C8F-4569965EF744}" type="slidenum">
              <a:rPr lang="en-US" smtClean="0"/>
              <a:t>24</a:t>
            </a:fld>
            <a:endParaRPr lang="en-US"/>
          </a:p>
        </p:txBody>
      </p:sp>
    </p:spTree>
    <p:extLst>
      <p:ext uri="{BB962C8B-B14F-4D97-AF65-F5344CB8AC3E}">
        <p14:creationId xmlns:p14="http://schemas.microsoft.com/office/powerpoint/2010/main" val="38261886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2F960-5FE3-BFD5-390B-3F58134F5C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31892D-9E31-96C1-40FB-F9578B38D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EEB304-92BA-4747-76B1-6E754F7B17B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04E56B2-BFA8-048D-D778-5FDA949C74A3}"/>
              </a:ext>
            </a:extLst>
          </p:cNvPr>
          <p:cNvSpPr>
            <a:spLocks noGrp="1"/>
          </p:cNvSpPr>
          <p:nvPr>
            <p:ph type="sldNum" sz="quarter" idx="5"/>
          </p:nvPr>
        </p:nvSpPr>
        <p:spPr/>
        <p:txBody>
          <a:bodyPr/>
          <a:lstStyle/>
          <a:p>
            <a:fld id="{0A96E620-9823-46DB-9C8F-4569965EF744}" type="slidenum">
              <a:rPr lang="en-US" smtClean="0"/>
              <a:t>25</a:t>
            </a:fld>
            <a:endParaRPr lang="en-US"/>
          </a:p>
        </p:txBody>
      </p:sp>
    </p:spTree>
    <p:extLst>
      <p:ext uri="{BB962C8B-B14F-4D97-AF65-F5344CB8AC3E}">
        <p14:creationId xmlns:p14="http://schemas.microsoft.com/office/powerpoint/2010/main" val="257064781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0F18D-3C69-58E2-1B71-A92FB6DECC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B279E5-60B7-00FF-A8F0-2EDC4C5D35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577648-A9B4-B173-1770-69787A18C18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ED8435-9820-0CDD-C2E8-9BFCF460BEED}"/>
              </a:ext>
            </a:extLst>
          </p:cNvPr>
          <p:cNvSpPr>
            <a:spLocks noGrp="1"/>
          </p:cNvSpPr>
          <p:nvPr>
            <p:ph type="sldNum" sz="quarter" idx="5"/>
          </p:nvPr>
        </p:nvSpPr>
        <p:spPr/>
        <p:txBody>
          <a:bodyPr/>
          <a:lstStyle/>
          <a:p>
            <a:fld id="{0A96E620-9823-46DB-9C8F-4569965EF744}" type="slidenum">
              <a:rPr lang="en-US" smtClean="0"/>
              <a:t>26</a:t>
            </a:fld>
            <a:endParaRPr lang="en-US"/>
          </a:p>
        </p:txBody>
      </p:sp>
    </p:spTree>
    <p:extLst>
      <p:ext uri="{BB962C8B-B14F-4D97-AF65-F5344CB8AC3E}">
        <p14:creationId xmlns:p14="http://schemas.microsoft.com/office/powerpoint/2010/main" val="281844249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AC457-A6E0-0532-9DFE-414D7D739E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12FA2E-3141-A28F-D124-561BD60D96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1E869F-7123-079F-B065-ABAAF172912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D28BE9A-134B-2B3E-C17C-76A54C33D27B}"/>
              </a:ext>
            </a:extLst>
          </p:cNvPr>
          <p:cNvSpPr>
            <a:spLocks noGrp="1"/>
          </p:cNvSpPr>
          <p:nvPr>
            <p:ph type="sldNum" sz="quarter" idx="5"/>
          </p:nvPr>
        </p:nvSpPr>
        <p:spPr/>
        <p:txBody>
          <a:bodyPr/>
          <a:lstStyle/>
          <a:p>
            <a:fld id="{0A96E620-9823-46DB-9C8F-4569965EF744}" type="slidenum">
              <a:rPr lang="en-US" smtClean="0"/>
              <a:t>27</a:t>
            </a:fld>
            <a:endParaRPr lang="en-US"/>
          </a:p>
        </p:txBody>
      </p:sp>
    </p:spTree>
    <p:extLst>
      <p:ext uri="{BB962C8B-B14F-4D97-AF65-F5344CB8AC3E}">
        <p14:creationId xmlns:p14="http://schemas.microsoft.com/office/powerpoint/2010/main" val="390341829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5DB40-4105-0856-54BB-71FE0B8C9E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417102-4589-BE37-B7C5-68AC4B1D32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C8B14DD-9566-28CF-1388-A75A8F28472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EC9843-CFB1-4152-42C1-7E861EE15784}"/>
              </a:ext>
            </a:extLst>
          </p:cNvPr>
          <p:cNvSpPr>
            <a:spLocks noGrp="1"/>
          </p:cNvSpPr>
          <p:nvPr>
            <p:ph type="sldNum" sz="quarter" idx="5"/>
          </p:nvPr>
        </p:nvSpPr>
        <p:spPr/>
        <p:txBody>
          <a:bodyPr/>
          <a:lstStyle/>
          <a:p>
            <a:fld id="{0A96E620-9823-46DB-9C8F-4569965EF744}" type="slidenum">
              <a:rPr lang="en-US" smtClean="0"/>
              <a:t>28</a:t>
            </a:fld>
            <a:endParaRPr lang="en-US"/>
          </a:p>
        </p:txBody>
      </p:sp>
    </p:spTree>
    <p:extLst>
      <p:ext uri="{BB962C8B-B14F-4D97-AF65-F5344CB8AC3E}">
        <p14:creationId xmlns:p14="http://schemas.microsoft.com/office/powerpoint/2010/main" val="5458817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0E406D-7B5C-6D3C-290D-4DC9BB3310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60006-3F23-B317-B000-3BE446BD08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5EF4AB-34AE-34F0-8A0E-4F0BF2A0C7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8BFFAB3-3565-0148-09B3-7DDE8A6FE439}"/>
              </a:ext>
            </a:extLst>
          </p:cNvPr>
          <p:cNvSpPr>
            <a:spLocks noGrp="1"/>
          </p:cNvSpPr>
          <p:nvPr>
            <p:ph type="sldNum" sz="quarter" idx="5"/>
          </p:nvPr>
        </p:nvSpPr>
        <p:spPr/>
        <p:txBody>
          <a:bodyPr/>
          <a:lstStyle/>
          <a:p>
            <a:fld id="{0A96E620-9823-46DB-9C8F-4569965EF744}" type="slidenum">
              <a:rPr lang="en-US" smtClean="0"/>
              <a:t>29</a:t>
            </a:fld>
            <a:endParaRPr lang="en-US"/>
          </a:p>
        </p:txBody>
      </p:sp>
    </p:spTree>
    <p:extLst>
      <p:ext uri="{BB962C8B-B14F-4D97-AF65-F5344CB8AC3E}">
        <p14:creationId xmlns:p14="http://schemas.microsoft.com/office/powerpoint/2010/main" val="170194666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3D988B-42F7-D63D-BCF4-DD4E80749F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3EF784-478C-A656-7BDA-70696EBCB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B5CA9B-6D5D-11D1-A1B6-327061D11C8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8337F2-8BDF-D46D-EBAE-A1823F790854}"/>
              </a:ext>
            </a:extLst>
          </p:cNvPr>
          <p:cNvSpPr>
            <a:spLocks noGrp="1"/>
          </p:cNvSpPr>
          <p:nvPr>
            <p:ph type="sldNum" sz="quarter" idx="5"/>
          </p:nvPr>
        </p:nvSpPr>
        <p:spPr/>
        <p:txBody>
          <a:bodyPr/>
          <a:lstStyle/>
          <a:p>
            <a:fld id="{0A96E620-9823-46DB-9C8F-4569965EF744}" type="slidenum">
              <a:rPr lang="en-US" smtClean="0"/>
              <a:t>30</a:t>
            </a:fld>
            <a:endParaRPr lang="en-US"/>
          </a:p>
        </p:txBody>
      </p:sp>
    </p:spTree>
    <p:extLst>
      <p:ext uri="{BB962C8B-B14F-4D97-AF65-F5344CB8AC3E}">
        <p14:creationId xmlns:p14="http://schemas.microsoft.com/office/powerpoint/2010/main" val="20864635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B1F27B-DBAB-5F22-C483-4370BE27A4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217AC4-8E46-1323-5615-E50B28F781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A8AB7E-7E54-E836-65D8-22876BCBC873}"/>
              </a:ext>
            </a:extLst>
          </p:cNvPr>
          <p:cNvSpPr>
            <a:spLocks noGrp="1"/>
          </p:cNvSpPr>
          <p:nvPr>
            <p:ph type="body" idx="1"/>
          </p:nvPr>
        </p:nvSpPr>
        <p:spPr/>
        <p:txBody>
          <a:bodyPr/>
          <a:lstStyle/>
          <a:p>
            <a:r>
              <a:rPr lang="en-US" dirty="0"/>
              <a:t>In conclusion, we have successfully implemented and validated a robust controller that is both effective and simple enough for real-world application. It stabilizes the queue and rejects disturbances using only local measurements.</a:t>
            </a:r>
          </a:p>
        </p:txBody>
      </p:sp>
      <p:sp>
        <p:nvSpPr>
          <p:cNvPr id="4" name="Slide Number Placeholder 3">
            <a:extLst>
              <a:ext uri="{FF2B5EF4-FFF2-40B4-BE49-F238E27FC236}">
                <a16:creationId xmlns:a16="http://schemas.microsoft.com/office/drawing/2014/main" id="{1738353A-4224-A84A-E711-9B842321A517}"/>
              </a:ext>
            </a:extLst>
          </p:cNvPr>
          <p:cNvSpPr>
            <a:spLocks noGrp="1"/>
          </p:cNvSpPr>
          <p:nvPr>
            <p:ph type="sldNum" sz="quarter" idx="5"/>
          </p:nvPr>
        </p:nvSpPr>
        <p:spPr/>
        <p:txBody>
          <a:bodyPr/>
          <a:lstStyle/>
          <a:p>
            <a:fld id="{0A96E620-9823-46DB-9C8F-4569965EF744}" type="slidenum">
              <a:rPr lang="en-US" smtClean="0"/>
              <a:t>31</a:t>
            </a:fld>
            <a:endParaRPr lang="en-US"/>
          </a:p>
        </p:txBody>
      </p:sp>
    </p:spTree>
    <p:extLst>
      <p:ext uri="{BB962C8B-B14F-4D97-AF65-F5344CB8AC3E}">
        <p14:creationId xmlns:p14="http://schemas.microsoft.com/office/powerpoint/2010/main" val="8839633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52D320-16F3-4D40-A697-F7427192CFFC}" type="datetime1">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D8598-67BB-4FBC-AEBD-4D3436AD2069}" type="slidenum">
              <a:rPr lang="en-US" smtClean="0"/>
              <a:t>‹#›</a:t>
            </a:fld>
            <a:endParaRPr lang="en-US"/>
          </a:p>
        </p:txBody>
      </p:sp>
    </p:spTree>
    <p:extLst>
      <p:ext uri="{BB962C8B-B14F-4D97-AF65-F5344CB8AC3E}">
        <p14:creationId xmlns:p14="http://schemas.microsoft.com/office/powerpoint/2010/main" val="40093539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B5A7E8A-F319-4303-8D9E-CF9FF60E148B}" type="datetime1">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D8598-67BB-4FBC-AEBD-4D3436AD2069}" type="slidenum">
              <a:rPr lang="en-US" smtClean="0"/>
              <a:t>‹#›</a:t>
            </a:fld>
            <a:endParaRPr lang="en-US"/>
          </a:p>
        </p:txBody>
      </p:sp>
    </p:spTree>
    <p:extLst>
      <p:ext uri="{BB962C8B-B14F-4D97-AF65-F5344CB8AC3E}">
        <p14:creationId xmlns:p14="http://schemas.microsoft.com/office/powerpoint/2010/main" val="35812505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388BED9-9977-4422-8405-94359A5DA135}" type="datetime1">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D8598-67BB-4FBC-AEBD-4D3436AD2069}" type="slidenum">
              <a:rPr lang="en-US" smtClean="0"/>
              <a:t>‹#›</a:t>
            </a:fld>
            <a:endParaRPr lang="en-US"/>
          </a:p>
        </p:txBody>
      </p:sp>
    </p:spTree>
    <p:extLst>
      <p:ext uri="{BB962C8B-B14F-4D97-AF65-F5344CB8AC3E}">
        <p14:creationId xmlns:p14="http://schemas.microsoft.com/office/powerpoint/2010/main" val="139194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DE7032-9395-4E82-A331-11BAAB0E358C}" type="datetime1">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1D8598-67BB-4FBC-AEBD-4D3436AD2069}" type="slidenum">
              <a:rPr lang="en-US" smtClean="0"/>
              <a:t>‹#›</a:t>
            </a:fld>
            <a:endParaRPr lang="en-US" dirty="0"/>
          </a:p>
        </p:txBody>
      </p:sp>
    </p:spTree>
    <p:extLst>
      <p:ext uri="{BB962C8B-B14F-4D97-AF65-F5344CB8AC3E}">
        <p14:creationId xmlns:p14="http://schemas.microsoft.com/office/powerpoint/2010/main" val="527339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039930-0990-428C-BFB4-503D068D17EA}" type="datetime1">
              <a:rPr lang="en-US" smtClean="0"/>
              <a:t>12/16/2025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31D8598-67BB-4FBC-AEBD-4D3436AD2069}" type="slidenum">
              <a:rPr lang="en-US" smtClean="0"/>
              <a:t>‹#›</a:t>
            </a:fld>
            <a:endParaRPr lang="en-US"/>
          </a:p>
        </p:txBody>
      </p:sp>
    </p:spTree>
    <p:extLst>
      <p:ext uri="{BB962C8B-B14F-4D97-AF65-F5344CB8AC3E}">
        <p14:creationId xmlns:p14="http://schemas.microsoft.com/office/powerpoint/2010/main" val="36993058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23AD722-2419-4E21-ADA4-5AF79D11F9F1}" type="datetime1">
              <a:rPr lang="en-US" smtClean="0"/>
              <a:t>12/16/2025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31D8598-67BB-4FBC-AEBD-4D3436AD2069}" type="slidenum">
              <a:rPr lang="en-US" smtClean="0"/>
              <a:t>‹#›</a:t>
            </a:fld>
            <a:endParaRPr lang="en-US"/>
          </a:p>
        </p:txBody>
      </p:sp>
    </p:spTree>
    <p:extLst>
      <p:ext uri="{BB962C8B-B14F-4D97-AF65-F5344CB8AC3E}">
        <p14:creationId xmlns:p14="http://schemas.microsoft.com/office/powerpoint/2010/main" val="2356982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737728-F47F-44CB-B08C-C69C79C6B75B}" type="datetime1">
              <a:rPr lang="en-US" smtClean="0"/>
              <a:t>12/16/2025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31D8598-67BB-4FBC-AEBD-4D3436AD2069}" type="slidenum">
              <a:rPr lang="en-US" smtClean="0"/>
              <a:t>‹#›</a:t>
            </a:fld>
            <a:endParaRPr lang="en-US"/>
          </a:p>
        </p:txBody>
      </p:sp>
    </p:spTree>
    <p:extLst>
      <p:ext uri="{BB962C8B-B14F-4D97-AF65-F5344CB8AC3E}">
        <p14:creationId xmlns:p14="http://schemas.microsoft.com/office/powerpoint/2010/main" val="3273384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2DE3054-A460-4162-A69A-C914673B49D7}" type="datetime1">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1D8598-67BB-4FBC-AEBD-4D3436AD2069}" type="slidenum">
              <a:rPr lang="en-US" smtClean="0"/>
              <a:t>‹#›</a:t>
            </a:fld>
            <a:endParaRPr lang="en-US"/>
          </a:p>
        </p:txBody>
      </p:sp>
    </p:spTree>
    <p:extLst>
      <p:ext uri="{BB962C8B-B14F-4D97-AF65-F5344CB8AC3E}">
        <p14:creationId xmlns:p14="http://schemas.microsoft.com/office/powerpoint/2010/main" val="1570941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D400CD3-1D81-4CCF-803F-64FE4109025D}" type="datetime1">
              <a:rPr lang="en-US" smtClean="0"/>
              <a:t>12/16/2025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31D8598-67BB-4FBC-AEBD-4D3436AD2069}" type="slidenum">
              <a:rPr lang="en-US" smtClean="0"/>
              <a:t>‹#›</a:t>
            </a:fld>
            <a:endParaRPr lang="en-US"/>
          </a:p>
        </p:txBody>
      </p:sp>
    </p:spTree>
    <p:extLst>
      <p:ext uri="{BB962C8B-B14F-4D97-AF65-F5344CB8AC3E}">
        <p14:creationId xmlns:p14="http://schemas.microsoft.com/office/powerpoint/2010/main" val="14100559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3CF42F-05AB-43BA-9600-28D3B7C97233}" type="datetime1">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D8598-67BB-4FBC-AEBD-4D3436AD2069}" type="slidenum">
              <a:rPr lang="en-US" smtClean="0"/>
              <a:t>‹#›</a:t>
            </a:fld>
            <a:endParaRPr lang="en-US"/>
          </a:p>
        </p:txBody>
      </p:sp>
    </p:spTree>
    <p:extLst>
      <p:ext uri="{BB962C8B-B14F-4D97-AF65-F5344CB8AC3E}">
        <p14:creationId xmlns:p14="http://schemas.microsoft.com/office/powerpoint/2010/main" val="1723899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7DFDAD3-4999-482E-88D3-F7CA3C72DDF8}" type="datetime1">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D8598-67BB-4FBC-AEBD-4D3436AD2069}"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16018263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C72AE92-C8E6-4019-9E7E-8A7BFCC4F3D5}" type="datetime1">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D8598-67BB-4FBC-AEBD-4D3436AD2069}" type="slidenum">
              <a:rPr lang="en-US" smtClean="0"/>
              <a:t>‹#›</a:t>
            </a:fld>
            <a:endParaRPr lang="en-US"/>
          </a:p>
        </p:txBody>
      </p:sp>
    </p:spTree>
    <p:extLst>
      <p:ext uri="{BB962C8B-B14F-4D97-AF65-F5344CB8AC3E}">
        <p14:creationId xmlns:p14="http://schemas.microsoft.com/office/powerpoint/2010/main" val="7426797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82725CD-C855-40C5-AB1C-9AA6EF4777B7}" type="datetime1">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D8598-67BB-4FBC-AEBD-4D3436AD2069}"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1164826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366743-C2BE-4CC6-9847-725C687CF075}" type="datetime1">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D8598-67BB-4FBC-AEBD-4D3436AD2069}" type="slidenum">
              <a:rPr lang="en-US" smtClean="0"/>
              <a:t>‹#›</a:t>
            </a:fld>
            <a:endParaRPr lang="en-US"/>
          </a:p>
        </p:txBody>
      </p:sp>
    </p:spTree>
    <p:extLst>
      <p:ext uri="{BB962C8B-B14F-4D97-AF65-F5344CB8AC3E}">
        <p14:creationId xmlns:p14="http://schemas.microsoft.com/office/powerpoint/2010/main" val="25301828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8751A33-836B-478D-9A4B-8C6B194E1367}" type="datetime1">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D8598-67BB-4FBC-AEBD-4D3436AD2069}" type="slidenum">
              <a:rPr lang="en-US" smtClean="0"/>
              <a:t>‹#›</a:t>
            </a:fld>
            <a:endParaRPr lang="en-US"/>
          </a:p>
        </p:txBody>
      </p:sp>
    </p:spTree>
    <p:extLst>
      <p:ext uri="{BB962C8B-B14F-4D97-AF65-F5344CB8AC3E}">
        <p14:creationId xmlns:p14="http://schemas.microsoft.com/office/powerpoint/2010/main" val="34850919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B2C7061-2039-4D8B-B206-DDD49C88A360}" type="datetime1">
              <a:rPr lang="en-US" smtClean="0"/>
              <a:t>12/16/2025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31D8598-67BB-4FBC-AEBD-4D3436AD2069}" type="slidenum">
              <a:rPr lang="en-US" smtClean="0"/>
              <a:t>‹#›</a:t>
            </a:fld>
            <a:endParaRPr lang="en-US"/>
          </a:p>
        </p:txBody>
      </p:sp>
    </p:spTree>
    <p:extLst>
      <p:ext uri="{BB962C8B-B14F-4D97-AF65-F5344CB8AC3E}">
        <p14:creationId xmlns:p14="http://schemas.microsoft.com/office/powerpoint/2010/main" val="10237072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71967EF-EA1B-4241-9A5F-44CF81F86945}" type="datetime1">
              <a:rPr lang="en-US" smtClean="0"/>
              <a:t>12/16/2025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177571" y="5689600"/>
            <a:ext cx="1096432" cy="716887"/>
          </a:xfrm>
          <a:prstGeom prst="rect">
            <a:avLst/>
          </a:prstGeom>
        </p:spPr>
        <p:txBody>
          <a:bodyPr vert="horz" lIns="91440" tIns="45720" rIns="91440" bIns="45720" rtlCol="0" anchor="ctr"/>
          <a:lstStyle>
            <a:lvl1pPr algn="r">
              <a:defRPr sz="4000" u="sng">
                <a:solidFill>
                  <a:schemeClr val="accent1"/>
                </a:solidFill>
              </a:defRPr>
            </a:lvl1pPr>
          </a:lstStyle>
          <a:p>
            <a:fld id="{831D8598-67BB-4FBC-AEBD-4D3436AD2069}" type="slidenum">
              <a:rPr lang="en-US" smtClean="0"/>
              <a:pPr/>
              <a:t>‹#›</a:t>
            </a:fld>
            <a:endParaRPr lang="en-US" dirty="0"/>
          </a:p>
        </p:txBody>
      </p:sp>
    </p:spTree>
    <p:extLst>
      <p:ext uri="{BB962C8B-B14F-4D97-AF65-F5344CB8AC3E}">
        <p14:creationId xmlns:p14="http://schemas.microsoft.com/office/powerpoint/2010/main" val="270279961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5.xml"/><Relationship Id="rId5" Type="http://schemas.openxmlformats.org/officeDocument/2006/relationships/image" Target="../media/image20.png"/><Relationship Id="rId4" Type="http://schemas.openxmlformats.org/officeDocument/2006/relationships/image" Target="../media/image19.png"/></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5.xml"/><Relationship Id="rId5" Type="http://schemas.openxmlformats.org/officeDocument/2006/relationships/image" Target="../media/image23.png"/><Relationship Id="rId4" Type="http://schemas.openxmlformats.org/officeDocument/2006/relationships/image" Target="../media/image22.png"/></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130.png"/><Relationship Id="rId5" Type="http://schemas.openxmlformats.org/officeDocument/2006/relationships/image" Target="../media/image120.png"/><Relationship Id="rId4" Type="http://schemas.openxmlformats.org/officeDocument/2006/relationships/image" Target="../media/image29.jpeg"/></Relationships>
</file>

<file path=ppt/slides/_rels/slide24.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1.xml"/><Relationship Id="rId1" Type="http://schemas.openxmlformats.org/officeDocument/2006/relationships/slideLayout" Target="../slideLayouts/slideLayout5.xml"/><Relationship Id="rId4" Type="http://schemas.openxmlformats.org/officeDocument/2006/relationships/image" Target="../media/image15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160.pn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image" Target="../media/image34.jp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33" name="Group 1032">
            <a:extLst>
              <a:ext uri="{FF2B5EF4-FFF2-40B4-BE49-F238E27FC236}">
                <a16:creationId xmlns:a16="http://schemas.microsoft.com/office/drawing/2014/main" id="{DDE8DE2B-61C1-46D5-BEB8-521321C182C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034" name="Straight Connector 1033">
              <a:extLst>
                <a:ext uri="{FF2B5EF4-FFF2-40B4-BE49-F238E27FC236}">
                  <a16:creationId xmlns:a16="http://schemas.microsoft.com/office/drawing/2014/main" id="{E012C92A-B902-4B69-BDCF-CCA3021FCB4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035" name="Straight Connector 1034">
              <a:extLst>
                <a:ext uri="{FF2B5EF4-FFF2-40B4-BE49-F238E27FC236}">
                  <a16:creationId xmlns:a16="http://schemas.microsoft.com/office/drawing/2014/main" id="{A2BDBC14-42A0-4182-BFBA-0751F6350CB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036" name="Rectangle 23">
              <a:extLst>
                <a:ext uri="{FF2B5EF4-FFF2-40B4-BE49-F238E27FC236}">
                  <a16:creationId xmlns:a16="http://schemas.microsoft.com/office/drawing/2014/main" id="{902DC474-5BCC-4188-ACDC-AD63E6B187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7" name="Rectangle 25">
              <a:extLst>
                <a:ext uri="{FF2B5EF4-FFF2-40B4-BE49-F238E27FC236}">
                  <a16:creationId xmlns:a16="http://schemas.microsoft.com/office/drawing/2014/main" id="{7B427019-8592-4032-931B-4F27104C9DE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8" name="Isosceles Triangle 1037">
              <a:extLst>
                <a:ext uri="{FF2B5EF4-FFF2-40B4-BE49-F238E27FC236}">
                  <a16:creationId xmlns:a16="http://schemas.microsoft.com/office/drawing/2014/main" id="{1D6E2CEA-A5BB-4CF7-B907-AE4DBF6748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39" name="Rectangle 27">
              <a:extLst>
                <a:ext uri="{FF2B5EF4-FFF2-40B4-BE49-F238E27FC236}">
                  <a16:creationId xmlns:a16="http://schemas.microsoft.com/office/drawing/2014/main" id="{78D09D5A-29CC-4B32-9CE1-72E607558A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0" name="Rectangle 28">
              <a:extLst>
                <a:ext uri="{FF2B5EF4-FFF2-40B4-BE49-F238E27FC236}">
                  <a16:creationId xmlns:a16="http://schemas.microsoft.com/office/drawing/2014/main" id="{6DF3A3FC-950B-40B0-923D-0F0BC1A542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1" name="Rectangle 29">
              <a:extLst>
                <a:ext uri="{FF2B5EF4-FFF2-40B4-BE49-F238E27FC236}">
                  <a16:creationId xmlns:a16="http://schemas.microsoft.com/office/drawing/2014/main" id="{BCA0F2E1-CD3D-4521-9CCB-41A5CC6C54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2" name="Isosceles Triangle 1041">
              <a:extLst>
                <a:ext uri="{FF2B5EF4-FFF2-40B4-BE49-F238E27FC236}">
                  <a16:creationId xmlns:a16="http://schemas.microsoft.com/office/drawing/2014/main" id="{9BA4F16A-21DC-462A-AD37-0A93C8B79E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43" name="Isosceles Triangle 1042">
              <a:extLst>
                <a:ext uri="{FF2B5EF4-FFF2-40B4-BE49-F238E27FC236}">
                  <a16:creationId xmlns:a16="http://schemas.microsoft.com/office/drawing/2014/main" id="{FB75EBDD-038D-4572-A372-1149382957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pic>
        <p:nvPicPr>
          <p:cNvPr id="1028" name="Picture 4" descr="See the source image">
            <a:extLst>
              <a:ext uri="{FF2B5EF4-FFF2-40B4-BE49-F238E27FC236}">
                <a16:creationId xmlns:a16="http://schemas.microsoft.com/office/drawing/2014/main" id="{8F72F49B-8E5D-81F0-BF92-AA468237FED5}"/>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4471" b="5529"/>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80113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07E631FA-A398-2776-2FB3-D1610991BD9E}"/>
                  </a:ext>
                </a:extLst>
              </p:cNvPr>
              <p:cNvSpPr>
                <a:spLocks noGrp="1"/>
              </p:cNvSpPr>
              <p:nvPr>
                <p:ph type="ctrTitle"/>
              </p:nvPr>
            </p:nvSpPr>
            <p:spPr>
              <a:xfrm>
                <a:off x="1345637" y="3060010"/>
                <a:ext cx="8706078" cy="1646302"/>
              </a:xfrm>
            </p:spPr>
            <p:txBody>
              <a:bodyPr/>
              <a:lstStyle/>
              <a:p>
                <a:pPr algn="ctr"/>
                <a:r>
                  <a:rPr lang="en-US" dirty="0">
                    <a:latin typeface="Arial" panose="020B0604020202020204" pitchFamily="34" charset="0"/>
                    <a:cs typeface="Arial" panose="020B0604020202020204" pitchFamily="34" charset="0"/>
                  </a:rPr>
                  <a:t>Robust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𝐻</m:t>
                        </m:r>
                      </m:e>
                      <m:sub>
                        <m:r>
                          <m:rPr>
                            <m:nor/>
                          </m:rPr>
                          <a:rPr lang="en-US">
                            <a:ea typeface="Cambria Math" panose="02040503050406030204" pitchFamily="18" charset="0"/>
                          </a:rPr>
                          <m:t>∞</m:t>
                        </m:r>
                      </m:sub>
                    </m:sSub>
                    <m:r>
                      <a:rPr lang="en-US" b="0" i="0" smtClean="0">
                        <a:latin typeface="Cambria Math" panose="02040503050406030204" pitchFamily="18" charset="0"/>
                        <a:ea typeface="Cambria Math" panose="02040503050406030204" pitchFamily="18" charset="0"/>
                      </a:rPr>
                      <m:t> </m:t>
                    </m:r>
                  </m:oMath>
                </a14:m>
                <a:r>
                  <a:rPr lang="en-US" dirty="0">
                    <a:latin typeface="Arial" panose="020B0604020202020204" pitchFamily="34" charset="0"/>
                    <a:cs typeface="Arial" panose="020B0604020202020204" pitchFamily="34" charset="0"/>
                  </a:rPr>
                  <a:t>Static Output Feedback for TCP-AQM Routers</a:t>
                </a:r>
              </a:p>
            </p:txBody>
          </p:sp>
        </mc:Choice>
        <mc:Fallback>
          <p:sp>
            <p:nvSpPr>
              <p:cNvPr id="2" name="Title 1">
                <a:extLst>
                  <a:ext uri="{FF2B5EF4-FFF2-40B4-BE49-F238E27FC236}">
                    <a16:creationId xmlns:a16="http://schemas.microsoft.com/office/drawing/2014/main" id="{07E631FA-A398-2776-2FB3-D1610991BD9E}"/>
                  </a:ext>
                </a:extLst>
              </p:cNvPr>
              <p:cNvSpPr>
                <a:spLocks noGrp="1" noRot="1" noChangeAspect="1" noMove="1" noResize="1" noEditPoints="1" noAdjustHandles="1" noChangeArrowheads="1" noChangeShapeType="1" noTextEdit="1"/>
              </p:cNvSpPr>
              <p:nvPr>
                <p:ph type="ctrTitle"/>
              </p:nvPr>
            </p:nvSpPr>
            <p:spPr>
              <a:xfrm>
                <a:off x="1345637" y="3060010"/>
                <a:ext cx="8706078" cy="1646302"/>
              </a:xfrm>
              <a:blipFill>
                <a:blip r:embed="rId2"/>
                <a:stretch>
                  <a:fillRect t="-65926" b="-22593"/>
                </a:stretch>
              </a:blipFill>
            </p:spPr>
            <p:txBody>
              <a:bodyPr/>
              <a:lstStyle/>
              <a:p>
                <a:r>
                  <a:rPr lang="en-US">
                    <a:noFill/>
                  </a:rPr>
                  <a:t> </a:t>
                </a:r>
              </a:p>
            </p:txBody>
          </p:sp>
        </mc:Fallback>
      </mc:AlternateContent>
      <p:sp>
        <p:nvSpPr>
          <p:cNvPr id="5" name="Content Placeholder 2">
            <a:extLst>
              <a:ext uri="{FF2B5EF4-FFF2-40B4-BE49-F238E27FC236}">
                <a16:creationId xmlns:a16="http://schemas.microsoft.com/office/drawing/2014/main" id="{8A0037E9-6215-299C-6FA9-7B014D206832}"/>
              </a:ext>
            </a:extLst>
          </p:cNvPr>
          <p:cNvSpPr txBox="1">
            <a:spLocks/>
          </p:cNvSpPr>
          <p:nvPr/>
        </p:nvSpPr>
        <p:spPr>
          <a:xfrm>
            <a:off x="3808834" y="4934912"/>
            <a:ext cx="4574331" cy="3019246"/>
          </a:xfrm>
          <a:prstGeom prst="rect">
            <a:avLst/>
          </a:prstGeom>
        </p:spPr>
        <p:txBody>
          <a:bodyPr vert="horz" lIns="91440" tIns="45720" rIns="91440" bIns="45720" rtlCol="0" anchor="t">
            <a:no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pPr algn="l"/>
            <a:r>
              <a:rPr lang="en-US" sz="2400" dirty="0">
                <a:solidFill>
                  <a:schemeClr val="tx1"/>
                </a:solidFill>
                <a:latin typeface="Arial" panose="020B0604020202020204" pitchFamily="34" charset="0"/>
                <a:cs typeface="Arial" panose="020B0604020202020204" pitchFamily="34" charset="0"/>
              </a:rPr>
              <a:t>By </a:t>
            </a:r>
          </a:p>
          <a:p>
            <a:pPr marL="342900" indent="-342900" algn="l">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Muhammad Muaz Rauf</a:t>
            </a:r>
          </a:p>
          <a:p>
            <a:pPr marL="342900" indent="-342900" algn="l">
              <a:buFont typeface="Arial" panose="020B0604020202020204" pitchFamily="34" charset="0"/>
              <a:buChar char="•"/>
            </a:pPr>
            <a:r>
              <a:rPr lang="en-US" sz="2400" dirty="0">
                <a:solidFill>
                  <a:schemeClr val="tx1"/>
                </a:solidFill>
                <a:latin typeface="Arial" panose="020B0604020202020204" pitchFamily="34" charset="0"/>
                <a:cs typeface="Arial" panose="020B0604020202020204" pitchFamily="34" charset="0"/>
              </a:rPr>
              <a:t>Muhammad Danish Nisar</a:t>
            </a:r>
          </a:p>
        </p:txBody>
      </p:sp>
    </p:spTree>
    <p:extLst>
      <p:ext uri="{BB962C8B-B14F-4D97-AF65-F5344CB8AC3E}">
        <p14:creationId xmlns:p14="http://schemas.microsoft.com/office/powerpoint/2010/main" val="3415628723"/>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520B07-D4F8-F08B-68FC-E5D958E09A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EB3DC-13ED-A5D7-F1D1-BF172294E6C0}"/>
              </a:ext>
            </a:extLst>
          </p:cNvPr>
          <p:cNvSpPr>
            <a:spLocks noGrp="1"/>
          </p:cNvSpPr>
          <p:nvPr>
            <p:ph type="title"/>
          </p:nvPr>
        </p:nvSpPr>
        <p:spPr>
          <a:xfrm>
            <a:off x="452251" y="609600"/>
            <a:ext cx="8596668" cy="762000"/>
          </a:xfrm>
        </p:spPr>
        <p:txBody>
          <a:bodyPr>
            <a:normAutofit/>
          </a:bodyPr>
          <a:lstStyle/>
          <a:p>
            <a:r>
              <a:rPr lang="en-US" b="1" dirty="0">
                <a:latin typeface="Arial" panose="020B0604020202020204" pitchFamily="34" charset="0"/>
                <a:cs typeface="Arial" panose="020B0604020202020204" pitchFamily="34" charset="0"/>
              </a:rPr>
              <a:t>Contents</a:t>
            </a:r>
          </a:p>
        </p:txBody>
      </p:sp>
      <p:sp>
        <p:nvSpPr>
          <p:cNvPr id="3" name="Content Placeholder 2">
            <a:extLst>
              <a:ext uri="{FF2B5EF4-FFF2-40B4-BE49-F238E27FC236}">
                <a16:creationId xmlns:a16="http://schemas.microsoft.com/office/drawing/2014/main" id="{BEDD74B6-4C71-83C4-DF82-E77201235DF6}"/>
              </a:ext>
            </a:extLst>
          </p:cNvPr>
          <p:cNvSpPr>
            <a:spLocks noGrp="1"/>
          </p:cNvSpPr>
          <p:nvPr>
            <p:ph sz="half" idx="1"/>
          </p:nvPr>
        </p:nvSpPr>
        <p:spPr>
          <a:xfrm>
            <a:off x="526411" y="1480017"/>
            <a:ext cx="9981167" cy="4617463"/>
          </a:xfrm>
        </p:spPr>
        <p:txBody>
          <a:bodyPr>
            <a:noAutofit/>
          </a:bodyPr>
          <a:lstStyle/>
          <a:p>
            <a:r>
              <a:rPr lang="en-US" sz="2400" dirty="0">
                <a:latin typeface="Arial" panose="020B0604020202020204" pitchFamily="34" charset="0"/>
                <a:cs typeface="Arial" panose="020B0604020202020204" pitchFamily="34" charset="0"/>
              </a:rPr>
              <a:t>Introduction: The challenge of Internet Congestion &amp; AQM.</a:t>
            </a:r>
          </a:p>
          <a:p>
            <a:r>
              <a:rPr lang="en-US" sz="2400" dirty="0">
                <a:latin typeface="Arial" panose="020B0604020202020204" pitchFamily="34" charset="0"/>
                <a:cs typeface="Arial" panose="020B0604020202020204" pitchFamily="34" charset="0"/>
              </a:rPr>
              <a:t>Problem Statement: Why Static Output Feedback (SOF)?</a:t>
            </a:r>
          </a:p>
          <a:p>
            <a:r>
              <a:rPr lang="en-US" sz="2400" dirty="0">
                <a:latin typeface="Arial" panose="020B0604020202020204" pitchFamily="34" charset="0"/>
                <a:cs typeface="Arial" panose="020B0604020202020204" pitchFamily="34" charset="0"/>
              </a:rPr>
              <a:t>System Modeling: Nonlinear vs. Linearized TCP/AQM models.</a:t>
            </a:r>
          </a:p>
          <a:p>
            <a:r>
              <a:rPr lang="en-US" sz="2400" dirty="0">
                <a:latin typeface="Arial" panose="020B0604020202020204" pitchFamily="34" charset="0"/>
                <a:cs typeface="Arial" panose="020B0604020202020204" pitchFamily="34" charset="0"/>
              </a:rPr>
              <a:t>Theoretical Framework: LMI Optimization for Case 3 (</a:t>
            </a:r>
            <a:r>
              <a:rPr lang="en-US" sz="2400" i="1" dirty="0">
                <a:latin typeface="Arial" panose="020B0604020202020204" pitchFamily="34" charset="0"/>
                <a:cs typeface="Arial" panose="020B0604020202020204" pitchFamily="34" charset="0"/>
              </a:rPr>
              <a:t>h=d</a:t>
            </a:r>
            <a:r>
              <a:rPr lang="en-US" sz="2400" dirty="0">
                <a:latin typeface="Arial" panose="020B0604020202020204" pitchFamily="34" charset="0"/>
                <a:cs typeface="Arial" panose="020B0604020202020204" pitchFamily="34" charset="0"/>
              </a:rPr>
              <a:t>).</a:t>
            </a:r>
          </a:p>
          <a:p>
            <a:r>
              <a:rPr lang="en-US" sz="2400" dirty="0">
                <a:latin typeface="Arial" panose="020B0604020202020204" pitchFamily="34" charset="0"/>
                <a:cs typeface="Arial" panose="020B0604020202020204" pitchFamily="34" charset="0"/>
              </a:rPr>
              <a:t>Implementation: Simulation parameters and setup.</a:t>
            </a:r>
          </a:p>
          <a:p>
            <a:r>
              <a:rPr lang="en-US" sz="2400" dirty="0">
                <a:latin typeface="Arial" panose="020B0604020202020204" pitchFamily="34" charset="0"/>
                <a:cs typeface="Arial" panose="020B0604020202020204" pitchFamily="34" charset="0"/>
              </a:rPr>
              <a:t>Reproduced Results: Comparison of Queue, Window Size, and RTT.</a:t>
            </a:r>
          </a:p>
          <a:p>
            <a:r>
              <a:rPr lang="en-US" sz="2400" dirty="0">
                <a:latin typeface="Arial" panose="020B0604020202020204" pitchFamily="34" charset="0"/>
                <a:cs typeface="Arial" panose="020B0604020202020204" pitchFamily="34" charset="0"/>
              </a:rPr>
              <a:t>Conclusion: Summary of findings.</a:t>
            </a:r>
          </a:p>
          <a:p>
            <a:endParaRPr lang="en-US" sz="22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a:p>
            <a:pPr marL="0" indent="0">
              <a:buNone/>
            </a:pP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br>
              <a:rPr lang="en-US" sz="2400" dirty="0">
                <a:latin typeface="Arial" panose="020B0604020202020204" pitchFamily="34" charset="0"/>
                <a:cs typeface="Arial" panose="020B0604020202020204" pitchFamily="34" charset="0"/>
              </a:rPr>
            </a:b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008305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1358C-B9D7-0792-86FF-3A0C4DD1AA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77EC1E-968B-8F01-BE36-1194EB70EBB9}"/>
              </a:ext>
            </a:extLst>
          </p:cNvPr>
          <p:cNvSpPr>
            <a:spLocks noGrp="1"/>
          </p:cNvSpPr>
          <p:nvPr>
            <p:ph type="title"/>
          </p:nvPr>
        </p:nvSpPr>
        <p:spPr>
          <a:xfrm>
            <a:off x="452251" y="609600"/>
            <a:ext cx="8596668" cy="762000"/>
          </a:xfrm>
        </p:spPr>
        <p:txBody>
          <a:bodyPr>
            <a:normAutofit/>
          </a:bodyPr>
          <a:lstStyle/>
          <a:p>
            <a:pPr algn="ctr"/>
            <a:r>
              <a:rPr lang="en-US" b="1" dirty="0">
                <a:latin typeface="Arial" panose="020B0604020202020204" pitchFamily="34" charset="0"/>
                <a:cs typeface="Arial" panose="020B0604020202020204" pitchFamily="34" charset="0"/>
              </a:rPr>
              <a:t>Introduction &amp; Motivation</a:t>
            </a:r>
          </a:p>
        </p:txBody>
      </p:sp>
      <p:sp>
        <p:nvSpPr>
          <p:cNvPr id="4" name="Slide Number Placeholder 3">
            <a:extLst>
              <a:ext uri="{FF2B5EF4-FFF2-40B4-BE49-F238E27FC236}">
                <a16:creationId xmlns:a16="http://schemas.microsoft.com/office/drawing/2014/main" id="{703F6781-8830-2B7D-64B8-E975EDE812A6}"/>
              </a:ext>
            </a:extLst>
          </p:cNvPr>
          <p:cNvSpPr>
            <a:spLocks noGrp="1"/>
          </p:cNvSpPr>
          <p:nvPr>
            <p:ph type="sldNum" sz="quarter" idx="12"/>
          </p:nvPr>
        </p:nvSpPr>
        <p:spPr>
          <a:xfrm>
            <a:off x="10645451" y="6022109"/>
            <a:ext cx="1096432" cy="716887"/>
          </a:xfrm>
        </p:spPr>
        <p:txBody>
          <a:bodyPr/>
          <a:lstStyle/>
          <a:p>
            <a:r>
              <a:rPr lang="en-US" dirty="0">
                <a:solidFill>
                  <a:schemeClr val="bg1"/>
                </a:solidFill>
              </a:rPr>
              <a:t>1</a:t>
            </a:r>
          </a:p>
        </p:txBody>
      </p:sp>
      <p:sp>
        <p:nvSpPr>
          <p:cNvPr id="9" name="Content Placeholder 3">
            <a:extLst>
              <a:ext uri="{FF2B5EF4-FFF2-40B4-BE49-F238E27FC236}">
                <a16:creationId xmlns:a16="http://schemas.microsoft.com/office/drawing/2014/main" id="{B44EC6CC-1294-D708-8306-35C6FB332A8F}"/>
              </a:ext>
            </a:extLst>
          </p:cNvPr>
          <p:cNvSpPr txBox="1">
            <a:spLocks/>
          </p:cNvSpPr>
          <p:nvPr/>
        </p:nvSpPr>
        <p:spPr>
          <a:xfrm>
            <a:off x="452250" y="1462809"/>
            <a:ext cx="8504713" cy="4559300"/>
          </a:xfrm>
          <a:prstGeom prst="rect">
            <a:avLst/>
          </a:prstGeom>
        </p:spPr>
        <p:txBody>
          <a:bodyPr vert="horz" lIns="91440" tIns="45720" rIns="91440" bIns="45720" rtlCol="0">
            <a:normAutofit lnSpcReduction="100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gn="just">
              <a:lnSpc>
                <a:spcPct val="107000"/>
              </a:lnSpc>
              <a:spcBef>
                <a:spcPts val="0"/>
              </a:spcBef>
            </a:pPr>
            <a:r>
              <a:rPr lang="en-US" sz="2400" b="1" dirty="0">
                <a:latin typeface="Arial" panose="020B0604020202020204" pitchFamily="34" charset="0"/>
                <a:ea typeface="Calibri" panose="020F0502020204030204" pitchFamily="34" charset="0"/>
                <a:cs typeface="Arial" panose="020B0604020202020204" pitchFamily="34" charset="0"/>
              </a:rPr>
              <a:t>The Context:</a:t>
            </a:r>
          </a:p>
          <a:p>
            <a:pPr lvl="1" algn="just">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Exponential growth in internet traffic necessitates robust congestion control mechanisms4.</a:t>
            </a:r>
          </a:p>
          <a:p>
            <a:pPr lvl="1" algn="just">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Network parameters like Round-Trip Time (RTT) and Link Capacity fluctuate constantly5.</a:t>
            </a:r>
          </a:p>
          <a:p>
            <a:pPr algn="just">
              <a:lnSpc>
                <a:spcPct val="107000"/>
              </a:lnSpc>
              <a:spcBef>
                <a:spcPts val="0"/>
              </a:spcBef>
            </a:pPr>
            <a:r>
              <a:rPr lang="en-US" sz="2400" b="1" dirty="0">
                <a:latin typeface="Arial" panose="020B0604020202020204" pitchFamily="34" charset="0"/>
                <a:ea typeface="Calibri" panose="020F0502020204030204" pitchFamily="34" charset="0"/>
                <a:cs typeface="Arial" panose="020B0604020202020204" pitchFamily="34" charset="0"/>
              </a:rPr>
              <a:t>The Problem with Traditional Methods:</a:t>
            </a:r>
          </a:p>
          <a:p>
            <a:pPr lvl="1" algn="just">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Algorithms like Random Early Detection (RED) rely on heuristic tuning.</a:t>
            </a:r>
          </a:p>
          <a:p>
            <a:pPr lvl="1" algn="just">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They often suffer from parameter tuning difficulties and oscillatory responses.</a:t>
            </a:r>
          </a:p>
          <a:p>
            <a:pPr algn="just">
              <a:lnSpc>
                <a:spcPct val="107000"/>
              </a:lnSpc>
              <a:spcBef>
                <a:spcPts val="0"/>
              </a:spcBef>
            </a:pPr>
            <a:r>
              <a:rPr lang="en-US" sz="2400" b="1" dirty="0">
                <a:latin typeface="Arial" panose="020B0604020202020204" pitchFamily="34" charset="0"/>
                <a:ea typeface="Calibri" panose="020F0502020204030204" pitchFamily="34" charset="0"/>
                <a:cs typeface="Arial" panose="020B0604020202020204" pitchFamily="34" charset="0"/>
              </a:rPr>
              <a:t>The Robust Control Solution:</a:t>
            </a:r>
          </a:p>
          <a:p>
            <a:pPr lvl="1" algn="just">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Modern </a:t>
            </a:r>
            <a:r>
              <a:rPr lang="en-US" sz="2200" i="1" dirty="0">
                <a:latin typeface="Arial" panose="020B0604020202020204" pitchFamily="34" charset="0"/>
                <a:ea typeface="Calibri" panose="020F0502020204030204" pitchFamily="34" charset="0"/>
                <a:cs typeface="Arial" panose="020B0604020202020204" pitchFamily="34" charset="0"/>
              </a:rPr>
              <a:t>H</a:t>
            </a:r>
            <a:r>
              <a:rPr lang="en-US" dirty="0"/>
              <a:t>∞</a:t>
            </a:r>
            <a:r>
              <a:rPr lang="en-US" sz="2200" dirty="0">
                <a:latin typeface="Arial" panose="020B0604020202020204" pitchFamily="34" charset="0"/>
                <a:ea typeface="Calibri" panose="020F0502020204030204" pitchFamily="34" charset="0"/>
                <a:cs typeface="Arial" panose="020B0604020202020204" pitchFamily="34" charset="0"/>
              </a:rPr>
              <a:t> synthesis offers mathematically guaranteed robustness against these uncertainties</a:t>
            </a:r>
          </a:p>
          <a:p>
            <a:pPr algn="just">
              <a:lnSpc>
                <a:spcPct val="107000"/>
              </a:lnSpc>
              <a:spcBef>
                <a:spcPts val="0"/>
              </a:spcBef>
            </a:pPr>
            <a:endParaRPr lang="en-US" sz="2400" dirty="0">
              <a:latin typeface="Arial" panose="020B0604020202020204" pitchFamily="34" charset="0"/>
              <a:ea typeface="Calibri" panose="020F0502020204030204" pitchFamily="34" charset="0"/>
              <a:cs typeface="Arial" panose="020B0604020202020204" pitchFamily="34" charset="0"/>
            </a:endParaRPr>
          </a:p>
          <a:p>
            <a:pPr algn="just">
              <a:lnSpc>
                <a:spcPct val="107000"/>
              </a:lnSpc>
              <a:spcBef>
                <a:spcPts val="0"/>
              </a:spcBef>
            </a:pPr>
            <a:endParaRPr lang="en-US" sz="24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109331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1000"/>
                                        <p:tgtEl>
                                          <p:spTgt spid="9">
                                            <p:txEl>
                                              <p:pRg st="1" end="1"/>
                                            </p:txEl>
                                          </p:spTgt>
                                        </p:tgtEl>
                                      </p:cBhvr>
                                    </p:animEffect>
                                    <p:anim calcmode="lin" valueType="num">
                                      <p:cBhvr>
                                        <p:cTn id="13"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1000"/>
                                        <p:tgtEl>
                                          <p:spTgt spid="9">
                                            <p:txEl>
                                              <p:pRg st="2" end="2"/>
                                            </p:txEl>
                                          </p:spTgt>
                                        </p:tgtEl>
                                      </p:cBhvr>
                                    </p:animEffect>
                                    <p:anim calcmode="lin" valueType="num">
                                      <p:cBhvr>
                                        <p:cTn id="1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9">
                                            <p:txEl>
                                              <p:pRg st="3" end="3"/>
                                            </p:txEl>
                                          </p:spTgt>
                                        </p:tgtEl>
                                        <p:attrNameLst>
                                          <p:attrName>style.visibility</p:attrName>
                                        </p:attrNameLst>
                                      </p:cBhvr>
                                      <p:to>
                                        <p:strVal val="visible"/>
                                      </p:to>
                                    </p:set>
                                    <p:animEffect transition="in" filter="fade">
                                      <p:cBhvr>
                                        <p:cTn id="24" dur="1000"/>
                                        <p:tgtEl>
                                          <p:spTgt spid="9">
                                            <p:txEl>
                                              <p:pRg st="3" end="3"/>
                                            </p:txEl>
                                          </p:spTgt>
                                        </p:tgtEl>
                                      </p:cBhvr>
                                    </p:animEffect>
                                    <p:anim calcmode="lin" valueType="num">
                                      <p:cBhvr>
                                        <p:cTn id="25"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9">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9">
                                            <p:txEl>
                                              <p:pRg st="4" end="4"/>
                                            </p:txEl>
                                          </p:spTgt>
                                        </p:tgtEl>
                                        <p:attrNameLst>
                                          <p:attrName>style.visibility</p:attrName>
                                        </p:attrNameLst>
                                      </p:cBhvr>
                                      <p:to>
                                        <p:strVal val="visible"/>
                                      </p:to>
                                    </p:set>
                                    <p:animEffect transition="in" filter="fade">
                                      <p:cBhvr>
                                        <p:cTn id="29" dur="1000"/>
                                        <p:tgtEl>
                                          <p:spTgt spid="9">
                                            <p:txEl>
                                              <p:pRg st="4" end="4"/>
                                            </p:txEl>
                                          </p:spTgt>
                                        </p:tgtEl>
                                      </p:cBhvr>
                                    </p:animEffect>
                                    <p:anim calcmode="lin" valueType="num">
                                      <p:cBhvr>
                                        <p:cTn id="30" dur="1000" fill="hold"/>
                                        <p:tgtEl>
                                          <p:spTgt spid="9">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9">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xEl>
                                              <p:pRg st="5" end="5"/>
                                            </p:txEl>
                                          </p:spTgt>
                                        </p:tgtEl>
                                        <p:attrNameLst>
                                          <p:attrName>style.visibility</p:attrName>
                                        </p:attrNameLst>
                                      </p:cBhvr>
                                      <p:to>
                                        <p:strVal val="visible"/>
                                      </p:to>
                                    </p:set>
                                    <p:animEffect transition="in" filter="fade">
                                      <p:cBhvr>
                                        <p:cTn id="34" dur="1000"/>
                                        <p:tgtEl>
                                          <p:spTgt spid="9">
                                            <p:txEl>
                                              <p:pRg st="5" end="5"/>
                                            </p:txEl>
                                          </p:spTgt>
                                        </p:tgtEl>
                                      </p:cBhvr>
                                    </p:animEffect>
                                    <p:anim calcmode="lin" valueType="num">
                                      <p:cBhvr>
                                        <p:cTn id="35" dur="1000" fill="hold"/>
                                        <p:tgtEl>
                                          <p:spTgt spid="9">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9">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p:stCondLst>
                                    <p:cond delay="0"/>
                                  </p:stCondLst>
                                  <p:childTnLst>
                                    <p:set>
                                      <p:cBhvr>
                                        <p:cTn id="40" dur="1" fill="hold">
                                          <p:stCondLst>
                                            <p:cond delay="0"/>
                                          </p:stCondLst>
                                        </p:cTn>
                                        <p:tgtEl>
                                          <p:spTgt spid="9">
                                            <p:txEl>
                                              <p:pRg st="6" end="6"/>
                                            </p:txEl>
                                          </p:spTgt>
                                        </p:tgtEl>
                                        <p:attrNameLst>
                                          <p:attrName>style.visibility</p:attrName>
                                        </p:attrNameLst>
                                      </p:cBhvr>
                                      <p:to>
                                        <p:strVal val="visible"/>
                                      </p:to>
                                    </p:set>
                                    <p:animEffect transition="in" filter="fade">
                                      <p:cBhvr>
                                        <p:cTn id="41" dur="1000"/>
                                        <p:tgtEl>
                                          <p:spTgt spid="9">
                                            <p:txEl>
                                              <p:pRg st="6" end="6"/>
                                            </p:txEl>
                                          </p:spTgt>
                                        </p:tgtEl>
                                      </p:cBhvr>
                                    </p:animEffect>
                                    <p:anim calcmode="lin" valueType="num">
                                      <p:cBhvr>
                                        <p:cTn id="42" dur="1000" fill="hold"/>
                                        <p:tgtEl>
                                          <p:spTgt spid="9">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9">
                                            <p:txEl>
                                              <p:pRg st="6" end="6"/>
                                            </p:txEl>
                                          </p:spTgt>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9">
                                            <p:txEl>
                                              <p:pRg st="7" end="7"/>
                                            </p:txEl>
                                          </p:spTgt>
                                        </p:tgtEl>
                                        <p:attrNameLst>
                                          <p:attrName>style.visibility</p:attrName>
                                        </p:attrNameLst>
                                      </p:cBhvr>
                                      <p:to>
                                        <p:strVal val="visible"/>
                                      </p:to>
                                    </p:set>
                                    <p:animEffect transition="in" filter="fade">
                                      <p:cBhvr>
                                        <p:cTn id="46" dur="1000"/>
                                        <p:tgtEl>
                                          <p:spTgt spid="9">
                                            <p:txEl>
                                              <p:pRg st="7" end="7"/>
                                            </p:txEl>
                                          </p:spTgt>
                                        </p:tgtEl>
                                      </p:cBhvr>
                                    </p:animEffect>
                                    <p:anim calcmode="lin" valueType="num">
                                      <p:cBhvr>
                                        <p:cTn id="47" dur="1000" fill="hold"/>
                                        <p:tgtEl>
                                          <p:spTgt spid="9">
                                            <p:txEl>
                                              <p:pRg st="7" end="7"/>
                                            </p:txEl>
                                          </p:spTgt>
                                        </p:tgtEl>
                                        <p:attrNameLst>
                                          <p:attrName>ppt_x</p:attrName>
                                        </p:attrNameLst>
                                      </p:cBhvr>
                                      <p:tavLst>
                                        <p:tav tm="0">
                                          <p:val>
                                            <p:strVal val="#ppt_x"/>
                                          </p:val>
                                        </p:tav>
                                        <p:tav tm="100000">
                                          <p:val>
                                            <p:strVal val="#ppt_x"/>
                                          </p:val>
                                        </p:tav>
                                      </p:tavLst>
                                    </p:anim>
                                    <p:anim calcmode="lin" valueType="num">
                                      <p:cBhvr>
                                        <p:cTn id="48" dur="1000" fill="hold"/>
                                        <p:tgtEl>
                                          <p:spTgt spid="9">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71D39-7AC5-E27F-2E20-9058C712C3E7}"/>
              </a:ext>
            </a:extLst>
          </p:cNvPr>
          <p:cNvSpPr>
            <a:spLocks noGrp="1"/>
          </p:cNvSpPr>
          <p:nvPr>
            <p:ph type="title"/>
          </p:nvPr>
        </p:nvSpPr>
        <p:spPr>
          <a:xfrm>
            <a:off x="0" y="608454"/>
            <a:ext cx="9984418" cy="791281"/>
          </a:xfrm>
        </p:spPr>
        <p:txBody>
          <a:bodyPr>
            <a:normAutofit/>
          </a:bodyPr>
          <a:lstStyle/>
          <a:p>
            <a:pPr algn="ctr"/>
            <a:r>
              <a:rPr lang="en-US" b="1" dirty="0">
                <a:latin typeface="Arial" panose="020B0604020202020204" pitchFamily="34" charset="0"/>
                <a:cs typeface="Arial" panose="020B0604020202020204" pitchFamily="34" charset="0"/>
              </a:rPr>
              <a:t>Problem Statement</a:t>
            </a:r>
          </a:p>
        </p:txBody>
      </p:sp>
      <p:sp>
        <p:nvSpPr>
          <p:cNvPr id="4" name="Slide Number Placeholder 3">
            <a:extLst>
              <a:ext uri="{FF2B5EF4-FFF2-40B4-BE49-F238E27FC236}">
                <a16:creationId xmlns:a16="http://schemas.microsoft.com/office/drawing/2014/main" id="{2D48D416-6841-D579-EE04-67E6C2E1F340}"/>
              </a:ext>
            </a:extLst>
          </p:cNvPr>
          <p:cNvSpPr>
            <a:spLocks noGrp="1"/>
          </p:cNvSpPr>
          <p:nvPr>
            <p:ph type="sldNum" sz="quarter" idx="12"/>
          </p:nvPr>
        </p:nvSpPr>
        <p:spPr/>
        <p:txBody>
          <a:bodyPr/>
          <a:lstStyle/>
          <a:p>
            <a:r>
              <a:rPr lang="en-US" dirty="0"/>
              <a:t>2</a:t>
            </a:r>
          </a:p>
        </p:txBody>
      </p:sp>
      <mc:AlternateContent xmlns:mc="http://schemas.openxmlformats.org/markup-compatibility/2006" xmlns:a14="http://schemas.microsoft.com/office/drawing/2010/main">
        <mc:Choice Requires="a14">
          <p:sp>
            <p:nvSpPr>
              <p:cNvPr id="7" name="Content Placeholder 3">
                <a:extLst>
                  <a:ext uri="{FF2B5EF4-FFF2-40B4-BE49-F238E27FC236}">
                    <a16:creationId xmlns:a16="http://schemas.microsoft.com/office/drawing/2014/main" id="{6967418F-27BE-B8D6-1B9A-27062E0D09B1}"/>
                  </a:ext>
                </a:extLst>
              </p:cNvPr>
              <p:cNvSpPr txBox="1">
                <a:spLocks/>
              </p:cNvSpPr>
              <p:nvPr/>
            </p:nvSpPr>
            <p:spPr>
              <a:xfrm>
                <a:off x="452251" y="1462809"/>
                <a:ext cx="8435076" cy="4559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r>
                  <a:rPr lang="en-US" sz="2400" b="1" dirty="0">
                    <a:latin typeface="Arial" panose="020B0604020202020204" pitchFamily="34" charset="0"/>
                    <a:ea typeface="Calibri" panose="020F0502020204030204" pitchFamily="34" charset="0"/>
                    <a:cs typeface="Arial" panose="020B0604020202020204" pitchFamily="34" charset="0"/>
                  </a:rPr>
                  <a:t>The Limitation of Current Robust Controllers:</a:t>
                </a:r>
              </a:p>
              <a:p>
                <a:pPr lvl="1">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Many existing </a:t>
                </a:r>
                <a:r>
                  <a:rPr lang="en-US" sz="2200" b="1" i="1" dirty="0">
                    <a:latin typeface="Arial" panose="020B0604020202020204" pitchFamily="34" charset="0"/>
                    <a:ea typeface="Calibri" panose="020F0502020204030204" pitchFamily="34" charset="0"/>
                    <a:cs typeface="Arial" panose="020B0604020202020204" pitchFamily="34" charset="0"/>
                  </a:rPr>
                  <a:t>H</a:t>
                </a:r>
                <a:r>
                  <a:rPr lang="en-US" sz="2000" b="1" dirty="0"/>
                  <a:t> ∞</a:t>
                </a:r>
                <a:r>
                  <a:rPr lang="en-US" sz="2200" dirty="0">
                    <a:latin typeface="Arial" panose="020B0604020202020204" pitchFamily="34" charset="0"/>
                    <a:ea typeface="Calibri" panose="020F0502020204030204" pitchFamily="34" charset="0"/>
                    <a:cs typeface="Arial" panose="020B0604020202020204" pitchFamily="34" charset="0"/>
                  </a:rPr>
                  <a:t> controllers require </a:t>
                </a:r>
                <a:r>
                  <a:rPr lang="en-US" sz="2200" b="1" dirty="0">
                    <a:latin typeface="Arial" panose="020B0604020202020204" pitchFamily="34" charset="0"/>
                    <a:ea typeface="Calibri" panose="020F0502020204030204" pitchFamily="34" charset="0"/>
                    <a:cs typeface="Arial" panose="020B0604020202020204" pitchFamily="34" charset="0"/>
                  </a:rPr>
                  <a:t>Full State Feedback</a:t>
                </a:r>
                <a:r>
                  <a:rPr lang="en-US" sz="2200" dirty="0">
                    <a:latin typeface="Arial" panose="020B0604020202020204" pitchFamily="34" charset="0"/>
                    <a:ea typeface="Calibri" panose="020F0502020204030204" pitchFamily="34" charset="0"/>
                    <a:cs typeface="Arial" panose="020B0604020202020204" pitchFamily="34" charset="0"/>
                  </a:rPr>
                  <a:t>.</a:t>
                </a:r>
              </a:p>
              <a:p>
                <a:pPr lvl="1">
                  <a:lnSpc>
                    <a:spcPct val="107000"/>
                  </a:lnSpc>
                  <a:spcBef>
                    <a:spcPts val="0"/>
                  </a:spcBef>
                  <a:buFont typeface="Courier New" panose="02070309020205020404" pitchFamily="49" charset="0"/>
                  <a:buChar char="o"/>
                </a:pPr>
                <a:r>
                  <a:rPr lang="en-US" sz="2200" b="1" dirty="0">
                    <a:latin typeface="Arial" panose="020B0604020202020204" pitchFamily="34" charset="0"/>
                    <a:ea typeface="Calibri" panose="020F0502020204030204" pitchFamily="34" charset="0"/>
                    <a:cs typeface="Arial" panose="020B0604020202020204" pitchFamily="34" charset="0"/>
                  </a:rPr>
                  <a:t>Requirement</a:t>
                </a:r>
                <a:r>
                  <a:rPr lang="en-US" sz="2200" dirty="0">
                    <a:latin typeface="Arial" panose="020B0604020202020204" pitchFamily="34" charset="0"/>
                    <a:ea typeface="Calibri" panose="020F0502020204030204" pitchFamily="34" charset="0"/>
                    <a:cs typeface="Arial" panose="020B0604020202020204" pitchFamily="34" charset="0"/>
                  </a:rPr>
                  <a:t>: Measurement of TCP Window Size (</a:t>
                </a:r>
                <a:r>
                  <a:rPr lang="en-US" sz="2200" b="1" i="1" dirty="0">
                    <a:latin typeface="Arial" panose="020B0604020202020204" pitchFamily="34" charset="0"/>
                    <a:ea typeface="Calibri" panose="020F0502020204030204" pitchFamily="34" charset="0"/>
                    <a:cs typeface="Arial" panose="020B0604020202020204" pitchFamily="34" charset="0"/>
                  </a:rPr>
                  <a:t>W</a:t>
                </a:r>
                <a:r>
                  <a:rPr lang="en-US" sz="2200" dirty="0">
                    <a:latin typeface="Arial" panose="020B0604020202020204" pitchFamily="34" charset="0"/>
                    <a:ea typeface="Calibri" panose="020F0502020204030204" pitchFamily="34" charset="0"/>
                    <a:cs typeface="Arial" panose="020B0604020202020204" pitchFamily="34" charset="0"/>
                  </a:rPr>
                  <a:t>) and global RTT (</a:t>
                </a:r>
                <a14:m>
                  <m:oMath xmlns:m="http://schemas.openxmlformats.org/officeDocument/2006/math">
                    <m:r>
                      <a:rPr lang="en-US" sz="2200" b="1" i="1">
                        <a:latin typeface="Cambria Math" panose="02040503050406030204" pitchFamily="18" charset="0"/>
                      </a:rPr>
                      <m:t>𝝉</m:t>
                    </m:r>
                  </m:oMath>
                </a14:m>
                <a:r>
                  <a:rPr lang="en-US" sz="2200" dirty="0">
                    <a:latin typeface="Arial" panose="020B0604020202020204" pitchFamily="34" charset="0"/>
                    <a:ea typeface="Calibri" panose="020F0502020204030204" pitchFamily="34" charset="0"/>
                    <a:cs typeface="Arial" panose="020B0604020202020204" pitchFamily="34" charset="0"/>
                  </a:rPr>
                  <a:t>).</a:t>
                </a:r>
              </a:p>
              <a:p>
                <a:pPr lvl="1">
                  <a:lnSpc>
                    <a:spcPct val="107000"/>
                  </a:lnSpc>
                  <a:spcBef>
                    <a:spcPts val="0"/>
                  </a:spcBef>
                  <a:buFont typeface="Courier New" panose="02070309020205020404" pitchFamily="49" charset="0"/>
                  <a:buChar char="o"/>
                </a:pPr>
                <a:r>
                  <a:rPr lang="en-US" sz="2200" b="1" dirty="0">
                    <a:latin typeface="Arial" panose="020B0604020202020204" pitchFamily="34" charset="0"/>
                    <a:ea typeface="Calibri" panose="020F0502020204030204" pitchFamily="34" charset="0"/>
                    <a:cs typeface="Arial" panose="020B0604020202020204" pitchFamily="34" charset="0"/>
                  </a:rPr>
                  <a:t>Reality</a:t>
                </a:r>
                <a:r>
                  <a:rPr lang="en-US" sz="2200" dirty="0">
                    <a:latin typeface="Arial" panose="020B0604020202020204" pitchFamily="34" charset="0"/>
                    <a:ea typeface="Calibri" panose="020F0502020204030204" pitchFamily="34" charset="0"/>
                    <a:cs typeface="Arial" panose="020B0604020202020204" pitchFamily="34" charset="0"/>
                  </a:rPr>
                  <a:t>: Routers can only easily measure their own Queue Length (</a:t>
                </a:r>
                <a:r>
                  <a:rPr lang="en-US" sz="2200" b="1" i="1" dirty="0">
                    <a:latin typeface="Arial" panose="020B0604020202020204" pitchFamily="34" charset="0"/>
                    <a:ea typeface="Calibri" panose="020F0502020204030204" pitchFamily="34" charset="0"/>
                    <a:cs typeface="Arial" panose="020B0604020202020204" pitchFamily="34" charset="0"/>
                  </a:rPr>
                  <a:t>q</a:t>
                </a:r>
                <a:r>
                  <a:rPr lang="en-US" sz="2200" dirty="0">
                    <a:latin typeface="Arial" panose="020B0604020202020204" pitchFamily="34" charset="0"/>
                    <a:ea typeface="Calibri" panose="020F0502020204030204" pitchFamily="34" charset="0"/>
                    <a:cs typeface="Arial" panose="020B0604020202020204" pitchFamily="34" charset="0"/>
                  </a:rPr>
                  <a:t>) .</a:t>
                </a:r>
              </a:p>
              <a:p>
                <a:pPr>
                  <a:lnSpc>
                    <a:spcPct val="107000"/>
                  </a:lnSpc>
                  <a:spcBef>
                    <a:spcPts val="0"/>
                  </a:spcBef>
                </a:pPr>
                <a:r>
                  <a:rPr lang="en-US" sz="2400" b="1" dirty="0">
                    <a:latin typeface="Arial" panose="020B0604020202020204" pitchFamily="34" charset="0"/>
                    <a:ea typeface="Calibri" panose="020F0502020204030204" pitchFamily="34" charset="0"/>
                    <a:cs typeface="Arial" panose="020B0604020202020204" pitchFamily="34" charset="0"/>
                  </a:rPr>
                  <a:t>The Proposed Solution: </a:t>
                </a:r>
              </a:p>
              <a:p>
                <a:pPr lvl="1">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Static Output Feedback (SOF)Uses only available measurements (Queue Length).</a:t>
                </a:r>
              </a:p>
              <a:p>
                <a:pPr lvl="1">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Avoids complex observers (like Kalman filters) which are computationally expensive for high-speed routers.</a:t>
                </a:r>
              </a:p>
            </p:txBody>
          </p:sp>
        </mc:Choice>
        <mc:Fallback xmlns="">
          <p:sp>
            <p:nvSpPr>
              <p:cNvPr id="7" name="Content Placeholder 3">
                <a:extLst>
                  <a:ext uri="{FF2B5EF4-FFF2-40B4-BE49-F238E27FC236}">
                    <a16:creationId xmlns:a16="http://schemas.microsoft.com/office/drawing/2014/main" id="{6967418F-27BE-B8D6-1B9A-27062E0D09B1}"/>
                  </a:ext>
                </a:extLst>
              </p:cNvPr>
              <p:cNvSpPr txBox="1">
                <a:spLocks noRot="1" noChangeAspect="1" noMove="1" noResize="1" noEditPoints="1" noAdjustHandles="1" noChangeArrowheads="1" noChangeShapeType="1" noTextEdit="1"/>
              </p:cNvSpPr>
              <p:nvPr/>
            </p:nvSpPr>
            <p:spPr>
              <a:xfrm>
                <a:off x="452251" y="1462809"/>
                <a:ext cx="8435076" cy="4559300"/>
              </a:xfrm>
              <a:prstGeom prst="rect">
                <a:avLst/>
              </a:prstGeom>
              <a:blipFill>
                <a:blip r:embed="rId3"/>
                <a:stretch>
                  <a:fillRect l="-578" t="-1070"/>
                </a:stretch>
              </a:blipFill>
            </p:spPr>
            <p:txBody>
              <a:bodyPr/>
              <a:lstStyle/>
              <a:p>
                <a:r>
                  <a:rPr lang="en-US">
                    <a:noFill/>
                  </a:rPr>
                  <a:t> </a:t>
                </a:r>
              </a:p>
            </p:txBody>
          </p:sp>
        </mc:Fallback>
      </mc:AlternateContent>
      <p:sp>
        <p:nvSpPr>
          <p:cNvPr id="10" name="Content Placeholder 3">
            <a:extLst>
              <a:ext uri="{FF2B5EF4-FFF2-40B4-BE49-F238E27FC236}">
                <a16:creationId xmlns:a16="http://schemas.microsoft.com/office/drawing/2014/main" id="{6BC3D750-C64D-3F40-7F77-19EFA46959B4}"/>
              </a:ext>
            </a:extLst>
          </p:cNvPr>
          <p:cNvSpPr txBox="1">
            <a:spLocks/>
          </p:cNvSpPr>
          <p:nvPr/>
        </p:nvSpPr>
        <p:spPr>
          <a:xfrm>
            <a:off x="3107219" y="1847187"/>
            <a:ext cx="8435076" cy="4559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endParaRPr lang="en-US" sz="2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6815281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00"/>
                                        <p:tgtEl>
                                          <p:spTgt spid="7">
                                            <p:txEl>
                                              <p:pRg st="3" end="3"/>
                                            </p:txEl>
                                          </p:spTgt>
                                        </p:tgtEl>
                                      </p:cBhvr>
                                    </p:animEffect>
                                    <p:anim calcmode="lin" valueType="num">
                                      <p:cBhvr>
                                        <p:cTn id="2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fade">
                                      <p:cBhvr>
                                        <p:cTn id="29" dur="1000"/>
                                        <p:tgtEl>
                                          <p:spTgt spid="7">
                                            <p:txEl>
                                              <p:pRg st="4" end="4"/>
                                            </p:txEl>
                                          </p:spTgt>
                                        </p:tgtEl>
                                      </p:cBhvr>
                                    </p:animEffect>
                                    <p:anim calcmode="lin" valueType="num">
                                      <p:cBhvr>
                                        <p:cTn id="30"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5" end="5"/>
                                            </p:txEl>
                                          </p:spTgt>
                                        </p:tgtEl>
                                        <p:attrNameLst>
                                          <p:attrName>style.visibility</p:attrName>
                                        </p:attrNameLst>
                                      </p:cBhvr>
                                      <p:to>
                                        <p:strVal val="visible"/>
                                      </p:to>
                                    </p:set>
                                    <p:animEffect transition="in" filter="fade">
                                      <p:cBhvr>
                                        <p:cTn id="34" dur="1000"/>
                                        <p:tgtEl>
                                          <p:spTgt spid="7">
                                            <p:txEl>
                                              <p:pRg st="5" end="5"/>
                                            </p:txEl>
                                          </p:spTgt>
                                        </p:tgtEl>
                                      </p:cBhvr>
                                    </p:animEffect>
                                    <p:anim calcmode="lin" valueType="num">
                                      <p:cBhvr>
                                        <p:cTn id="35"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6" end="6"/>
                                            </p:txEl>
                                          </p:spTgt>
                                        </p:tgtEl>
                                        <p:attrNameLst>
                                          <p:attrName>style.visibility</p:attrName>
                                        </p:attrNameLst>
                                      </p:cBhvr>
                                      <p:to>
                                        <p:strVal val="visible"/>
                                      </p:to>
                                    </p:set>
                                    <p:animEffect transition="in" filter="fade">
                                      <p:cBhvr>
                                        <p:cTn id="39" dur="1000"/>
                                        <p:tgtEl>
                                          <p:spTgt spid="7">
                                            <p:txEl>
                                              <p:pRg st="6" end="6"/>
                                            </p:txEl>
                                          </p:spTgt>
                                        </p:tgtEl>
                                      </p:cBhvr>
                                    </p:animEffect>
                                    <p:anim calcmode="lin" valueType="num">
                                      <p:cBhvr>
                                        <p:cTn id="40"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nodePh="1">
                                  <p:stCondLst>
                                    <p:cond delay="0"/>
                                  </p:stCondLst>
                                  <p:endCondLst>
                                    <p:cond evt="begin" delay="0">
                                      <p:tn val="44"/>
                                    </p:cond>
                                  </p:endCondLst>
                                  <p:childTnLst>
                                    <p:set>
                                      <p:cBhvr>
                                        <p:cTn id="45" dur="1" fill="hold">
                                          <p:stCondLst>
                                            <p:cond delay="0"/>
                                          </p:stCondLst>
                                        </p:cTn>
                                        <p:tgtEl>
                                          <p:spTgt spid="10">
                                            <p:txEl>
                                              <p:pRg st="0" end="0"/>
                                            </p:txEl>
                                          </p:spTgt>
                                        </p:tgtEl>
                                        <p:attrNameLst>
                                          <p:attrName>style.visibility</p:attrName>
                                        </p:attrNameLst>
                                      </p:cBhvr>
                                      <p:to>
                                        <p:strVal val="visible"/>
                                      </p:to>
                                    </p:set>
                                    <p:animEffect transition="in" filter="fade">
                                      <p:cBhvr>
                                        <p:cTn id="46" dur="1000"/>
                                        <p:tgtEl>
                                          <p:spTgt spid="10">
                                            <p:txEl>
                                              <p:pRg st="0" end="0"/>
                                            </p:txEl>
                                          </p:spTgt>
                                        </p:tgtEl>
                                      </p:cBhvr>
                                    </p:animEffect>
                                    <p:anim calcmode="lin" valueType="num">
                                      <p:cBhvr>
                                        <p:cTn id="47"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8"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0" grpId="0" uiExpand="1"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AE955-947C-CF7A-0023-E96C33811E46}"/>
              </a:ext>
            </a:extLst>
          </p:cNvPr>
          <p:cNvSpPr>
            <a:spLocks noGrp="1"/>
          </p:cNvSpPr>
          <p:nvPr>
            <p:ph type="title"/>
          </p:nvPr>
        </p:nvSpPr>
        <p:spPr>
          <a:xfrm>
            <a:off x="388960" y="531813"/>
            <a:ext cx="8596668" cy="960103"/>
          </a:xfrm>
        </p:spPr>
        <p:txBody>
          <a:bodyPr>
            <a:normAutofit fontScale="90000"/>
          </a:bodyPr>
          <a:lstStyle/>
          <a:p>
            <a:pPr algn="ctr"/>
            <a:r>
              <a:rPr lang="en-US" b="1" dirty="0">
                <a:latin typeface="Arial" panose="020B0604020202020204" pitchFamily="34" charset="0"/>
                <a:cs typeface="Arial" panose="020B0604020202020204" pitchFamily="34" charset="0"/>
              </a:rPr>
              <a:t>System Modeling (Nonlinear Fluid Model)</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8EB856A9-55D5-361A-FE15-816D8462836E}"/>
                  </a:ext>
                </a:extLst>
              </p:cNvPr>
              <p:cNvSpPr>
                <a:spLocks noGrp="1"/>
              </p:cNvSpPr>
              <p:nvPr>
                <p:ph sz="half" idx="2"/>
              </p:nvPr>
            </p:nvSpPr>
            <p:spPr>
              <a:xfrm>
                <a:off x="388960" y="1324983"/>
                <a:ext cx="9236303" cy="4208033"/>
              </a:xfrm>
            </p:spPr>
            <p:txBody>
              <a:bodyPr>
                <a:normAutofit fontScale="92500"/>
              </a:bodyPr>
              <a:lstStyle/>
              <a:p>
                <a:pPr algn="just">
                  <a:lnSpc>
                    <a:spcPct val="107000"/>
                  </a:lnSpc>
                  <a:spcBef>
                    <a:spcPts val="0"/>
                  </a:spcBef>
                </a:pPr>
                <a:r>
                  <a:rPr lang="en-US" sz="2400" b="1" dirty="0">
                    <a:latin typeface="Arial" panose="020B0604020202020204" pitchFamily="34" charset="0"/>
                    <a:ea typeface="Calibri" panose="020F0502020204030204" pitchFamily="34" charset="0"/>
                    <a:cs typeface="Arial" panose="020B0604020202020204" pitchFamily="34" charset="0"/>
                  </a:rPr>
                  <a:t>Dynamics: </a:t>
                </a:r>
                <a:r>
                  <a:rPr lang="en-US" sz="2400" dirty="0">
                    <a:latin typeface="Arial" panose="020B0604020202020204" pitchFamily="34" charset="0"/>
                    <a:ea typeface="Calibri" panose="020F0502020204030204" pitchFamily="34" charset="0"/>
                    <a:cs typeface="Arial" panose="020B0604020202020204" pitchFamily="34" charset="0"/>
                  </a:rPr>
                  <a:t>Modeled by differential equations for Window Size (</a:t>
                </a:r>
                <a:r>
                  <a:rPr lang="en-US" sz="2400" b="1" i="1" dirty="0">
                    <a:latin typeface="Arial" panose="020B0604020202020204" pitchFamily="34" charset="0"/>
                    <a:ea typeface="Calibri" panose="020F0502020204030204" pitchFamily="34" charset="0"/>
                    <a:cs typeface="Arial" panose="020B0604020202020204" pitchFamily="34" charset="0"/>
                  </a:rPr>
                  <a:t>W</a:t>
                </a:r>
                <a:r>
                  <a:rPr lang="en-US" sz="2400" dirty="0">
                    <a:latin typeface="Arial" panose="020B0604020202020204" pitchFamily="34" charset="0"/>
                    <a:ea typeface="Calibri" panose="020F0502020204030204" pitchFamily="34" charset="0"/>
                    <a:cs typeface="Arial" panose="020B0604020202020204" pitchFamily="34" charset="0"/>
                  </a:rPr>
                  <a:t>) and Queue Length (</a:t>
                </a:r>
                <a:r>
                  <a:rPr lang="en-US" sz="2400" b="1" i="1" dirty="0">
                    <a:latin typeface="Arial" panose="020B0604020202020204" pitchFamily="34" charset="0"/>
                    <a:ea typeface="Calibri" panose="020F0502020204030204" pitchFamily="34" charset="0"/>
                    <a:cs typeface="Arial" panose="020B0604020202020204" pitchFamily="34" charset="0"/>
                  </a:rPr>
                  <a:t>q</a:t>
                </a:r>
                <a:r>
                  <a:rPr lang="en-US" sz="2400" dirty="0">
                    <a:latin typeface="Arial" panose="020B0604020202020204" pitchFamily="34" charset="0"/>
                    <a:ea typeface="Calibri" panose="020F0502020204030204" pitchFamily="34" charset="0"/>
                    <a:cs typeface="Arial" panose="020B0604020202020204" pitchFamily="34" charset="0"/>
                  </a:rPr>
                  <a:t>)</a:t>
                </a:r>
              </a:p>
              <a:p>
                <a:pPr algn="just">
                  <a:lnSpc>
                    <a:spcPct val="107000"/>
                  </a:lnSpc>
                  <a:spcBef>
                    <a:spcPts val="0"/>
                  </a:spcBef>
                </a:pPr>
                <a:r>
                  <a:rPr lang="en-US" sz="2400" b="1" dirty="0">
                    <a:latin typeface="Arial" panose="020B0604020202020204" pitchFamily="34" charset="0"/>
                    <a:ea typeface="Calibri" panose="020F0502020204030204" pitchFamily="34" charset="0"/>
                    <a:cs typeface="Arial" panose="020B0604020202020204" pitchFamily="34" charset="0"/>
                  </a:rPr>
                  <a:t>Nonlinear Equation:</a:t>
                </a:r>
              </a:p>
              <a:p>
                <a:pPr>
                  <a:lnSpc>
                    <a:spcPct val="107000"/>
                  </a:lnSpc>
                  <a:spcBef>
                    <a:spcPts val="0"/>
                  </a:spcBef>
                </a:pPr>
                <a:r>
                  <a:rPr lang="en-US" sz="2400" dirty="0">
                    <a:latin typeface="Arial" panose="020B0604020202020204" pitchFamily="34" charset="0"/>
                    <a:ea typeface="Calibri" panose="020F0502020204030204" pitchFamily="34" charset="0"/>
                    <a:cs typeface="Arial" panose="020B0604020202020204" pitchFamily="34" charset="0"/>
                  </a:rPr>
                  <a:t>Window Size </a:t>
                </a:r>
                <a14:m>
                  <m:oMath xmlns:m="http://schemas.openxmlformats.org/officeDocument/2006/math">
                    <m:acc>
                      <m:accPr>
                        <m:chr m:val="̇"/>
                        <m:ctrlPr>
                          <a:rPr lang="en-US" sz="2400" i="1" smtClean="0">
                            <a:latin typeface="Cambria Math" panose="02040503050406030204" pitchFamily="18" charset="0"/>
                          </a:rPr>
                        </m:ctrlPr>
                      </m:accPr>
                      <m:e>
                        <m:r>
                          <a:rPr lang="en-US" sz="2400" i="1">
                            <a:latin typeface="Cambria Math" panose="02040503050406030204" pitchFamily="18" charset="0"/>
                          </a:rPr>
                          <m:t>𝑊</m:t>
                        </m:r>
                      </m:e>
                    </m:acc>
                    <m:d>
                      <m:dPr>
                        <m:ctrlPr>
                          <a:rPr lang="en-US" sz="2400" i="1">
                            <a:latin typeface="Cambria Math" panose="02040503050406030204" pitchFamily="18" charset="0"/>
                          </a:rPr>
                        </m:ctrlPr>
                      </m:dPr>
                      <m:e>
                        <m:r>
                          <a:rPr lang="en-US" sz="2400" i="1">
                            <a:latin typeface="Cambria Math" panose="02040503050406030204" pitchFamily="18" charset="0"/>
                          </a:rPr>
                          <m:t>𝑡</m:t>
                        </m:r>
                      </m:e>
                    </m:d>
                  </m:oMath>
                </a14:m>
                <a:r>
                  <a:rPr lang="en-US" sz="2400" dirty="0">
                    <a:latin typeface="Arial" panose="020B0604020202020204" pitchFamily="34" charset="0"/>
                    <a:ea typeface="Calibri" panose="020F0502020204030204" pitchFamily="34" charset="0"/>
                    <a:cs typeface="Arial" panose="020B0604020202020204" pitchFamily="34" charset="0"/>
                  </a:rPr>
                  <a:t>: Models "Additive Increase, Multiplicative Decrease"</a:t>
                </a:r>
                <a:r>
                  <a:rPr lang="en-US" sz="2400" b="1" dirty="0">
                    <a:latin typeface="Arial" panose="020B0604020202020204" pitchFamily="34" charset="0"/>
                    <a:ea typeface="Calibri" panose="020F0502020204030204" pitchFamily="34" charset="0"/>
                    <a:cs typeface="Arial" panose="020B0604020202020204" pitchFamily="34" charset="0"/>
                  </a:rPr>
                  <a:t>.</a:t>
                </a:r>
              </a:p>
              <a:p>
                <a:pPr marL="0" indent="0">
                  <a:lnSpc>
                    <a:spcPct val="107000"/>
                  </a:lnSpc>
                  <a:spcBef>
                    <a:spcPts val="0"/>
                  </a:spcBef>
                  <a:buNone/>
                </a:pPr>
                <a14:m>
                  <m:oMathPara xmlns:m="http://schemas.openxmlformats.org/officeDocument/2006/math">
                    <m:oMathParaPr>
                      <m:jc m:val="centerGroup"/>
                    </m:oMathParaPr>
                    <m:oMath xmlns:m="http://schemas.openxmlformats.org/officeDocument/2006/math">
                      <m:acc>
                        <m:accPr>
                          <m:chr m:val="̇"/>
                          <m:ctrlPr>
                            <a:rPr lang="en-US" sz="2800" i="1" smtClean="0">
                              <a:latin typeface="Cambria Math" panose="02040503050406030204" pitchFamily="18" charset="0"/>
                            </a:rPr>
                          </m:ctrlPr>
                        </m:accPr>
                        <m:e>
                          <m:r>
                            <a:rPr lang="en-US" sz="2800" i="1">
                              <a:latin typeface="Cambria Math" panose="02040503050406030204" pitchFamily="18" charset="0"/>
                            </a:rPr>
                            <m:t>𝑊</m:t>
                          </m:r>
                        </m:e>
                      </m:acc>
                      <m:d>
                        <m:dPr>
                          <m:ctrlPr>
                            <a:rPr lang="en-US" sz="2800" i="1">
                              <a:latin typeface="Cambria Math" panose="02040503050406030204" pitchFamily="18" charset="0"/>
                            </a:rPr>
                          </m:ctrlPr>
                        </m:dPr>
                        <m:e>
                          <m:r>
                            <a:rPr lang="en-US" sz="2800" i="1">
                              <a:latin typeface="Cambria Math" panose="02040503050406030204" pitchFamily="18" charset="0"/>
                            </a:rPr>
                            <m:t>𝑡</m:t>
                          </m:r>
                        </m:e>
                      </m:d>
                      <m:r>
                        <a:rPr lang="en-US" sz="2800">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1</m:t>
                          </m:r>
                        </m:num>
                        <m:den>
                          <m:r>
                            <a:rPr lang="en-US" sz="2800" i="1">
                              <a:latin typeface="Cambria Math" panose="02040503050406030204" pitchFamily="18" charset="0"/>
                            </a:rPr>
                            <m:t>𝜏</m:t>
                          </m:r>
                          <m:d>
                            <m:dPr>
                              <m:ctrlPr>
                                <a:rPr lang="en-US" sz="2800" i="1">
                                  <a:latin typeface="Cambria Math" panose="02040503050406030204" pitchFamily="18" charset="0"/>
                                </a:rPr>
                              </m:ctrlPr>
                            </m:dPr>
                            <m:e>
                              <m:r>
                                <a:rPr lang="en-US" sz="2800" i="1">
                                  <a:latin typeface="Cambria Math" panose="02040503050406030204" pitchFamily="18" charset="0"/>
                                </a:rPr>
                                <m:t>𝑡</m:t>
                              </m:r>
                            </m:e>
                          </m:d>
                        </m:den>
                      </m:f>
                      <m:r>
                        <a:rPr lang="en-US" sz="2800" i="1">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𝑊</m:t>
                          </m:r>
                          <m:d>
                            <m:dPr>
                              <m:ctrlPr>
                                <a:rPr lang="en-US" sz="2800" i="1">
                                  <a:latin typeface="Cambria Math" panose="02040503050406030204" pitchFamily="18" charset="0"/>
                                </a:rPr>
                              </m:ctrlPr>
                            </m:dPr>
                            <m:e>
                              <m:r>
                                <a:rPr lang="en-US" sz="2800" i="1">
                                  <a:latin typeface="Cambria Math" panose="02040503050406030204" pitchFamily="18" charset="0"/>
                                </a:rPr>
                                <m:t>𝑡</m:t>
                              </m:r>
                            </m:e>
                          </m:d>
                        </m:num>
                        <m:den>
                          <m:r>
                            <a:rPr lang="en-US" sz="2800" i="1">
                              <a:latin typeface="Cambria Math" panose="02040503050406030204" pitchFamily="18" charset="0"/>
                            </a:rPr>
                            <m:t>2</m:t>
                          </m:r>
                        </m:den>
                      </m:f>
                      <m:f>
                        <m:fPr>
                          <m:ctrlPr>
                            <a:rPr lang="en-US" sz="2800" i="1">
                              <a:latin typeface="Cambria Math" panose="02040503050406030204" pitchFamily="18" charset="0"/>
                            </a:rPr>
                          </m:ctrlPr>
                        </m:fPr>
                        <m:num>
                          <m:r>
                            <a:rPr lang="en-US" sz="2800" i="1">
                              <a:latin typeface="Cambria Math" panose="02040503050406030204" pitchFamily="18" charset="0"/>
                            </a:rPr>
                            <m:t>𝑊</m:t>
                          </m:r>
                          <m:d>
                            <m:dPr>
                              <m:ctrlPr>
                                <a:rPr lang="en-US" sz="2800" i="1">
                                  <a:latin typeface="Cambria Math" panose="02040503050406030204" pitchFamily="18" charset="0"/>
                                </a:rPr>
                              </m:ctrlPr>
                            </m:dPr>
                            <m:e>
                              <m:r>
                                <a:rPr lang="en-US" sz="2800" i="1">
                                  <a:latin typeface="Cambria Math" panose="02040503050406030204" pitchFamily="18" charset="0"/>
                                </a:rPr>
                                <m:t>𝑡</m:t>
                              </m:r>
                              <m:r>
                                <a:rPr lang="en-US" sz="2800" i="1">
                                  <a:latin typeface="Cambria Math" panose="02040503050406030204" pitchFamily="18" charset="0"/>
                                </a:rPr>
                                <m:t>−</m:t>
                              </m:r>
                              <m:r>
                                <a:rPr lang="en-US" sz="2800" i="1">
                                  <a:latin typeface="Cambria Math" panose="02040503050406030204" pitchFamily="18" charset="0"/>
                                </a:rPr>
                                <m:t>𝜏</m:t>
                              </m:r>
                              <m:d>
                                <m:dPr>
                                  <m:ctrlPr>
                                    <a:rPr lang="en-US" sz="2800" i="1">
                                      <a:latin typeface="Cambria Math" panose="02040503050406030204" pitchFamily="18" charset="0"/>
                                    </a:rPr>
                                  </m:ctrlPr>
                                </m:dPr>
                                <m:e>
                                  <m:r>
                                    <a:rPr lang="en-US" sz="2800" i="1">
                                      <a:latin typeface="Cambria Math" panose="02040503050406030204" pitchFamily="18" charset="0"/>
                                    </a:rPr>
                                    <m:t>𝑡</m:t>
                                  </m:r>
                                </m:e>
                              </m:d>
                            </m:e>
                          </m:d>
                        </m:num>
                        <m:den>
                          <m:r>
                            <a:rPr lang="en-US" sz="2800" i="1">
                              <a:latin typeface="Cambria Math" panose="02040503050406030204" pitchFamily="18" charset="0"/>
                            </a:rPr>
                            <m:t>𝜏</m:t>
                          </m:r>
                          <m:d>
                            <m:dPr>
                              <m:ctrlPr>
                                <a:rPr lang="en-US" sz="2800" i="1">
                                  <a:latin typeface="Cambria Math" panose="02040503050406030204" pitchFamily="18" charset="0"/>
                                </a:rPr>
                              </m:ctrlPr>
                            </m:dPr>
                            <m:e>
                              <m:r>
                                <a:rPr lang="en-US" sz="2800" i="1">
                                  <a:latin typeface="Cambria Math" panose="02040503050406030204" pitchFamily="18" charset="0"/>
                                </a:rPr>
                                <m:t>𝑡</m:t>
                              </m:r>
                              <m:r>
                                <a:rPr lang="en-US" sz="2800" i="1">
                                  <a:latin typeface="Cambria Math" panose="02040503050406030204" pitchFamily="18" charset="0"/>
                                </a:rPr>
                                <m:t>−</m:t>
                              </m:r>
                              <m:r>
                                <a:rPr lang="en-US" sz="2800" i="1">
                                  <a:latin typeface="Cambria Math" panose="02040503050406030204" pitchFamily="18" charset="0"/>
                                </a:rPr>
                                <m:t>𝜏</m:t>
                              </m:r>
                              <m:d>
                                <m:dPr>
                                  <m:ctrlPr>
                                    <a:rPr lang="en-US" sz="2800" i="1">
                                      <a:latin typeface="Cambria Math" panose="02040503050406030204" pitchFamily="18" charset="0"/>
                                    </a:rPr>
                                  </m:ctrlPr>
                                </m:dPr>
                                <m:e>
                                  <m:r>
                                    <a:rPr lang="en-US" sz="2800" i="1">
                                      <a:latin typeface="Cambria Math" panose="02040503050406030204" pitchFamily="18" charset="0"/>
                                    </a:rPr>
                                    <m:t>𝑡</m:t>
                                  </m:r>
                                </m:e>
                              </m:d>
                            </m:e>
                          </m:d>
                        </m:den>
                      </m:f>
                      <m:r>
                        <a:rPr lang="en-US" sz="2800" i="1">
                          <a:latin typeface="Cambria Math" panose="02040503050406030204" pitchFamily="18" charset="0"/>
                        </a:rPr>
                        <m:t>𝑝</m:t>
                      </m:r>
                      <m:d>
                        <m:dPr>
                          <m:ctrlPr>
                            <a:rPr lang="en-US" sz="2800" i="1">
                              <a:latin typeface="Cambria Math" panose="02040503050406030204" pitchFamily="18" charset="0"/>
                            </a:rPr>
                          </m:ctrlPr>
                        </m:dPr>
                        <m:e>
                          <m:r>
                            <a:rPr lang="en-US" sz="2800" i="1">
                              <a:latin typeface="Cambria Math" panose="02040503050406030204" pitchFamily="18" charset="0"/>
                            </a:rPr>
                            <m:t>𝑡</m:t>
                          </m:r>
                          <m:r>
                            <a:rPr lang="en-US" sz="2800" i="1">
                              <a:latin typeface="Cambria Math" panose="02040503050406030204" pitchFamily="18" charset="0"/>
                            </a:rPr>
                            <m:t>−</m:t>
                          </m:r>
                          <m:r>
                            <a:rPr lang="en-US" sz="2800" i="1">
                              <a:latin typeface="Cambria Math" panose="02040503050406030204" pitchFamily="18" charset="0"/>
                            </a:rPr>
                            <m:t>𝜏</m:t>
                          </m:r>
                          <m:d>
                            <m:dPr>
                              <m:ctrlPr>
                                <a:rPr lang="en-US" sz="2800" i="1">
                                  <a:latin typeface="Cambria Math" panose="02040503050406030204" pitchFamily="18" charset="0"/>
                                </a:rPr>
                              </m:ctrlPr>
                            </m:dPr>
                            <m:e>
                              <m:r>
                                <a:rPr lang="en-US" sz="2800" i="1">
                                  <a:latin typeface="Cambria Math" panose="02040503050406030204" pitchFamily="18" charset="0"/>
                                </a:rPr>
                                <m:t>𝑡</m:t>
                              </m:r>
                            </m:e>
                          </m:d>
                        </m:e>
                      </m:d>
                    </m:oMath>
                  </m:oMathPara>
                </a14:m>
                <a:endParaRPr lang="en-US" dirty="0"/>
              </a:p>
              <a:p>
                <a:pPr>
                  <a:lnSpc>
                    <a:spcPct val="107000"/>
                  </a:lnSpc>
                  <a:spcBef>
                    <a:spcPts val="0"/>
                  </a:spcBef>
                </a:pPr>
                <a:r>
                  <a:rPr lang="en-US" sz="2400" dirty="0">
                    <a:latin typeface="Arial" panose="020B0604020202020204" pitchFamily="34" charset="0"/>
                    <a:ea typeface="Calibri" panose="020F0502020204030204" pitchFamily="34" charset="0"/>
                    <a:cs typeface="Arial" panose="020B0604020202020204" pitchFamily="34" charset="0"/>
                  </a:rPr>
                  <a:t>Queue Length </a:t>
                </a: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𝑞</m:t>
                        </m:r>
                      </m:e>
                    </m:acc>
                    <m:d>
                      <m:dPr>
                        <m:ctrlPr>
                          <a:rPr lang="en-US" sz="2400" i="1">
                            <a:latin typeface="Cambria Math" panose="02040503050406030204" pitchFamily="18" charset="0"/>
                          </a:rPr>
                        </m:ctrlPr>
                      </m:dPr>
                      <m:e>
                        <m:r>
                          <a:rPr lang="en-US" sz="2400" i="1">
                            <a:latin typeface="Cambria Math" panose="02040503050406030204" pitchFamily="18" charset="0"/>
                          </a:rPr>
                          <m:t>𝑡</m:t>
                        </m:r>
                      </m:e>
                    </m:d>
                  </m:oMath>
                </a14:m>
                <a:r>
                  <a:rPr lang="en-US" sz="2400" dirty="0">
                    <a:latin typeface="Arial" panose="020B0604020202020204" pitchFamily="34" charset="0"/>
                    <a:ea typeface="Calibri" panose="020F0502020204030204" pitchFamily="34" charset="0"/>
                    <a:cs typeface="Arial" panose="020B0604020202020204" pitchFamily="34" charset="0"/>
                  </a:rPr>
                  <a:t>: Conservation of flow.</a:t>
                </a:r>
              </a:p>
              <a:p>
                <a:pPr marL="0" indent="0">
                  <a:lnSpc>
                    <a:spcPct val="107000"/>
                  </a:lnSpc>
                  <a:spcBef>
                    <a:spcPts val="0"/>
                  </a:spcBef>
                  <a:buNone/>
                </a:pPr>
                <a14:m>
                  <m:oMathPara xmlns:m="http://schemas.openxmlformats.org/officeDocument/2006/math">
                    <m:oMathParaPr>
                      <m:jc m:val="centerGroup"/>
                    </m:oMathParaPr>
                    <m:oMath xmlns:m="http://schemas.openxmlformats.org/officeDocument/2006/math">
                      <m:acc>
                        <m:accPr>
                          <m:chr m:val="̇"/>
                          <m:ctrlPr>
                            <a:rPr lang="en-US" sz="2800" i="1">
                              <a:latin typeface="Cambria Math" panose="02040503050406030204" pitchFamily="18" charset="0"/>
                            </a:rPr>
                          </m:ctrlPr>
                        </m:accPr>
                        <m:e>
                          <m:r>
                            <a:rPr lang="en-US" sz="2800" i="1">
                              <a:latin typeface="Cambria Math" panose="02040503050406030204" pitchFamily="18" charset="0"/>
                            </a:rPr>
                            <m:t>𝑞</m:t>
                          </m:r>
                        </m:e>
                      </m:acc>
                      <m:d>
                        <m:dPr>
                          <m:ctrlPr>
                            <a:rPr lang="en-US" sz="2800" i="1">
                              <a:latin typeface="Cambria Math" panose="02040503050406030204" pitchFamily="18" charset="0"/>
                            </a:rPr>
                          </m:ctrlPr>
                        </m:dPr>
                        <m:e>
                          <m:r>
                            <a:rPr lang="en-US" sz="2800" i="1">
                              <a:latin typeface="Cambria Math" panose="02040503050406030204" pitchFamily="18" charset="0"/>
                            </a:rPr>
                            <m:t>𝑡</m:t>
                          </m:r>
                        </m:e>
                      </m:d>
                      <m:r>
                        <a:rPr lang="en-US" sz="2800">
                          <a:latin typeface="Cambria Math" panose="02040503050406030204" pitchFamily="18" charset="0"/>
                        </a:rPr>
                        <m:t>=</m:t>
                      </m:r>
                      <m:f>
                        <m:fPr>
                          <m:ctrlPr>
                            <a:rPr lang="en-US" sz="2800" i="1">
                              <a:latin typeface="Cambria Math" panose="02040503050406030204" pitchFamily="18" charset="0"/>
                            </a:rPr>
                          </m:ctrlPr>
                        </m:fPr>
                        <m:num>
                          <m:r>
                            <a:rPr lang="en-US" sz="2800" i="1">
                              <a:latin typeface="Cambria Math" panose="02040503050406030204" pitchFamily="18" charset="0"/>
                            </a:rPr>
                            <m:t>𝑁</m:t>
                          </m:r>
                          <m:d>
                            <m:dPr>
                              <m:ctrlPr>
                                <a:rPr lang="en-US" sz="2800" i="1">
                                  <a:latin typeface="Cambria Math" panose="02040503050406030204" pitchFamily="18" charset="0"/>
                                </a:rPr>
                              </m:ctrlPr>
                            </m:dPr>
                            <m:e>
                              <m:r>
                                <a:rPr lang="en-US" sz="2800" i="1">
                                  <a:latin typeface="Cambria Math" panose="02040503050406030204" pitchFamily="18" charset="0"/>
                                </a:rPr>
                                <m:t>𝑡</m:t>
                              </m:r>
                            </m:e>
                          </m:d>
                          <m:r>
                            <a:rPr lang="en-US" sz="2800" i="1">
                              <a:latin typeface="Cambria Math" panose="02040503050406030204" pitchFamily="18" charset="0"/>
                            </a:rPr>
                            <m:t>𝑊</m:t>
                          </m:r>
                          <m:d>
                            <m:dPr>
                              <m:ctrlPr>
                                <a:rPr lang="en-US" sz="2800" i="1">
                                  <a:latin typeface="Cambria Math" panose="02040503050406030204" pitchFamily="18" charset="0"/>
                                </a:rPr>
                              </m:ctrlPr>
                            </m:dPr>
                            <m:e>
                              <m:r>
                                <a:rPr lang="en-US" sz="2800" i="1">
                                  <a:latin typeface="Cambria Math" panose="02040503050406030204" pitchFamily="18" charset="0"/>
                                </a:rPr>
                                <m:t>𝑡</m:t>
                              </m:r>
                            </m:e>
                          </m:d>
                        </m:num>
                        <m:den>
                          <m:r>
                            <a:rPr lang="en-US" sz="2800" i="1">
                              <a:latin typeface="Cambria Math" panose="02040503050406030204" pitchFamily="18" charset="0"/>
                            </a:rPr>
                            <m:t>𝜏</m:t>
                          </m:r>
                          <m:d>
                            <m:dPr>
                              <m:ctrlPr>
                                <a:rPr lang="en-US" sz="2800" i="1">
                                  <a:latin typeface="Cambria Math" panose="02040503050406030204" pitchFamily="18" charset="0"/>
                                </a:rPr>
                              </m:ctrlPr>
                            </m:dPr>
                            <m:e>
                              <m:r>
                                <a:rPr lang="en-US" sz="2800" i="1">
                                  <a:latin typeface="Cambria Math" panose="02040503050406030204" pitchFamily="18" charset="0"/>
                                </a:rPr>
                                <m:t>𝑡</m:t>
                              </m:r>
                            </m:e>
                          </m:d>
                        </m:den>
                      </m:f>
                      <m:r>
                        <a:rPr lang="en-US" sz="2800" i="1">
                          <a:latin typeface="Cambria Math" panose="02040503050406030204" pitchFamily="18" charset="0"/>
                        </a:rPr>
                        <m:t>−</m:t>
                      </m:r>
                      <m:r>
                        <a:rPr lang="en-US" sz="2800" i="1">
                          <a:latin typeface="Cambria Math" panose="02040503050406030204" pitchFamily="18" charset="0"/>
                        </a:rPr>
                        <m:t>𝐶</m:t>
                      </m:r>
                      <m:d>
                        <m:dPr>
                          <m:ctrlPr>
                            <a:rPr lang="en-US" sz="2800" i="1">
                              <a:latin typeface="Cambria Math" panose="02040503050406030204" pitchFamily="18" charset="0"/>
                            </a:rPr>
                          </m:ctrlPr>
                        </m:dPr>
                        <m:e>
                          <m:r>
                            <a:rPr lang="en-US" sz="2800" i="1">
                              <a:latin typeface="Cambria Math" panose="02040503050406030204" pitchFamily="18" charset="0"/>
                            </a:rPr>
                            <m:t>𝑡</m:t>
                          </m:r>
                        </m:e>
                      </m:d>
                    </m:oMath>
                  </m:oMathPara>
                </a14:m>
                <a:endParaRPr lang="en-US" dirty="0"/>
              </a:p>
              <a:p>
                <a:pPr>
                  <a:lnSpc>
                    <a:spcPct val="107000"/>
                  </a:lnSpc>
                  <a:spcBef>
                    <a:spcPts val="0"/>
                  </a:spcBef>
                </a:pPr>
                <a:endParaRPr lang="en-US" sz="2400" b="1" dirty="0">
                  <a:latin typeface="Arial" panose="020B0604020202020204" pitchFamily="34" charset="0"/>
                  <a:ea typeface="Calibri" panose="020F0502020204030204" pitchFamily="34" charset="0"/>
                  <a:cs typeface="Arial" panose="020B0604020202020204" pitchFamily="34" charset="0"/>
                </a:endParaRPr>
              </a:p>
              <a:p>
                <a:pPr marL="0" indent="0">
                  <a:lnSpc>
                    <a:spcPct val="107000"/>
                  </a:lnSpc>
                  <a:spcBef>
                    <a:spcPts val="0"/>
                  </a:spcBef>
                  <a:buNone/>
                </a:pPr>
                <a:endParaRPr lang="en-US" sz="2400" b="1" dirty="0">
                  <a:latin typeface="Arial" panose="020B0604020202020204" pitchFamily="34" charset="0"/>
                  <a:ea typeface="Calibri" panose="020F0502020204030204" pitchFamily="34" charset="0"/>
                  <a:cs typeface="Arial" panose="020B0604020202020204" pitchFamily="34" charset="0"/>
                </a:endParaRPr>
              </a:p>
              <a:p>
                <a:pPr>
                  <a:lnSpc>
                    <a:spcPct val="107000"/>
                  </a:lnSpc>
                  <a:spcBef>
                    <a:spcPts val="0"/>
                  </a:spcBef>
                </a:pPr>
                <a:endParaRPr lang="en-US" sz="2400" b="1" dirty="0">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4" name="Content Placeholder 3">
                <a:extLst>
                  <a:ext uri="{FF2B5EF4-FFF2-40B4-BE49-F238E27FC236}">
                    <a16:creationId xmlns:a16="http://schemas.microsoft.com/office/drawing/2014/main" id="{8EB856A9-55D5-361A-FE15-816D8462836E}"/>
                  </a:ext>
                </a:extLst>
              </p:cNvPr>
              <p:cNvSpPr>
                <a:spLocks noGrp="1" noRot="1" noChangeAspect="1" noMove="1" noResize="1" noEditPoints="1" noAdjustHandles="1" noChangeArrowheads="1" noChangeShapeType="1" noTextEdit="1"/>
              </p:cNvSpPr>
              <p:nvPr>
                <p:ph sz="half" idx="2"/>
              </p:nvPr>
            </p:nvSpPr>
            <p:spPr>
              <a:xfrm>
                <a:off x="388960" y="1324983"/>
                <a:ext cx="9236303" cy="4208033"/>
              </a:xfrm>
              <a:blipFill>
                <a:blip r:embed="rId3"/>
                <a:stretch>
                  <a:fillRect l="-462" t="-868" r="-858"/>
                </a:stretch>
              </a:blipFill>
            </p:spPr>
            <p:txBody>
              <a:bodyPr/>
              <a:lstStyle/>
              <a:p>
                <a:r>
                  <a:rPr lang="en-US">
                    <a:noFill/>
                  </a:rPr>
                  <a:t> </a:t>
                </a:r>
              </a:p>
            </p:txBody>
          </p:sp>
        </mc:Fallback>
      </mc:AlternateContent>
      <p:sp>
        <p:nvSpPr>
          <p:cNvPr id="3" name="Slide Number Placeholder 2">
            <a:extLst>
              <a:ext uri="{FF2B5EF4-FFF2-40B4-BE49-F238E27FC236}">
                <a16:creationId xmlns:a16="http://schemas.microsoft.com/office/drawing/2014/main" id="{67A6A85F-09E4-C65B-6D1D-635EC7EC4817}"/>
              </a:ext>
            </a:extLst>
          </p:cNvPr>
          <p:cNvSpPr>
            <a:spLocks noGrp="1"/>
          </p:cNvSpPr>
          <p:nvPr>
            <p:ph type="sldNum" sz="quarter" idx="12"/>
          </p:nvPr>
        </p:nvSpPr>
        <p:spPr/>
        <p:txBody>
          <a:bodyPr/>
          <a:lstStyle/>
          <a:p>
            <a:r>
              <a:rPr lang="en-US" dirty="0"/>
              <a:t>3</a:t>
            </a:r>
          </a:p>
        </p:txBody>
      </p:sp>
      <mc:AlternateContent xmlns:mc="http://schemas.openxmlformats.org/markup-compatibility/2006" xmlns:a14="http://schemas.microsoft.com/office/drawing/2010/main">
        <mc:Choice Requires="a14">
          <p:sp>
            <p:nvSpPr>
              <p:cNvPr id="13" name="Content Placeholder 3">
                <a:extLst>
                  <a:ext uri="{FF2B5EF4-FFF2-40B4-BE49-F238E27FC236}">
                    <a16:creationId xmlns:a16="http://schemas.microsoft.com/office/drawing/2014/main" id="{B77A8156-27B5-C012-D000-CB933511C193}"/>
                  </a:ext>
                </a:extLst>
              </p:cNvPr>
              <p:cNvSpPr txBox="1">
                <a:spLocks/>
              </p:cNvSpPr>
              <p:nvPr/>
            </p:nvSpPr>
            <p:spPr>
              <a:xfrm>
                <a:off x="408028" y="5533016"/>
                <a:ext cx="8367004" cy="115653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r>
                  <a:rPr lang="en-US" sz="2200" b="1" dirty="0">
                    <a:latin typeface="Arial" panose="020B0604020202020204" pitchFamily="34" charset="0"/>
                    <a:ea typeface="Calibri" panose="020F0502020204030204" pitchFamily="34" charset="0"/>
                    <a:cs typeface="Arial" panose="020B0604020202020204" pitchFamily="34" charset="0"/>
                  </a:rPr>
                  <a:t>Key Variables:</a:t>
                </a:r>
              </a:p>
              <a:p>
                <a:pPr lvl="1">
                  <a:lnSpc>
                    <a:spcPct val="107000"/>
                  </a:lnSpc>
                  <a:spcBef>
                    <a:spcPts val="0"/>
                  </a:spcBef>
                  <a:buFont typeface="Courier New" panose="02070309020205020404" pitchFamily="49" charset="0"/>
                  <a:buChar char="o"/>
                </a:pPr>
                <a14:m>
                  <m:oMath xmlns:m="http://schemas.openxmlformats.org/officeDocument/2006/math">
                    <m:r>
                      <a:rPr lang="en-US" sz="2000" i="1">
                        <a:latin typeface="Cambria Math" panose="02040503050406030204" pitchFamily="18" charset="0"/>
                      </a:rPr>
                      <m:t>𝑝</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 </m:t>
                    </m:r>
                  </m:oMath>
                </a14:m>
                <a:r>
                  <a:rPr lang="en-US" sz="2000" dirty="0">
                    <a:latin typeface="Arial" panose="020B0604020202020204" pitchFamily="34" charset="0"/>
                    <a:ea typeface="Calibri" panose="020F0502020204030204" pitchFamily="34" charset="0"/>
                    <a:cs typeface="Arial" panose="020B0604020202020204" pitchFamily="34" charset="0"/>
                  </a:rPr>
                  <a:t>: Marking Probability (Control Input).</a:t>
                </a:r>
              </a:p>
              <a:p>
                <a:pPr lvl="1">
                  <a:lnSpc>
                    <a:spcPct val="107000"/>
                  </a:lnSpc>
                  <a:spcBef>
                    <a:spcPts val="0"/>
                  </a:spcBef>
                  <a:buFont typeface="Courier New" panose="02070309020205020404" pitchFamily="49" charset="0"/>
                  <a:buChar char="o"/>
                </a:pPr>
                <a14:m>
                  <m:oMath xmlns:m="http://schemas.openxmlformats.org/officeDocument/2006/math">
                    <m:r>
                      <a:rPr lang="en-US" sz="2000" i="1">
                        <a:latin typeface="Cambria Math" panose="02040503050406030204" pitchFamily="18" charset="0"/>
                      </a:rPr>
                      <m:t>𝐶</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 </m:t>
                    </m:r>
                  </m:oMath>
                </a14:m>
                <a:r>
                  <a:rPr lang="en-US" sz="2000" dirty="0">
                    <a:latin typeface="Arial" panose="020B0604020202020204" pitchFamily="34" charset="0"/>
                    <a:ea typeface="Calibri" panose="020F0502020204030204" pitchFamily="34" charset="0"/>
                    <a:cs typeface="Arial" panose="020B0604020202020204" pitchFamily="34" charset="0"/>
                  </a:rPr>
                  <a:t>: Link Capacity (Disturbance).</a:t>
                </a:r>
              </a:p>
              <a:p>
                <a:pPr>
                  <a:lnSpc>
                    <a:spcPct val="107000"/>
                  </a:lnSpc>
                  <a:spcBef>
                    <a:spcPts val="0"/>
                  </a:spcBef>
                </a:pPr>
                <a:endParaRPr lang="en-US" sz="2200" dirty="0">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13" name="Content Placeholder 3">
                <a:extLst>
                  <a:ext uri="{FF2B5EF4-FFF2-40B4-BE49-F238E27FC236}">
                    <a16:creationId xmlns:a16="http://schemas.microsoft.com/office/drawing/2014/main" id="{B77A8156-27B5-C012-D000-CB933511C193}"/>
                  </a:ext>
                </a:extLst>
              </p:cNvPr>
              <p:cNvSpPr txBox="1">
                <a:spLocks noRot="1" noChangeAspect="1" noMove="1" noResize="1" noEditPoints="1" noAdjustHandles="1" noChangeArrowheads="1" noChangeShapeType="1" noTextEdit="1"/>
              </p:cNvSpPr>
              <p:nvPr/>
            </p:nvSpPr>
            <p:spPr>
              <a:xfrm>
                <a:off x="408028" y="5533016"/>
                <a:ext cx="8367004" cy="1156533"/>
              </a:xfrm>
              <a:prstGeom prst="rect">
                <a:avLst/>
              </a:prstGeom>
              <a:blipFill>
                <a:blip r:embed="rId4"/>
                <a:stretch>
                  <a:fillRect l="-510" t="-3704" b="-3175"/>
                </a:stretch>
              </a:blipFill>
            </p:spPr>
            <p:txBody>
              <a:bodyPr/>
              <a:lstStyle/>
              <a:p>
                <a:r>
                  <a:rPr lang="en-US">
                    <a:noFill/>
                  </a:rPr>
                  <a:t> </a:t>
                </a:r>
              </a:p>
            </p:txBody>
          </p:sp>
        </mc:Fallback>
      </mc:AlternateContent>
    </p:spTree>
    <p:extLst>
      <p:ext uri="{BB962C8B-B14F-4D97-AF65-F5344CB8AC3E}">
        <p14:creationId xmlns:p14="http://schemas.microsoft.com/office/powerpoint/2010/main" val="3566119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2" end="2"/>
                                            </p:txEl>
                                          </p:spTgt>
                                        </p:tgtEl>
                                        <p:attrNameLst>
                                          <p:attrName>style.visibility</p:attrName>
                                        </p:attrNameLst>
                                      </p:cBhvr>
                                      <p:to>
                                        <p:strVal val="visible"/>
                                      </p:to>
                                    </p:set>
                                    <p:animEffect transition="in" filter="fade">
                                      <p:cBhvr>
                                        <p:cTn id="21" dur="1000"/>
                                        <p:tgtEl>
                                          <p:spTgt spid="4">
                                            <p:txEl>
                                              <p:pRg st="2" end="2"/>
                                            </p:txEl>
                                          </p:spTgt>
                                        </p:tgtEl>
                                      </p:cBhvr>
                                    </p:animEffect>
                                    <p:anim calcmode="lin" valueType="num">
                                      <p:cBhvr>
                                        <p:cTn id="22"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3" end="3"/>
                                            </p:txEl>
                                          </p:spTgt>
                                        </p:tgtEl>
                                        <p:attrNameLst>
                                          <p:attrName>style.visibility</p:attrName>
                                        </p:attrNameLst>
                                      </p:cBhvr>
                                      <p:to>
                                        <p:strVal val="visible"/>
                                      </p:to>
                                    </p:set>
                                    <p:animEffect transition="in" filter="fade">
                                      <p:cBhvr>
                                        <p:cTn id="28" dur="1000"/>
                                        <p:tgtEl>
                                          <p:spTgt spid="4">
                                            <p:txEl>
                                              <p:pRg st="3" end="3"/>
                                            </p:txEl>
                                          </p:spTgt>
                                        </p:tgtEl>
                                      </p:cBhvr>
                                    </p:animEffect>
                                    <p:anim calcmode="lin" valueType="num">
                                      <p:cBhvr>
                                        <p:cTn id="29"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4" end="4"/>
                                            </p:txEl>
                                          </p:spTgt>
                                        </p:tgtEl>
                                        <p:attrNameLst>
                                          <p:attrName>style.visibility</p:attrName>
                                        </p:attrNameLst>
                                      </p:cBhvr>
                                      <p:to>
                                        <p:strVal val="visible"/>
                                      </p:to>
                                    </p:set>
                                    <p:animEffect transition="in" filter="fade">
                                      <p:cBhvr>
                                        <p:cTn id="35" dur="1000"/>
                                        <p:tgtEl>
                                          <p:spTgt spid="4">
                                            <p:txEl>
                                              <p:pRg st="4" end="4"/>
                                            </p:txEl>
                                          </p:spTgt>
                                        </p:tgtEl>
                                      </p:cBhvr>
                                    </p:animEffect>
                                    <p:anim calcmode="lin" valueType="num">
                                      <p:cBhvr>
                                        <p:cTn id="36"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5" end="5"/>
                                            </p:txEl>
                                          </p:spTgt>
                                        </p:tgtEl>
                                        <p:attrNameLst>
                                          <p:attrName>style.visibility</p:attrName>
                                        </p:attrNameLst>
                                      </p:cBhvr>
                                      <p:to>
                                        <p:strVal val="visible"/>
                                      </p:to>
                                    </p:set>
                                    <p:animEffect transition="in" filter="fade">
                                      <p:cBhvr>
                                        <p:cTn id="42" dur="1000"/>
                                        <p:tgtEl>
                                          <p:spTgt spid="4">
                                            <p:txEl>
                                              <p:pRg st="5" end="5"/>
                                            </p:txEl>
                                          </p:spTgt>
                                        </p:tgtEl>
                                      </p:cBhvr>
                                    </p:animEffect>
                                    <p:anim calcmode="lin" valueType="num">
                                      <p:cBhvr>
                                        <p:cTn id="4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3">
                                            <p:txEl>
                                              <p:pRg st="0" end="0"/>
                                            </p:txEl>
                                          </p:spTgt>
                                        </p:tgtEl>
                                        <p:attrNameLst>
                                          <p:attrName>style.visibility</p:attrName>
                                        </p:attrNameLst>
                                      </p:cBhvr>
                                      <p:to>
                                        <p:strVal val="visible"/>
                                      </p:to>
                                    </p:set>
                                    <p:animEffect transition="in" filter="fade">
                                      <p:cBhvr>
                                        <p:cTn id="49" dur="1000"/>
                                        <p:tgtEl>
                                          <p:spTgt spid="13">
                                            <p:txEl>
                                              <p:pRg st="0" end="0"/>
                                            </p:txEl>
                                          </p:spTgt>
                                        </p:tgtEl>
                                      </p:cBhvr>
                                    </p:animEffect>
                                    <p:anim calcmode="lin" valueType="num">
                                      <p:cBhvr>
                                        <p:cTn id="50" dur="1000" fill="hold"/>
                                        <p:tgtEl>
                                          <p:spTgt spid="13">
                                            <p:txEl>
                                              <p:pRg st="0" end="0"/>
                                            </p:txEl>
                                          </p:spTgt>
                                        </p:tgtEl>
                                        <p:attrNameLst>
                                          <p:attrName>ppt_x</p:attrName>
                                        </p:attrNameLst>
                                      </p:cBhvr>
                                      <p:tavLst>
                                        <p:tav tm="0">
                                          <p:val>
                                            <p:strVal val="#ppt_x"/>
                                          </p:val>
                                        </p:tav>
                                        <p:tav tm="100000">
                                          <p:val>
                                            <p:strVal val="#ppt_x"/>
                                          </p:val>
                                        </p:tav>
                                      </p:tavLst>
                                    </p:anim>
                                    <p:anim calcmode="lin" valueType="num">
                                      <p:cBhvr>
                                        <p:cTn id="51" dur="1000" fill="hold"/>
                                        <p:tgtEl>
                                          <p:spTgt spid="13">
                                            <p:txEl>
                                              <p:pRg st="0" end="0"/>
                                            </p:txEl>
                                          </p:spTgt>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3">
                                            <p:txEl>
                                              <p:pRg st="1" end="1"/>
                                            </p:txEl>
                                          </p:spTgt>
                                        </p:tgtEl>
                                        <p:attrNameLst>
                                          <p:attrName>style.visibility</p:attrName>
                                        </p:attrNameLst>
                                      </p:cBhvr>
                                      <p:to>
                                        <p:strVal val="visible"/>
                                      </p:to>
                                    </p:set>
                                    <p:animEffect transition="in" filter="fade">
                                      <p:cBhvr>
                                        <p:cTn id="54" dur="1000"/>
                                        <p:tgtEl>
                                          <p:spTgt spid="13">
                                            <p:txEl>
                                              <p:pRg st="1" end="1"/>
                                            </p:txEl>
                                          </p:spTgt>
                                        </p:tgtEl>
                                      </p:cBhvr>
                                    </p:animEffect>
                                    <p:anim calcmode="lin" valueType="num">
                                      <p:cBhvr>
                                        <p:cTn id="55" dur="1000" fill="hold"/>
                                        <p:tgtEl>
                                          <p:spTgt spid="13">
                                            <p:txEl>
                                              <p:pRg st="1" end="1"/>
                                            </p:txEl>
                                          </p:spTgt>
                                        </p:tgtEl>
                                        <p:attrNameLst>
                                          <p:attrName>ppt_x</p:attrName>
                                        </p:attrNameLst>
                                      </p:cBhvr>
                                      <p:tavLst>
                                        <p:tav tm="0">
                                          <p:val>
                                            <p:strVal val="#ppt_x"/>
                                          </p:val>
                                        </p:tav>
                                        <p:tav tm="100000">
                                          <p:val>
                                            <p:strVal val="#ppt_x"/>
                                          </p:val>
                                        </p:tav>
                                      </p:tavLst>
                                    </p:anim>
                                    <p:anim calcmode="lin" valueType="num">
                                      <p:cBhvr>
                                        <p:cTn id="56" dur="1000" fill="hold"/>
                                        <p:tgtEl>
                                          <p:spTgt spid="13">
                                            <p:txEl>
                                              <p:pRg st="1" end="1"/>
                                            </p:txEl>
                                          </p:spTgt>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3">
                                            <p:txEl>
                                              <p:pRg st="2" end="2"/>
                                            </p:txEl>
                                          </p:spTgt>
                                        </p:tgtEl>
                                        <p:attrNameLst>
                                          <p:attrName>style.visibility</p:attrName>
                                        </p:attrNameLst>
                                      </p:cBhvr>
                                      <p:to>
                                        <p:strVal val="visible"/>
                                      </p:to>
                                    </p:set>
                                    <p:animEffect transition="in" filter="fade">
                                      <p:cBhvr>
                                        <p:cTn id="59" dur="1000"/>
                                        <p:tgtEl>
                                          <p:spTgt spid="13">
                                            <p:txEl>
                                              <p:pRg st="2" end="2"/>
                                            </p:txEl>
                                          </p:spTgt>
                                        </p:tgtEl>
                                      </p:cBhvr>
                                    </p:animEffect>
                                    <p:anim calcmode="lin" valueType="num">
                                      <p:cBhvr>
                                        <p:cTn id="60" dur="1000" fill="hold"/>
                                        <p:tgtEl>
                                          <p:spTgt spid="13">
                                            <p:txEl>
                                              <p:pRg st="2" end="2"/>
                                            </p:txEl>
                                          </p:spTgt>
                                        </p:tgtEl>
                                        <p:attrNameLst>
                                          <p:attrName>ppt_x</p:attrName>
                                        </p:attrNameLst>
                                      </p:cBhvr>
                                      <p:tavLst>
                                        <p:tav tm="0">
                                          <p:val>
                                            <p:strVal val="#ppt_x"/>
                                          </p:val>
                                        </p:tav>
                                        <p:tav tm="100000">
                                          <p:val>
                                            <p:strVal val="#ppt_x"/>
                                          </p:val>
                                        </p:tav>
                                      </p:tavLst>
                                    </p:anim>
                                    <p:anim calcmode="lin" valueType="num">
                                      <p:cBhvr>
                                        <p:cTn id="61" dur="1000" fill="hold"/>
                                        <p:tgtEl>
                                          <p:spTgt spid="1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13" grpId="0" uiExpand="1"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C9BB93-8FF0-0CAA-7D90-F50A88DB44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7AEB29-B3AF-0F01-8047-4EA7403DDCC0}"/>
              </a:ext>
            </a:extLst>
          </p:cNvPr>
          <p:cNvSpPr>
            <a:spLocks noGrp="1"/>
          </p:cNvSpPr>
          <p:nvPr>
            <p:ph type="title"/>
          </p:nvPr>
        </p:nvSpPr>
        <p:spPr>
          <a:xfrm>
            <a:off x="645877" y="624970"/>
            <a:ext cx="8596668" cy="887659"/>
          </a:xfrm>
        </p:spPr>
        <p:txBody>
          <a:bodyPr>
            <a:normAutofit/>
          </a:bodyPr>
          <a:lstStyle/>
          <a:p>
            <a:pPr algn="ctr"/>
            <a:r>
              <a:rPr lang="en-US" b="1" dirty="0">
                <a:latin typeface="Arial" panose="020B0604020202020204" pitchFamily="34" charset="0"/>
                <a:cs typeface="Arial" panose="020B0604020202020204" pitchFamily="34" charset="0"/>
              </a:rPr>
              <a:t>Linearization &amp; State-Space Model</a:t>
            </a:r>
            <a:endParaRPr lang="en-US"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604CC69E-EC34-F876-BA72-8A7A983CAF7D}"/>
                  </a:ext>
                </a:extLst>
              </p:cNvPr>
              <p:cNvSpPr>
                <a:spLocks noGrp="1"/>
              </p:cNvSpPr>
              <p:nvPr>
                <p:ph sz="half" idx="2"/>
              </p:nvPr>
            </p:nvSpPr>
            <p:spPr>
              <a:xfrm>
                <a:off x="187282" y="1395664"/>
                <a:ext cx="10031539" cy="5241972"/>
              </a:xfrm>
            </p:spPr>
            <p:txBody>
              <a:bodyPr>
                <a:noAutofit/>
              </a:bodyPr>
              <a:lstStyle/>
              <a:p>
                <a:r>
                  <a:rPr lang="en-US" sz="2000" dirty="0">
                    <a:latin typeface="Arial" panose="020B0604020202020204" pitchFamily="34" charset="0"/>
                    <a:cs typeface="Arial" panose="020B0604020202020204" pitchFamily="34" charset="0"/>
                  </a:rPr>
                  <a:t>Linearization:</a:t>
                </a:r>
              </a:p>
              <a:p>
                <a:pPr lvl="1">
                  <a:buFont typeface="Courier New" panose="02070309020205020404" pitchFamily="49" charset="0"/>
                  <a:buChar char="o"/>
                </a:pPr>
                <a:r>
                  <a:rPr lang="en-US" sz="1800" dirty="0">
                    <a:latin typeface="Arial" panose="020B0604020202020204" pitchFamily="34" charset="0"/>
                    <a:cs typeface="Arial" panose="020B0604020202020204" pitchFamily="34" charset="0"/>
                  </a:rPr>
                  <a:t>Performed around a stable operating point (</a:t>
                </a:r>
                <a14:m>
                  <m:oMath xmlns:m="http://schemas.openxmlformats.org/officeDocument/2006/math">
                    <m:sSub>
                      <m:sSubPr>
                        <m:ctrlPr>
                          <a:rPr lang="en-US" sz="1800" i="1">
                            <a:latin typeface="Cambria Math" panose="02040503050406030204" pitchFamily="18" charset="0"/>
                          </a:rPr>
                        </m:ctrlPr>
                      </m:sSubPr>
                      <m:e>
                        <m:r>
                          <a:rPr lang="en-GB" sz="1800" i="1">
                            <a:latin typeface="Cambria Math" panose="02040503050406030204" pitchFamily="18" charset="0"/>
                          </a:rPr>
                          <m:t>𝑊</m:t>
                        </m:r>
                      </m:e>
                      <m:sub>
                        <m:r>
                          <a:rPr lang="en-GB" sz="1800" i="1">
                            <a:latin typeface="Cambria Math" panose="02040503050406030204" pitchFamily="18" charset="0"/>
                          </a:rPr>
                          <m:t>0</m:t>
                        </m:r>
                      </m:sub>
                    </m:sSub>
                  </m:oMath>
                </a14:m>
                <a:r>
                  <a:rPr lang="en-US" sz="1800" dirty="0">
                    <a:latin typeface="Arial" panose="020B0604020202020204" pitchFamily="34" charset="0"/>
                    <a:cs typeface="Arial" panose="020B0604020202020204" pitchFamily="34" charset="0"/>
                  </a:rPr>
                  <a:t>, </a:t>
                </a:r>
                <a14:m>
                  <m:oMath xmlns:m="http://schemas.openxmlformats.org/officeDocument/2006/math">
                    <m:sSub>
                      <m:sSubPr>
                        <m:ctrlPr>
                          <a:rPr lang="en-US" sz="1800" i="1">
                            <a:latin typeface="Cambria Math" panose="02040503050406030204" pitchFamily="18" charset="0"/>
                          </a:rPr>
                        </m:ctrlPr>
                      </m:sSubPr>
                      <m:e>
                        <m:r>
                          <a:rPr lang="en-GB" sz="1800" i="1">
                            <a:latin typeface="Cambria Math" panose="02040503050406030204" pitchFamily="18" charset="0"/>
                          </a:rPr>
                          <m:t>𝑞</m:t>
                        </m:r>
                      </m:e>
                      <m:sub>
                        <m:r>
                          <a:rPr lang="en-GB" sz="1800" i="1">
                            <a:latin typeface="Cambria Math" panose="02040503050406030204" pitchFamily="18" charset="0"/>
                          </a:rPr>
                          <m:t>0</m:t>
                        </m:r>
                      </m:sub>
                    </m:sSub>
                  </m:oMath>
                </a14:m>
                <a:r>
                  <a:rPr lang="en-US" sz="1800" dirty="0">
                    <a:latin typeface="Arial" panose="020B0604020202020204" pitchFamily="34" charset="0"/>
                    <a:cs typeface="Arial" panose="020B0604020202020204" pitchFamily="34" charset="0"/>
                  </a:rPr>
                  <a:t>, </a:t>
                </a:r>
                <a14:m>
                  <m:oMath xmlns:m="http://schemas.openxmlformats.org/officeDocument/2006/math">
                    <m:sSub>
                      <m:sSubPr>
                        <m:ctrlPr>
                          <a:rPr lang="en-US" sz="1800" i="1">
                            <a:latin typeface="Cambria Math" panose="02040503050406030204" pitchFamily="18" charset="0"/>
                          </a:rPr>
                        </m:ctrlPr>
                      </m:sSubPr>
                      <m:e>
                        <m:r>
                          <a:rPr lang="en-GB" sz="1800" i="1">
                            <a:latin typeface="Cambria Math" panose="02040503050406030204" pitchFamily="18" charset="0"/>
                          </a:rPr>
                          <m:t>𝑝</m:t>
                        </m:r>
                      </m:e>
                      <m:sub>
                        <m:r>
                          <a:rPr lang="en-GB" sz="1800" i="1">
                            <a:latin typeface="Cambria Math" panose="02040503050406030204" pitchFamily="18" charset="0"/>
                          </a:rPr>
                          <m:t>0</m:t>
                        </m:r>
                      </m:sub>
                    </m:sSub>
                  </m:oMath>
                </a14:m>
                <a:r>
                  <a:rPr lang="en-US" sz="1800" dirty="0">
                    <a:latin typeface="Arial" panose="020B0604020202020204" pitchFamily="34" charset="0"/>
                    <a:cs typeface="Arial" panose="020B0604020202020204" pitchFamily="34" charset="0"/>
                  </a:rPr>
                  <a:t>).</a:t>
                </a:r>
              </a:p>
              <a:p>
                <a:pPr lvl="1">
                  <a:buFont typeface="Courier New" panose="02070309020205020404" pitchFamily="49" charset="0"/>
                  <a:buChar char="o"/>
                </a:pPr>
                <a:r>
                  <a:rPr lang="en-US" sz="1800" dirty="0">
                    <a:latin typeface="Arial" panose="020B0604020202020204" pitchFamily="34" charset="0"/>
                    <a:cs typeface="Arial" panose="020B0604020202020204" pitchFamily="34" charset="0"/>
                  </a:rPr>
                  <a:t>Defines small-signal deviations: </a:t>
                </a:r>
                <a14:m>
                  <m:oMath xmlns:m="http://schemas.openxmlformats.org/officeDocument/2006/math">
                    <m:r>
                      <a:rPr lang="en-GB" sz="1800" i="1">
                        <a:latin typeface="Cambria Math" panose="02040503050406030204" pitchFamily="18" charset="0"/>
                      </a:rPr>
                      <m:t>𝛿</m:t>
                    </m:r>
                    <m:r>
                      <a:rPr lang="en-GB" sz="1800" i="1">
                        <a:latin typeface="Cambria Math" panose="02040503050406030204" pitchFamily="18" charset="0"/>
                      </a:rPr>
                      <m:t>𝑊</m:t>
                    </m:r>
                    <m:d>
                      <m:dPr>
                        <m:ctrlPr>
                          <a:rPr lang="en-US" sz="1800" i="1">
                            <a:latin typeface="Cambria Math" panose="02040503050406030204" pitchFamily="18" charset="0"/>
                          </a:rPr>
                        </m:ctrlPr>
                      </m:dPr>
                      <m:e>
                        <m:r>
                          <a:rPr lang="en-GB" sz="1800" i="1">
                            <a:latin typeface="Cambria Math" panose="02040503050406030204" pitchFamily="18" charset="0"/>
                          </a:rPr>
                          <m:t>𝑡</m:t>
                        </m:r>
                      </m:e>
                    </m:d>
                  </m:oMath>
                </a14:m>
                <a:r>
                  <a:rPr lang="en-US" sz="1800" dirty="0">
                    <a:latin typeface="Arial" panose="020B0604020202020204" pitchFamily="34" charset="0"/>
                    <a:cs typeface="Arial" panose="020B0604020202020204" pitchFamily="34" charset="0"/>
                  </a:rPr>
                  <a:t>, </a:t>
                </a:r>
                <a14:m>
                  <m:oMath xmlns:m="http://schemas.openxmlformats.org/officeDocument/2006/math">
                    <m:r>
                      <a:rPr lang="en-GB" sz="1800" i="1">
                        <a:latin typeface="Cambria Math" panose="02040503050406030204" pitchFamily="18" charset="0"/>
                      </a:rPr>
                      <m:t>𝛿</m:t>
                    </m:r>
                    <m:r>
                      <a:rPr lang="en-GB" sz="1800" i="1">
                        <a:latin typeface="Cambria Math" panose="02040503050406030204" pitchFamily="18" charset="0"/>
                      </a:rPr>
                      <m:t>𝑞</m:t>
                    </m:r>
                    <m:d>
                      <m:dPr>
                        <m:ctrlPr>
                          <a:rPr lang="en-US" sz="1800" i="1">
                            <a:latin typeface="Cambria Math" panose="02040503050406030204" pitchFamily="18" charset="0"/>
                          </a:rPr>
                        </m:ctrlPr>
                      </m:dPr>
                      <m:e>
                        <m:r>
                          <a:rPr lang="en-GB" sz="1800" i="1">
                            <a:latin typeface="Cambria Math" panose="02040503050406030204" pitchFamily="18" charset="0"/>
                          </a:rPr>
                          <m:t>𝑡</m:t>
                        </m:r>
                      </m:e>
                    </m:d>
                  </m:oMath>
                </a14:m>
                <a:r>
                  <a:rPr lang="en-US" sz="1800" dirty="0">
                    <a:latin typeface="Arial" panose="020B0604020202020204" pitchFamily="34" charset="0"/>
                    <a:cs typeface="Arial" panose="020B0604020202020204" pitchFamily="34" charset="0"/>
                  </a:rPr>
                  <a:t>, </a:t>
                </a:r>
                <a14:m>
                  <m:oMath xmlns:m="http://schemas.openxmlformats.org/officeDocument/2006/math">
                    <m:r>
                      <a:rPr lang="en-GB" sz="1800" i="1">
                        <a:latin typeface="Cambria Math" panose="02040503050406030204" pitchFamily="18" charset="0"/>
                      </a:rPr>
                      <m:t>𝛿</m:t>
                    </m:r>
                    <m:r>
                      <a:rPr lang="en-GB" sz="1800" i="1">
                        <a:latin typeface="Cambria Math" panose="02040503050406030204" pitchFamily="18" charset="0"/>
                      </a:rPr>
                      <m:t>𝑝</m:t>
                    </m:r>
                    <m:d>
                      <m:dPr>
                        <m:ctrlPr>
                          <a:rPr lang="en-US" sz="1800" i="1">
                            <a:latin typeface="Cambria Math" panose="02040503050406030204" pitchFamily="18" charset="0"/>
                          </a:rPr>
                        </m:ctrlPr>
                      </m:dPr>
                      <m:e>
                        <m:r>
                          <a:rPr lang="en-GB" sz="1800" i="1">
                            <a:latin typeface="Cambria Math" panose="02040503050406030204" pitchFamily="18" charset="0"/>
                          </a:rPr>
                          <m:t>𝑡</m:t>
                        </m:r>
                      </m:e>
                    </m:d>
                  </m:oMath>
                </a14:m>
                <a:r>
                  <a:rPr lang="en-US" sz="1800" dirty="0">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State-Space Form:</a:t>
                </a:r>
              </a:p>
              <a:p>
                <a:pPr marL="0" indent="0">
                  <a:buNone/>
                </a:pPr>
                <a14:m>
                  <m:oMathPara xmlns:m="http://schemas.openxmlformats.org/officeDocument/2006/math">
                    <m:oMathParaPr>
                      <m:jc m:val="centerGroup"/>
                    </m:oMathParaPr>
                    <m:oMath xmlns:m="http://schemas.openxmlformats.org/officeDocument/2006/math">
                      <m:acc>
                        <m:accPr>
                          <m:chr m:val="̇"/>
                          <m:ctrlPr>
                            <a:rPr lang="en-US" i="1">
                              <a:latin typeface="Cambria Math" panose="02040503050406030204" pitchFamily="18" charset="0"/>
                            </a:rPr>
                          </m:ctrlPr>
                        </m:accPr>
                        <m:e>
                          <m:r>
                            <a:rPr lang="en-US" i="1">
                              <a:latin typeface="Cambria Math" panose="02040503050406030204" pitchFamily="18" charset="0"/>
                            </a:rPr>
                            <m:t>𝑥</m:t>
                          </m:r>
                        </m:e>
                      </m:acc>
                      <m:d>
                        <m:dPr>
                          <m:ctrlPr>
                            <a:rPr lang="en-US" i="1">
                              <a:latin typeface="Cambria Math" panose="02040503050406030204" pitchFamily="18" charset="0"/>
                            </a:rPr>
                          </m:ctrlPr>
                        </m:dPr>
                        <m:e>
                          <m:r>
                            <a:rPr lang="en-US" i="1">
                              <a:latin typeface="Cambria Math" panose="02040503050406030204" pitchFamily="18" charset="0"/>
                            </a:rPr>
                            <m:t>𝑡</m:t>
                          </m:r>
                        </m:e>
                      </m:d>
                      <m:r>
                        <a:rPr lang="en-US">
                          <a:latin typeface="Cambria Math" panose="02040503050406030204" pitchFamily="18" charset="0"/>
                        </a:rPr>
                        <m:t>=</m:t>
                      </m:r>
                      <m:r>
                        <a:rPr lang="en-US" i="1">
                          <a:latin typeface="Cambria Math" panose="02040503050406030204" pitchFamily="18" charset="0"/>
                        </a:rPr>
                        <m:t>𝐴𝑥</m:t>
                      </m:r>
                      <m:d>
                        <m:dPr>
                          <m:ctrlPr>
                            <a:rPr lang="en-US" i="1">
                              <a:latin typeface="Cambria Math" panose="02040503050406030204" pitchFamily="18" charset="0"/>
                            </a:rPr>
                          </m:ctrlPr>
                        </m:dPr>
                        <m:e>
                          <m:r>
                            <a:rPr lang="en-US" i="1">
                              <a:latin typeface="Cambria Math" panose="02040503050406030204" pitchFamily="18" charset="0"/>
                            </a:rPr>
                            <m:t>𝑡</m:t>
                          </m:r>
                        </m:e>
                      </m:d>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𝑑</m:t>
                          </m:r>
                        </m:sub>
                      </m:sSub>
                      <m:r>
                        <a:rPr lang="en-US" i="1">
                          <a:latin typeface="Cambria Math" panose="02040503050406030204" pitchFamily="18" charset="0"/>
                        </a:rPr>
                        <m:t>𝑥</m:t>
                      </m:r>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m:t>
                          </m:r>
                        </m:e>
                      </m:d>
                      <m:r>
                        <a:rPr lang="en-US">
                          <a:latin typeface="Cambria Math" panose="02040503050406030204" pitchFamily="18" charset="0"/>
                        </a:rPr>
                        <m:t>+</m:t>
                      </m:r>
                      <m:r>
                        <a:rPr lang="en-US" i="1">
                          <a:latin typeface="Cambria Math" panose="02040503050406030204" pitchFamily="18" charset="0"/>
                        </a:rPr>
                        <m:t>𝐵𝑢</m:t>
                      </m:r>
                      <m:d>
                        <m:dPr>
                          <m:ctrlPr>
                            <a:rPr lang="en-US" i="1">
                              <a:latin typeface="Cambria Math" panose="02040503050406030204" pitchFamily="18" charset="0"/>
                            </a:rPr>
                          </m:ctrlPr>
                        </m:dPr>
                        <m:e>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h</m:t>
                          </m:r>
                        </m:e>
                      </m:d>
                      <m:r>
                        <a:rPr lang="en-US">
                          <a:latin typeface="Cambria Math" panose="02040503050406030204" pitchFamily="18" charset="0"/>
                        </a:rPr>
                        <m:t>+</m:t>
                      </m:r>
                      <m:r>
                        <a:rPr lang="en-US" i="1">
                          <a:latin typeface="Cambria Math" panose="02040503050406030204" pitchFamily="18" charset="0"/>
                        </a:rPr>
                        <m:t>𝐷</m:t>
                      </m:r>
                      <m:r>
                        <a:rPr lang="en-US" i="1">
                          <a:latin typeface="Cambria Math" panose="02040503050406030204" pitchFamily="18" charset="0"/>
                        </a:rPr>
                        <m:t>𝜔</m:t>
                      </m:r>
                      <m:d>
                        <m:dPr>
                          <m:ctrlPr>
                            <a:rPr lang="en-US" i="1">
                              <a:latin typeface="Cambria Math" panose="02040503050406030204" pitchFamily="18" charset="0"/>
                            </a:rPr>
                          </m:ctrlPr>
                        </m:dPr>
                        <m:e>
                          <m:r>
                            <a:rPr lang="en-US" i="1">
                              <a:latin typeface="Cambria Math" panose="02040503050406030204" pitchFamily="18" charset="0"/>
                            </a:rPr>
                            <m:t>𝑡</m:t>
                          </m:r>
                        </m:e>
                      </m:d>
                      <m:r>
                        <a:rPr lang="en-US">
                          <a:latin typeface="Cambria Math" panose="02040503050406030204" pitchFamily="18" charset="0"/>
                        </a:rPr>
                        <m:t>,</m:t>
                      </m:r>
                      <m:r>
                        <a:rPr lang="en-US" i="1">
                          <a:latin typeface="Cambria Math" panose="02040503050406030204" pitchFamily="18" charset="0"/>
                        </a:rPr>
                        <m:t>  </m:t>
                      </m:r>
                      <m:r>
                        <a:rPr lang="en-US" i="1">
                          <a:latin typeface="Cambria Math" panose="02040503050406030204" pitchFamily="18" charset="0"/>
                        </a:rPr>
                        <m:t>𝑧</m:t>
                      </m:r>
                      <m:d>
                        <m:dPr>
                          <m:ctrlPr>
                            <a:rPr lang="en-US" i="1">
                              <a:latin typeface="Cambria Math" panose="02040503050406030204" pitchFamily="18" charset="0"/>
                            </a:rPr>
                          </m:ctrlPr>
                        </m:dPr>
                        <m:e>
                          <m:r>
                            <a:rPr lang="en-US" i="1">
                              <a:latin typeface="Cambria Math" panose="02040503050406030204" pitchFamily="18" charset="0"/>
                            </a:rPr>
                            <m:t>𝑡</m:t>
                          </m:r>
                        </m:e>
                      </m:d>
                      <m:r>
                        <a:rPr lang="en-US">
                          <a:latin typeface="Cambria Math" panose="02040503050406030204" pitchFamily="18" charset="0"/>
                        </a:rPr>
                        <m:t>=</m:t>
                      </m:r>
                      <m:r>
                        <a:rPr lang="en-US" i="1">
                          <a:latin typeface="Cambria Math" panose="02040503050406030204" pitchFamily="18" charset="0"/>
                        </a:rPr>
                        <m:t>𝐿𝑥</m:t>
                      </m:r>
                      <m:d>
                        <m:dPr>
                          <m:ctrlPr>
                            <a:rPr lang="en-US" i="1">
                              <a:latin typeface="Cambria Math" panose="02040503050406030204" pitchFamily="18" charset="0"/>
                            </a:rPr>
                          </m:ctrlPr>
                        </m:dPr>
                        <m:e>
                          <m:r>
                            <a:rPr lang="en-US" i="1">
                              <a:latin typeface="Cambria Math" panose="02040503050406030204" pitchFamily="18" charset="0"/>
                            </a:rPr>
                            <m:t>𝑡</m:t>
                          </m:r>
                        </m:e>
                      </m:d>
                      <m:r>
                        <a:rPr lang="en-US">
                          <a:latin typeface="Cambria Math" panose="02040503050406030204" pitchFamily="18" charset="0"/>
                        </a:rPr>
                        <m:t>,</m:t>
                      </m:r>
                      <m:r>
                        <a:rPr lang="en-US" i="1">
                          <a:latin typeface="Cambria Math" panose="02040503050406030204" pitchFamily="18" charset="0"/>
                        </a:rPr>
                        <m:t>  </m:t>
                      </m:r>
                      <m:r>
                        <a:rPr lang="en-US" i="1">
                          <a:latin typeface="Cambria Math" panose="02040503050406030204" pitchFamily="18" charset="0"/>
                        </a:rPr>
                        <m:t>𝑦</m:t>
                      </m:r>
                      <m:d>
                        <m:dPr>
                          <m:ctrlPr>
                            <a:rPr lang="en-US" i="1">
                              <a:latin typeface="Cambria Math" panose="02040503050406030204" pitchFamily="18" charset="0"/>
                            </a:rPr>
                          </m:ctrlPr>
                        </m:dPr>
                        <m:e>
                          <m:r>
                            <a:rPr lang="en-US" i="1">
                              <a:latin typeface="Cambria Math" panose="02040503050406030204" pitchFamily="18" charset="0"/>
                            </a:rPr>
                            <m:t>𝑡</m:t>
                          </m:r>
                        </m:e>
                      </m:d>
                      <m:r>
                        <a:rPr lang="en-US">
                          <a:latin typeface="Cambria Math" panose="02040503050406030204" pitchFamily="18" charset="0"/>
                        </a:rPr>
                        <m:t>=</m:t>
                      </m:r>
                      <m:r>
                        <a:rPr lang="en-US" i="1">
                          <a:latin typeface="Cambria Math" panose="02040503050406030204" pitchFamily="18" charset="0"/>
                        </a:rPr>
                        <m:t>𝐶𝑥</m:t>
                      </m:r>
                      <m:d>
                        <m:dPr>
                          <m:ctrlPr>
                            <a:rPr lang="en-US" i="1">
                              <a:latin typeface="Cambria Math" panose="02040503050406030204" pitchFamily="18" charset="0"/>
                            </a:rPr>
                          </m:ctrlPr>
                        </m:dPr>
                        <m:e>
                          <m:r>
                            <a:rPr lang="en-US" i="1">
                              <a:latin typeface="Cambria Math" panose="02040503050406030204" pitchFamily="18" charset="0"/>
                            </a:rPr>
                            <m:t>𝑡</m:t>
                          </m:r>
                        </m:e>
                      </m:d>
                      <m:r>
                        <a:rPr lang="en-US">
                          <a:latin typeface="Cambria Math" panose="02040503050406030204" pitchFamily="18" charset="0"/>
                        </a:rPr>
                        <m:t>.</m:t>
                      </m:r>
                    </m:oMath>
                  </m:oMathPara>
                </a14:m>
                <a:endParaRPr lang="en-US" sz="2000" dirty="0">
                  <a:latin typeface="Arial" panose="020B0604020202020204" pitchFamily="34" charset="0"/>
                  <a:cs typeface="Arial" panose="020B0604020202020204" pitchFamily="34" charset="0"/>
                </a:endParaRPr>
              </a:p>
              <a:p>
                <a:pPr lvl="1">
                  <a:buFont typeface="Courier New" panose="02070309020205020404" pitchFamily="49" charset="0"/>
                  <a:buChar char="o"/>
                </a:pPr>
                <a:r>
                  <a:rPr lang="en-US" sz="1800" b="1" dirty="0"/>
                  <a:t>State Vector:</a:t>
                </a:r>
                <a:r>
                  <a:rPr lang="en-US" sz="1800" dirty="0"/>
                  <a:t> </a:t>
                </a:r>
                <a14:m>
                  <m:oMath xmlns:m="http://schemas.openxmlformats.org/officeDocument/2006/math">
                    <m:r>
                      <a:rPr lang="en-US" sz="1800" i="1">
                        <a:latin typeface="Cambria Math" panose="02040503050406030204" pitchFamily="18" charset="0"/>
                      </a:rPr>
                      <m:t>𝑥</m:t>
                    </m:r>
                    <m:d>
                      <m:dPr>
                        <m:ctrlPr>
                          <a:rPr lang="en-US" sz="1800" i="1">
                            <a:latin typeface="Cambria Math" panose="02040503050406030204" pitchFamily="18" charset="0"/>
                          </a:rPr>
                        </m:ctrlPr>
                      </m:dPr>
                      <m:e>
                        <m:r>
                          <a:rPr lang="en-US" sz="1800" i="1">
                            <a:latin typeface="Cambria Math" panose="02040503050406030204" pitchFamily="18" charset="0"/>
                          </a:rPr>
                          <m:t>𝑡</m:t>
                        </m:r>
                      </m:e>
                    </m:d>
                    <m:r>
                      <a:rPr lang="en-US" sz="1800">
                        <a:latin typeface="Cambria Math" panose="02040503050406030204" pitchFamily="18" charset="0"/>
                      </a:rPr>
                      <m:t>=</m:t>
                    </m:r>
                    <m:d>
                      <m:dPr>
                        <m:begChr m:val="["/>
                        <m:endChr m:val="]"/>
                        <m:ctrlPr>
                          <a:rPr lang="en-US" sz="1800" i="1">
                            <a:latin typeface="Cambria Math" panose="02040503050406030204" pitchFamily="18" charset="0"/>
                          </a:rPr>
                        </m:ctrlPr>
                      </m:dPr>
                      <m:e>
                        <m:m>
                          <m:mPr>
                            <m:plcHide m:val="on"/>
                            <m:mcs>
                              <m:mc>
                                <m:mcPr>
                                  <m:count m:val="1"/>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𝛿</m:t>
                              </m:r>
                              <m:r>
                                <a:rPr lang="en-US" sz="1800" i="1">
                                  <a:latin typeface="Cambria Math" panose="02040503050406030204" pitchFamily="18" charset="0"/>
                                </a:rPr>
                                <m:t>𝑊</m:t>
                              </m:r>
                              <m:d>
                                <m:dPr>
                                  <m:ctrlPr>
                                    <a:rPr lang="en-US" sz="1800" i="1">
                                      <a:latin typeface="Cambria Math" panose="02040503050406030204" pitchFamily="18" charset="0"/>
                                    </a:rPr>
                                  </m:ctrlPr>
                                </m:dPr>
                                <m:e>
                                  <m:r>
                                    <a:rPr lang="en-US" sz="1800" i="1">
                                      <a:latin typeface="Cambria Math" panose="02040503050406030204" pitchFamily="18" charset="0"/>
                                    </a:rPr>
                                    <m:t>𝑡</m:t>
                                  </m:r>
                                </m:e>
                              </m:d>
                            </m:e>
                          </m:mr>
                          <m:mr>
                            <m:e>
                              <m:r>
                                <a:rPr lang="en-US" sz="1800" i="1">
                                  <a:latin typeface="Cambria Math" panose="02040503050406030204" pitchFamily="18" charset="0"/>
                                </a:rPr>
                                <m:t>𝛿</m:t>
                              </m:r>
                              <m:r>
                                <a:rPr lang="en-US" sz="1800" i="1">
                                  <a:latin typeface="Cambria Math" panose="02040503050406030204" pitchFamily="18" charset="0"/>
                                </a:rPr>
                                <m:t>𝑞</m:t>
                              </m:r>
                              <m:d>
                                <m:dPr>
                                  <m:ctrlPr>
                                    <a:rPr lang="en-US" sz="1800" i="1">
                                      <a:latin typeface="Cambria Math" panose="02040503050406030204" pitchFamily="18" charset="0"/>
                                    </a:rPr>
                                  </m:ctrlPr>
                                </m:dPr>
                                <m:e>
                                  <m:r>
                                    <a:rPr lang="en-US" sz="1800" i="1">
                                      <a:latin typeface="Cambria Math" panose="02040503050406030204" pitchFamily="18" charset="0"/>
                                    </a:rPr>
                                    <m:t>𝑡</m:t>
                                  </m:r>
                                </m:e>
                              </m:d>
                            </m:e>
                          </m:mr>
                        </m:m>
                      </m:e>
                    </m:d>
                  </m:oMath>
                </a14:m>
                <a:r>
                  <a:rPr lang="en-US" sz="1800" dirty="0"/>
                  <a:t> </a:t>
                </a:r>
              </a:p>
              <a:p>
                <a:pPr lvl="1">
                  <a:buFont typeface="Courier New" panose="02070309020205020404" pitchFamily="49" charset="0"/>
                  <a:buChar char="o"/>
                </a:pPr>
                <a:r>
                  <a:rPr lang="en-US" sz="1800" b="1" dirty="0"/>
                  <a:t>Control Input:</a:t>
                </a:r>
                <a:r>
                  <a:rPr lang="en-US" sz="1800" dirty="0"/>
                  <a:t> </a:t>
                </a:r>
                <a14:m>
                  <m:oMath xmlns:m="http://schemas.openxmlformats.org/officeDocument/2006/math">
                    <m:r>
                      <a:rPr lang="en-US" sz="1800" i="1">
                        <a:latin typeface="Cambria Math" panose="02040503050406030204" pitchFamily="18" charset="0"/>
                      </a:rPr>
                      <m:t>𝑢</m:t>
                    </m:r>
                    <m:d>
                      <m:dPr>
                        <m:ctrlPr>
                          <a:rPr lang="en-US" sz="1800" i="1">
                            <a:latin typeface="Cambria Math" panose="02040503050406030204" pitchFamily="18" charset="0"/>
                          </a:rPr>
                        </m:ctrlPr>
                      </m:dPr>
                      <m:e>
                        <m:r>
                          <a:rPr lang="en-US" sz="1800" i="1">
                            <a:latin typeface="Cambria Math" panose="02040503050406030204" pitchFamily="18" charset="0"/>
                          </a:rPr>
                          <m:t>𝑡</m:t>
                        </m:r>
                      </m:e>
                    </m:d>
                    <m:r>
                      <a:rPr lang="en-US" sz="1800">
                        <a:latin typeface="Cambria Math" panose="02040503050406030204" pitchFamily="18" charset="0"/>
                      </a:rPr>
                      <m:t>=</m:t>
                    </m:r>
                    <m:r>
                      <a:rPr lang="en-US" sz="1800" i="1">
                        <a:latin typeface="Cambria Math" panose="02040503050406030204" pitchFamily="18" charset="0"/>
                      </a:rPr>
                      <m:t>𝛿</m:t>
                    </m:r>
                    <m:r>
                      <a:rPr lang="en-US" sz="1800" i="1">
                        <a:latin typeface="Cambria Math" panose="02040503050406030204" pitchFamily="18" charset="0"/>
                      </a:rPr>
                      <m:t>𝑝</m:t>
                    </m:r>
                    <m:d>
                      <m:dPr>
                        <m:ctrlPr>
                          <a:rPr lang="en-US" sz="1800" i="1">
                            <a:latin typeface="Cambria Math" panose="02040503050406030204" pitchFamily="18" charset="0"/>
                          </a:rPr>
                        </m:ctrlPr>
                      </m:dPr>
                      <m:e>
                        <m:r>
                          <a:rPr lang="en-US" sz="1800" i="1">
                            <a:latin typeface="Cambria Math" panose="02040503050406030204" pitchFamily="18" charset="0"/>
                          </a:rPr>
                          <m:t>𝑡</m:t>
                        </m:r>
                      </m:e>
                    </m:d>
                  </m:oMath>
                </a14:m>
                <a:endParaRPr lang="en-US" sz="1800" dirty="0"/>
              </a:p>
              <a:p>
                <a:pPr lvl="1">
                  <a:buFont typeface="Courier New" panose="02070309020205020404" pitchFamily="49" charset="0"/>
                  <a:buChar char="o"/>
                </a:pPr>
                <a:r>
                  <a:rPr lang="en-US" sz="1800" b="1" dirty="0"/>
                  <a:t>Disturbance Vector:</a:t>
                </a:r>
                <a:r>
                  <a:rPr lang="en-US" sz="1800" dirty="0"/>
                  <a:t> </a:t>
                </a:r>
                <a14:m>
                  <m:oMath xmlns:m="http://schemas.openxmlformats.org/officeDocument/2006/math">
                    <m:r>
                      <a:rPr lang="en-US" sz="1800" i="1">
                        <a:latin typeface="Cambria Math" panose="02040503050406030204" pitchFamily="18" charset="0"/>
                      </a:rPr>
                      <m:t>𝜔</m:t>
                    </m:r>
                    <m:d>
                      <m:dPr>
                        <m:ctrlPr>
                          <a:rPr lang="en-US" sz="1800" i="1">
                            <a:latin typeface="Cambria Math" panose="02040503050406030204" pitchFamily="18" charset="0"/>
                          </a:rPr>
                        </m:ctrlPr>
                      </m:dPr>
                      <m:e>
                        <m:r>
                          <a:rPr lang="en-US" sz="1800" i="1">
                            <a:latin typeface="Cambria Math" panose="02040503050406030204" pitchFamily="18" charset="0"/>
                          </a:rPr>
                          <m:t>𝑡</m:t>
                        </m:r>
                      </m:e>
                    </m:d>
                    <m:r>
                      <a:rPr lang="en-US" sz="1800">
                        <a:latin typeface="Cambria Math" panose="02040503050406030204" pitchFamily="18" charset="0"/>
                      </a:rPr>
                      <m:t>=</m:t>
                    </m:r>
                    <m:d>
                      <m:dPr>
                        <m:begChr m:val="["/>
                        <m:endChr m:val="]"/>
                        <m:ctrlPr>
                          <a:rPr lang="en-US" sz="1800" i="1">
                            <a:latin typeface="Cambria Math" panose="02040503050406030204" pitchFamily="18" charset="0"/>
                          </a:rPr>
                        </m:ctrlPr>
                      </m:dPr>
                      <m:e>
                        <m:m>
                          <m:mPr>
                            <m:plcHide m:val="on"/>
                            <m:mcs>
                              <m:mc>
                                <m:mcPr>
                                  <m:count m:val="1"/>
                                  <m:mcJc m:val="center"/>
                                </m:mcPr>
                              </m:mc>
                            </m:mcs>
                            <m:ctrlPr>
                              <a:rPr lang="en-US" sz="1800" i="1">
                                <a:latin typeface="Cambria Math" panose="02040503050406030204" pitchFamily="18" charset="0"/>
                              </a:rPr>
                            </m:ctrlPr>
                          </m:mPr>
                          <m:mr>
                            <m:e>
                              <m:r>
                                <a:rPr lang="en-US" sz="1800" i="1">
                                  <a:latin typeface="Cambria Math" panose="02040503050406030204" pitchFamily="18" charset="0"/>
                                </a:rPr>
                                <m:t>𝛿</m:t>
                              </m:r>
                              <m:r>
                                <a:rPr lang="en-US" sz="1800" i="1">
                                  <a:latin typeface="Cambria Math" panose="02040503050406030204" pitchFamily="18" charset="0"/>
                                </a:rPr>
                                <m:t>𝐶</m:t>
                              </m:r>
                              <m:d>
                                <m:dPr>
                                  <m:ctrlPr>
                                    <a:rPr lang="en-US" sz="1800" i="1">
                                      <a:latin typeface="Cambria Math" panose="02040503050406030204" pitchFamily="18" charset="0"/>
                                    </a:rPr>
                                  </m:ctrlPr>
                                </m:dPr>
                                <m:e>
                                  <m:r>
                                    <a:rPr lang="en-US" sz="1800" i="1">
                                      <a:latin typeface="Cambria Math" panose="02040503050406030204" pitchFamily="18" charset="0"/>
                                    </a:rPr>
                                    <m:t>𝑡</m:t>
                                  </m:r>
                                </m:e>
                              </m:d>
                            </m:e>
                          </m:mr>
                          <m:mr>
                            <m:e>
                              <m:r>
                                <a:rPr lang="en-US" sz="1800" i="1">
                                  <a:latin typeface="Cambria Math" panose="02040503050406030204" pitchFamily="18" charset="0"/>
                                </a:rPr>
                                <m:t>𝛿</m:t>
                              </m:r>
                              <m:r>
                                <a:rPr lang="en-US" sz="1800" i="1">
                                  <a:latin typeface="Cambria Math" panose="02040503050406030204" pitchFamily="18" charset="0"/>
                                </a:rPr>
                                <m:t>𝐶</m:t>
                              </m:r>
                              <m:d>
                                <m:dPr>
                                  <m:ctrlPr>
                                    <a:rPr lang="en-US" sz="1800" i="1">
                                      <a:latin typeface="Cambria Math" panose="02040503050406030204" pitchFamily="18" charset="0"/>
                                    </a:rPr>
                                  </m:ctrlPr>
                                </m:dPr>
                                <m:e>
                                  <m:r>
                                    <a:rPr lang="en-US" sz="1800" i="1">
                                      <a:latin typeface="Cambria Math" panose="02040503050406030204" pitchFamily="18" charset="0"/>
                                    </a:rPr>
                                    <m:t>𝑡</m:t>
                                  </m:r>
                                  <m:r>
                                    <a:rPr lang="en-US" sz="1800" i="1">
                                      <a:latin typeface="Cambria Math" panose="02040503050406030204" pitchFamily="18" charset="0"/>
                                    </a:rPr>
                                    <m:t>−</m:t>
                                  </m:r>
                                  <m:sSub>
                                    <m:sSubPr>
                                      <m:ctrlPr>
                                        <a:rPr lang="en-US" sz="1800" i="1">
                                          <a:latin typeface="Cambria Math" panose="02040503050406030204" pitchFamily="18" charset="0"/>
                                        </a:rPr>
                                      </m:ctrlPr>
                                    </m:sSubPr>
                                    <m:e>
                                      <m:r>
                                        <a:rPr lang="en-US" sz="1800" i="1">
                                          <a:latin typeface="Cambria Math" panose="02040503050406030204" pitchFamily="18" charset="0"/>
                                        </a:rPr>
                                        <m:t>𝜏</m:t>
                                      </m:r>
                                    </m:e>
                                    <m:sub>
                                      <m:r>
                                        <a:rPr lang="en-US" sz="1800" i="1">
                                          <a:latin typeface="Cambria Math" panose="02040503050406030204" pitchFamily="18" charset="0"/>
                                        </a:rPr>
                                        <m:t>0</m:t>
                                      </m:r>
                                    </m:sub>
                                  </m:sSub>
                                </m:e>
                              </m:d>
                            </m:e>
                          </m:mr>
                        </m:m>
                      </m:e>
                    </m:d>
                  </m:oMath>
                </a14:m>
                <a:r>
                  <a:rPr lang="en-US" sz="1800" dirty="0"/>
                  <a:t> </a:t>
                </a:r>
              </a:p>
              <a:p>
                <a:r>
                  <a:rPr lang="en-US" sz="2000" dirty="0">
                    <a:latin typeface="Arial" panose="020B0604020202020204" pitchFamily="34" charset="0"/>
                    <a:cs typeface="Arial" panose="020B0604020202020204" pitchFamily="34" charset="0"/>
                  </a:rPr>
                  <a:t>Delays:</a:t>
                </a:r>
              </a:p>
              <a:p>
                <a:pPr lvl="1">
                  <a:buFont typeface="Courier New" panose="02070309020205020404" pitchFamily="49" charset="0"/>
                  <a:buChar char="o"/>
                </a:pPr>
                <a:r>
                  <a:rPr lang="en-US" sz="1800" b="1" i="1" dirty="0">
                    <a:latin typeface="Arial" panose="020B0604020202020204" pitchFamily="34" charset="0"/>
                    <a:cs typeface="Arial" panose="020B0604020202020204" pitchFamily="34" charset="0"/>
                  </a:rPr>
                  <a:t>d</a:t>
                </a:r>
                <a:r>
                  <a:rPr lang="en-US" sz="1800" dirty="0">
                    <a:latin typeface="Arial" panose="020B0604020202020204" pitchFamily="34" charset="0"/>
                    <a:cs typeface="Arial" panose="020B0604020202020204" pitchFamily="34" charset="0"/>
                  </a:rPr>
                  <a:t> = State delay (RTT).: </a:t>
                </a:r>
              </a:p>
              <a:p>
                <a:pPr lvl="1">
                  <a:buFont typeface="Courier New" panose="02070309020205020404" pitchFamily="49" charset="0"/>
                  <a:buChar char="o"/>
                </a:pPr>
                <a:r>
                  <a:rPr lang="en-US" sz="1800" b="1" i="1" dirty="0">
                    <a:latin typeface="Arial" panose="020B0604020202020204" pitchFamily="34" charset="0"/>
                    <a:cs typeface="Arial" panose="020B0604020202020204" pitchFamily="34" charset="0"/>
                  </a:rPr>
                  <a:t>h</a:t>
                </a:r>
                <a:r>
                  <a:rPr lang="en-US" sz="1800" dirty="0">
                    <a:latin typeface="Arial" panose="020B0604020202020204" pitchFamily="34" charset="0"/>
                    <a:cs typeface="Arial" panose="020B0604020202020204" pitchFamily="34" charset="0"/>
                  </a:rPr>
                  <a:t> = Input delay.</a:t>
                </a:r>
              </a:p>
            </p:txBody>
          </p:sp>
        </mc:Choice>
        <mc:Fallback>
          <p:sp>
            <p:nvSpPr>
              <p:cNvPr id="4" name="Content Placeholder 3">
                <a:extLst>
                  <a:ext uri="{FF2B5EF4-FFF2-40B4-BE49-F238E27FC236}">
                    <a16:creationId xmlns:a16="http://schemas.microsoft.com/office/drawing/2014/main" id="{604CC69E-EC34-F876-BA72-8A7A983CAF7D}"/>
                  </a:ext>
                </a:extLst>
              </p:cNvPr>
              <p:cNvSpPr>
                <a:spLocks noGrp="1" noRot="1" noChangeAspect="1" noMove="1" noResize="1" noEditPoints="1" noAdjustHandles="1" noChangeArrowheads="1" noChangeShapeType="1" noTextEdit="1"/>
              </p:cNvSpPr>
              <p:nvPr>
                <p:ph sz="half" idx="2"/>
              </p:nvPr>
            </p:nvSpPr>
            <p:spPr>
              <a:xfrm>
                <a:off x="187282" y="1395664"/>
                <a:ext cx="10031539" cy="5241972"/>
              </a:xfrm>
              <a:blipFill>
                <a:blip r:embed="rId3"/>
                <a:stretch>
                  <a:fillRect l="-304" t="-581"/>
                </a:stretch>
              </a:blipFill>
            </p:spPr>
            <p:txBody>
              <a:bodyPr/>
              <a:lstStyle/>
              <a:p>
                <a:r>
                  <a:rPr lang="en-US">
                    <a:noFill/>
                  </a:rPr>
                  <a:t> </a:t>
                </a:r>
              </a:p>
            </p:txBody>
          </p:sp>
        </mc:Fallback>
      </mc:AlternateContent>
      <p:sp>
        <p:nvSpPr>
          <p:cNvPr id="6" name="Content Placeholder 3">
            <a:extLst>
              <a:ext uri="{FF2B5EF4-FFF2-40B4-BE49-F238E27FC236}">
                <a16:creationId xmlns:a16="http://schemas.microsoft.com/office/drawing/2014/main" id="{A8A95C3E-BCCE-068F-851D-D8814ADC23B3}"/>
              </a:ext>
            </a:extLst>
          </p:cNvPr>
          <p:cNvSpPr txBox="1">
            <a:spLocks/>
          </p:cNvSpPr>
          <p:nvPr/>
        </p:nvSpPr>
        <p:spPr>
          <a:xfrm>
            <a:off x="187283" y="4207555"/>
            <a:ext cx="7047705"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ED887C83-DBFB-7B02-480A-096F041F943D}"/>
              </a:ext>
            </a:extLst>
          </p:cNvPr>
          <p:cNvSpPr>
            <a:spLocks noGrp="1"/>
          </p:cNvSpPr>
          <p:nvPr>
            <p:ph type="sldNum" sz="quarter" idx="12"/>
          </p:nvPr>
        </p:nvSpPr>
        <p:spPr/>
        <p:txBody>
          <a:bodyPr/>
          <a:lstStyle/>
          <a:p>
            <a:r>
              <a:rPr lang="en-US" dirty="0"/>
              <a:t>4</a:t>
            </a:r>
          </a:p>
        </p:txBody>
      </p:sp>
    </p:spTree>
    <p:extLst>
      <p:ext uri="{BB962C8B-B14F-4D97-AF65-F5344CB8AC3E}">
        <p14:creationId xmlns:p14="http://schemas.microsoft.com/office/powerpoint/2010/main" val="1416797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836406-81BE-B615-1786-CB489F067F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D4AADB-C65D-91A0-B4A8-F7420D5FFA17}"/>
              </a:ext>
            </a:extLst>
          </p:cNvPr>
          <p:cNvSpPr>
            <a:spLocks noGrp="1"/>
          </p:cNvSpPr>
          <p:nvPr>
            <p:ph type="title"/>
          </p:nvPr>
        </p:nvSpPr>
        <p:spPr>
          <a:xfrm>
            <a:off x="645877" y="624970"/>
            <a:ext cx="8596668" cy="887659"/>
          </a:xfrm>
        </p:spPr>
        <p:txBody>
          <a:bodyPr>
            <a:normAutofit/>
          </a:bodyPr>
          <a:lstStyle/>
          <a:p>
            <a:pPr algn="ctr"/>
            <a:r>
              <a:rPr lang="en-US" b="1" dirty="0">
                <a:latin typeface="Arial" panose="020B0604020202020204" pitchFamily="34" charset="0"/>
                <a:cs typeface="Arial" panose="020B0604020202020204" pitchFamily="34" charset="0"/>
              </a:rPr>
              <a:t>Linearized State-Space Model</a:t>
            </a:r>
            <a:endParaRPr lang="en-US"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A7C26848-BF0C-BA02-36A3-4FF33CE9F8AE}"/>
                  </a:ext>
                </a:extLst>
              </p:cNvPr>
              <p:cNvSpPr>
                <a:spLocks noGrp="1"/>
              </p:cNvSpPr>
              <p:nvPr>
                <p:ph sz="half" idx="2"/>
              </p:nvPr>
            </p:nvSpPr>
            <p:spPr>
              <a:xfrm>
                <a:off x="187282" y="1395664"/>
                <a:ext cx="10031539" cy="5241972"/>
              </a:xfrm>
            </p:spPr>
            <p:txBody>
              <a:bodyPr>
                <a:noAutofit/>
              </a:bodyPr>
              <a:lstStyle/>
              <a:p>
                <a:r>
                  <a:rPr lang="en-US" sz="2000" dirty="0">
                    <a:latin typeface="Arial" panose="020B0604020202020204" pitchFamily="34" charset="0"/>
                    <a:cs typeface="Arial" panose="020B0604020202020204" pitchFamily="34" charset="0"/>
                  </a:rPr>
                  <a:t>Full state linearized Equations (Matrix from)</a:t>
                </a:r>
              </a:p>
              <a:p>
                <a14:m>
                  <m:oMath xmlns:m="http://schemas.openxmlformats.org/officeDocument/2006/math">
                    <m:d>
                      <m:dPr>
                        <m:begChr m:val="["/>
                        <m:endChr m:val="]"/>
                        <m:ctrlPr>
                          <a:rPr lang="en-US" i="1"/>
                        </m:ctrlPr>
                      </m:dPr>
                      <m:e>
                        <m:m>
                          <m:mPr>
                            <m:plcHide m:val="on"/>
                            <m:mcs>
                              <m:mc>
                                <m:mcPr>
                                  <m:count m:val="1"/>
                                  <m:mcJc m:val="center"/>
                                </m:mcPr>
                              </m:mc>
                            </m:mcs>
                            <m:ctrlPr>
                              <a:rPr lang="en-US" i="1"/>
                            </m:ctrlPr>
                          </m:mPr>
                          <m:mr>
                            <m:e>
                              <m:r>
                                <a:rPr lang="en-GB" i="1"/>
                                <m:t>𝛿</m:t>
                              </m:r>
                              <m:acc>
                                <m:accPr>
                                  <m:chr m:val="̇"/>
                                  <m:ctrlPr>
                                    <a:rPr lang="en-US" i="1"/>
                                  </m:ctrlPr>
                                </m:accPr>
                                <m:e>
                                  <m:r>
                                    <a:rPr lang="en-GB" i="1"/>
                                    <m:t>𝑊</m:t>
                                  </m:r>
                                </m:e>
                              </m:acc>
                              <m:d>
                                <m:dPr>
                                  <m:ctrlPr>
                                    <a:rPr lang="en-US" i="1"/>
                                  </m:ctrlPr>
                                </m:dPr>
                                <m:e>
                                  <m:r>
                                    <a:rPr lang="en-GB" i="1"/>
                                    <m:t>𝑡</m:t>
                                  </m:r>
                                </m:e>
                              </m:d>
                            </m:e>
                          </m:mr>
                          <m:mr>
                            <m:e>
                              <m:r>
                                <a:rPr lang="en-GB" i="1"/>
                                <m:t>𝛿</m:t>
                              </m:r>
                              <m:acc>
                                <m:accPr>
                                  <m:chr m:val="̇"/>
                                  <m:ctrlPr>
                                    <a:rPr lang="en-US" i="1"/>
                                  </m:ctrlPr>
                                </m:accPr>
                                <m:e>
                                  <m:r>
                                    <a:rPr lang="en-GB" i="1"/>
                                    <m:t>𝑞</m:t>
                                  </m:r>
                                </m:e>
                              </m:acc>
                              <m:d>
                                <m:dPr>
                                  <m:ctrlPr>
                                    <a:rPr lang="en-US" i="1"/>
                                  </m:ctrlPr>
                                </m:dPr>
                                <m:e>
                                  <m:r>
                                    <a:rPr lang="en-GB" i="1"/>
                                    <m:t>𝑡</m:t>
                                  </m:r>
                                </m:e>
                              </m:d>
                            </m:e>
                          </m:mr>
                        </m:m>
                      </m:e>
                    </m:d>
                    <m:r>
                      <a:rPr lang="en-GB"/>
                      <m:t>=</m:t>
                    </m:r>
                    <m:limLow>
                      <m:limLowPr>
                        <m:ctrlPr>
                          <a:rPr lang="en-US" i="1"/>
                        </m:ctrlPr>
                      </m:limLowPr>
                      <m:e>
                        <m:limLow>
                          <m:limLowPr>
                            <m:ctrlPr>
                              <a:rPr lang="en-US" i="1"/>
                            </m:ctrlPr>
                          </m:limLowPr>
                          <m:e>
                            <m:d>
                              <m:dPr>
                                <m:begChr m:val="["/>
                                <m:endChr m:val="]"/>
                                <m:ctrlPr>
                                  <a:rPr lang="en-US" i="1"/>
                                </m:ctrlPr>
                              </m:dPr>
                              <m:e>
                                <m:m>
                                  <m:mPr>
                                    <m:plcHide m:val="on"/>
                                    <m:mcs>
                                      <m:mc>
                                        <m:mcPr>
                                          <m:count m:val="2"/>
                                          <m:mcJc m:val="center"/>
                                        </m:mcPr>
                                      </m:mc>
                                    </m:mcs>
                                    <m:ctrlPr>
                                      <a:rPr lang="en-US" i="1"/>
                                    </m:ctrlPr>
                                  </m:mPr>
                                  <m:mr>
                                    <m:e>
                                      <m:r>
                                        <a:rPr lang="en-GB" i="1"/>
                                        <m:t>−</m:t>
                                      </m:r>
                                      <m:f>
                                        <m:fPr>
                                          <m:ctrlPr>
                                            <a:rPr lang="en-US" i="1"/>
                                          </m:ctrlPr>
                                        </m:fPr>
                                        <m:num>
                                          <m:r>
                                            <a:rPr lang="en-GB" i="1"/>
                                            <m:t>𝑁</m:t>
                                          </m:r>
                                        </m:num>
                                        <m:den>
                                          <m:sSubSup>
                                            <m:sSubSupPr>
                                              <m:ctrlPr>
                                                <a:rPr lang="en-US" i="1"/>
                                              </m:ctrlPr>
                                            </m:sSubSupPr>
                                            <m:e>
                                              <m:r>
                                                <a:rPr lang="en-GB" i="1"/>
                                                <m:t>𝜏</m:t>
                                              </m:r>
                                            </m:e>
                                            <m:sub>
                                              <m:r>
                                                <a:rPr lang="en-GB" i="1"/>
                                                <m:t>0</m:t>
                                              </m:r>
                                            </m:sub>
                                            <m:sup>
                                              <m:r>
                                                <a:rPr lang="en-GB" i="1"/>
                                                <m:t>2</m:t>
                                              </m:r>
                                            </m:sup>
                                          </m:sSubSup>
                                          <m:sSub>
                                            <m:sSubPr>
                                              <m:ctrlPr>
                                                <a:rPr lang="en-US" i="1"/>
                                              </m:ctrlPr>
                                            </m:sSubPr>
                                            <m:e>
                                              <m:r>
                                                <a:rPr lang="en-GB" i="1"/>
                                                <m:t>𝐶</m:t>
                                              </m:r>
                                            </m:e>
                                            <m:sub>
                                              <m:r>
                                                <a:rPr lang="en-GB" i="1"/>
                                                <m:t>0</m:t>
                                              </m:r>
                                            </m:sub>
                                          </m:sSub>
                                        </m:den>
                                      </m:f>
                                    </m:e>
                                    <m:e>
                                      <m:r>
                                        <a:rPr lang="en-GB" i="1"/>
                                        <m:t>−</m:t>
                                      </m:r>
                                      <m:f>
                                        <m:fPr>
                                          <m:ctrlPr>
                                            <a:rPr lang="en-US" i="1"/>
                                          </m:ctrlPr>
                                        </m:fPr>
                                        <m:num>
                                          <m:r>
                                            <a:rPr lang="en-GB" i="1"/>
                                            <m:t>1</m:t>
                                          </m:r>
                                        </m:num>
                                        <m:den>
                                          <m:sSubSup>
                                            <m:sSubSupPr>
                                              <m:ctrlPr>
                                                <a:rPr lang="en-US" i="1"/>
                                              </m:ctrlPr>
                                            </m:sSubSupPr>
                                            <m:e>
                                              <m:r>
                                                <a:rPr lang="en-GB" i="1"/>
                                                <m:t>𝜏</m:t>
                                              </m:r>
                                            </m:e>
                                            <m:sub>
                                              <m:r>
                                                <a:rPr lang="en-GB" i="1"/>
                                                <m:t>0</m:t>
                                              </m:r>
                                            </m:sub>
                                            <m:sup>
                                              <m:r>
                                                <a:rPr lang="en-GB" i="1"/>
                                                <m:t>2</m:t>
                                              </m:r>
                                            </m:sup>
                                          </m:sSubSup>
                                          <m:sSub>
                                            <m:sSubPr>
                                              <m:ctrlPr>
                                                <a:rPr lang="en-US" i="1"/>
                                              </m:ctrlPr>
                                            </m:sSubPr>
                                            <m:e>
                                              <m:r>
                                                <a:rPr lang="en-GB" i="1"/>
                                                <m:t>𝐶</m:t>
                                              </m:r>
                                            </m:e>
                                            <m:sub>
                                              <m:r>
                                                <a:rPr lang="en-GB" i="1"/>
                                                <m:t>0</m:t>
                                              </m:r>
                                            </m:sub>
                                          </m:sSub>
                                        </m:den>
                                      </m:f>
                                    </m:e>
                                  </m:mr>
                                  <m:mr>
                                    <m:e>
                                      <m:f>
                                        <m:fPr>
                                          <m:ctrlPr>
                                            <a:rPr lang="en-US" i="1"/>
                                          </m:ctrlPr>
                                        </m:fPr>
                                        <m:num>
                                          <m:r>
                                            <a:rPr lang="en-GB" i="1"/>
                                            <m:t>𝑁</m:t>
                                          </m:r>
                                        </m:num>
                                        <m:den>
                                          <m:sSub>
                                            <m:sSubPr>
                                              <m:ctrlPr>
                                                <a:rPr lang="en-US" i="1"/>
                                              </m:ctrlPr>
                                            </m:sSubPr>
                                            <m:e>
                                              <m:r>
                                                <a:rPr lang="en-GB" i="1"/>
                                                <m:t>𝜏</m:t>
                                              </m:r>
                                            </m:e>
                                            <m:sub>
                                              <m:r>
                                                <a:rPr lang="en-GB" i="1"/>
                                                <m:t>0</m:t>
                                              </m:r>
                                            </m:sub>
                                          </m:sSub>
                                        </m:den>
                                      </m:f>
                                    </m:e>
                                    <m:e>
                                      <m:r>
                                        <a:rPr lang="en-GB" i="1"/>
                                        <m:t>−</m:t>
                                      </m:r>
                                      <m:f>
                                        <m:fPr>
                                          <m:ctrlPr>
                                            <a:rPr lang="en-US" i="1"/>
                                          </m:ctrlPr>
                                        </m:fPr>
                                        <m:num>
                                          <m:r>
                                            <a:rPr lang="en-GB" i="1"/>
                                            <m:t>1</m:t>
                                          </m:r>
                                        </m:num>
                                        <m:den>
                                          <m:sSub>
                                            <m:sSubPr>
                                              <m:ctrlPr>
                                                <a:rPr lang="en-US" i="1"/>
                                              </m:ctrlPr>
                                            </m:sSubPr>
                                            <m:e>
                                              <m:r>
                                                <a:rPr lang="en-GB" i="1"/>
                                                <m:t>𝜏</m:t>
                                              </m:r>
                                            </m:e>
                                            <m:sub>
                                              <m:r>
                                                <a:rPr lang="en-GB" i="1"/>
                                                <m:t>0</m:t>
                                              </m:r>
                                            </m:sub>
                                          </m:sSub>
                                        </m:den>
                                      </m:f>
                                    </m:e>
                                  </m:mr>
                                </m:m>
                              </m:e>
                            </m:d>
                          </m:e>
                          <m:lim>
                            <m:r>
                              <a:rPr lang="en-GB"/>
                              <m:t>⏟</m:t>
                            </m:r>
                          </m:lim>
                        </m:limLow>
                      </m:e>
                      <m:lim>
                        <m:r>
                          <a:rPr lang="en-GB" i="1"/>
                          <m:t>𝐴</m:t>
                        </m:r>
                      </m:lim>
                    </m:limLow>
                    <m:d>
                      <m:dPr>
                        <m:begChr m:val="["/>
                        <m:endChr m:val="]"/>
                        <m:ctrlPr>
                          <a:rPr lang="en-US" i="1"/>
                        </m:ctrlPr>
                      </m:dPr>
                      <m:e>
                        <m:m>
                          <m:mPr>
                            <m:plcHide m:val="on"/>
                            <m:mcs>
                              <m:mc>
                                <m:mcPr>
                                  <m:count m:val="1"/>
                                  <m:mcJc m:val="center"/>
                                </m:mcPr>
                              </m:mc>
                            </m:mcs>
                            <m:ctrlPr>
                              <a:rPr lang="en-US" i="1"/>
                            </m:ctrlPr>
                          </m:mPr>
                          <m:mr>
                            <m:e>
                              <m:r>
                                <a:rPr lang="en-GB" i="1"/>
                                <m:t>𝛿</m:t>
                              </m:r>
                              <m:r>
                                <a:rPr lang="en-GB" i="1"/>
                                <m:t>𝑊</m:t>
                              </m:r>
                              <m:d>
                                <m:dPr>
                                  <m:ctrlPr>
                                    <a:rPr lang="en-US" i="1"/>
                                  </m:ctrlPr>
                                </m:dPr>
                                <m:e>
                                  <m:r>
                                    <a:rPr lang="en-GB" i="1"/>
                                    <m:t>𝑡</m:t>
                                  </m:r>
                                </m:e>
                              </m:d>
                            </m:e>
                          </m:mr>
                          <m:mr>
                            <m:e>
                              <m:r>
                                <a:rPr lang="en-GB" i="1"/>
                                <m:t>𝛿</m:t>
                              </m:r>
                              <m:r>
                                <a:rPr lang="en-GB" i="1"/>
                                <m:t>𝑞</m:t>
                              </m:r>
                              <m:d>
                                <m:dPr>
                                  <m:ctrlPr>
                                    <a:rPr lang="en-US" i="1"/>
                                  </m:ctrlPr>
                                </m:dPr>
                                <m:e>
                                  <m:r>
                                    <a:rPr lang="en-GB" i="1"/>
                                    <m:t>𝑡</m:t>
                                  </m:r>
                                </m:e>
                              </m:d>
                            </m:e>
                          </m:mr>
                        </m:m>
                      </m:e>
                    </m:d>
                    <m:r>
                      <a:rPr lang="en-GB"/>
                      <m:t>+</m:t>
                    </m:r>
                    <m:limLow>
                      <m:limLowPr>
                        <m:ctrlPr>
                          <a:rPr lang="en-US" i="1"/>
                        </m:ctrlPr>
                      </m:limLowPr>
                      <m:e>
                        <m:limLow>
                          <m:limLowPr>
                            <m:ctrlPr>
                              <a:rPr lang="en-US" i="1"/>
                            </m:ctrlPr>
                          </m:limLowPr>
                          <m:e>
                            <m:d>
                              <m:dPr>
                                <m:begChr m:val="["/>
                                <m:endChr m:val="]"/>
                                <m:ctrlPr>
                                  <a:rPr lang="en-US" i="1"/>
                                </m:ctrlPr>
                              </m:dPr>
                              <m:e>
                                <m:m>
                                  <m:mPr>
                                    <m:plcHide m:val="on"/>
                                    <m:mcs>
                                      <m:mc>
                                        <m:mcPr>
                                          <m:count m:val="2"/>
                                          <m:mcJc m:val="center"/>
                                        </m:mcPr>
                                      </m:mc>
                                    </m:mcs>
                                    <m:ctrlPr>
                                      <a:rPr lang="en-US" i="1"/>
                                    </m:ctrlPr>
                                  </m:mPr>
                                  <m:mr>
                                    <m:e>
                                      <m:r>
                                        <a:rPr lang="en-GB" i="1"/>
                                        <m:t>−</m:t>
                                      </m:r>
                                      <m:f>
                                        <m:fPr>
                                          <m:ctrlPr>
                                            <a:rPr lang="en-US" i="1"/>
                                          </m:ctrlPr>
                                        </m:fPr>
                                        <m:num>
                                          <m:r>
                                            <a:rPr lang="en-GB" i="1"/>
                                            <m:t>𝑁</m:t>
                                          </m:r>
                                        </m:num>
                                        <m:den>
                                          <m:sSubSup>
                                            <m:sSubSupPr>
                                              <m:ctrlPr>
                                                <a:rPr lang="en-US" i="1"/>
                                              </m:ctrlPr>
                                            </m:sSubSupPr>
                                            <m:e>
                                              <m:r>
                                                <a:rPr lang="en-GB" i="1"/>
                                                <m:t>𝜏</m:t>
                                              </m:r>
                                            </m:e>
                                            <m:sub>
                                              <m:r>
                                                <a:rPr lang="en-GB" i="1"/>
                                                <m:t>0</m:t>
                                              </m:r>
                                            </m:sub>
                                            <m:sup>
                                              <m:r>
                                                <a:rPr lang="en-GB" i="1"/>
                                                <m:t>2</m:t>
                                              </m:r>
                                            </m:sup>
                                          </m:sSubSup>
                                          <m:sSub>
                                            <m:sSubPr>
                                              <m:ctrlPr>
                                                <a:rPr lang="en-US" i="1"/>
                                              </m:ctrlPr>
                                            </m:sSubPr>
                                            <m:e>
                                              <m:r>
                                                <a:rPr lang="en-GB" i="1"/>
                                                <m:t>𝐶</m:t>
                                              </m:r>
                                            </m:e>
                                            <m:sub>
                                              <m:r>
                                                <a:rPr lang="en-GB" i="1"/>
                                                <m:t>0</m:t>
                                              </m:r>
                                            </m:sub>
                                          </m:sSub>
                                        </m:den>
                                      </m:f>
                                    </m:e>
                                    <m:e>
                                      <m:f>
                                        <m:fPr>
                                          <m:ctrlPr>
                                            <a:rPr lang="en-US" i="1"/>
                                          </m:ctrlPr>
                                        </m:fPr>
                                        <m:num>
                                          <m:r>
                                            <a:rPr lang="en-GB" i="1"/>
                                            <m:t>1</m:t>
                                          </m:r>
                                        </m:num>
                                        <m:den>
                                          <m:sSubSup>
                                            <m:sSubSupPr>
                                              <m:ctrlPr>
                                                <a:rPr lang="en-US" i="1"/>
                                              </m:ctrlPr>
                                            </m:sSubSupPr>
                                            <m:e>
                                              <m:r>
                                                <a:rPr lang="en-GB" i="1"/>
                                                <m:t>𝜏</m:t>
                                              </m:r>
                                            </m:e>
                                            <m:sub>
                                              <m:r>
                                                <a:rPr lang="en-GB" i="1"/>
                                                <m:t>0</m:t>
                                              </m:r>
                                            </m:sub>
                                            <m:sup>
                                              <m:r>
                                                <a:rPr lang="en-GB" i="1"/>
                                                <m:t>2</m:t>
                                              </m:r>
                                            </m:sup>
                                          </m:sSubSup>
                                          <m:sSub>
                                            <m:sSubPr>
                                              <m:ctrlPr>
                                                <a:rPr lang="en-US" i="1"/>
                                              </m:ctrlPr>
                                            </m:sSubPr>
                                            <m:e>
                                              <m:r>
                                                <a:rPr lang="en-GB" i="1"/>
                                                <m:t>𝐶</m:t>
                                              </m:r>
                                            </m:e>
                                            <m:sub>
                                              <m:r>
                                                <a:rPr lang="en-GB" i="1"/>
                                                <m:t>0</m:t>
                                              </m:r>
                                            </m:sub>
                                          </m:sSub>
                                        </m:den>
                                      </m:f>
                                    </m:e>
                                  </m:mr>
                                  <m:mr>
                                    <m:e>
                                      <m:r>
                                        <a:rPr lang="en-GB" i="1"/>
                                        <m:t>0</m:t>
                                      </m:r>
                                    </m:e>
                                    <m:e>
                                      <m:r>
                                        <a:rPr lang="en-GB" i="1"/>
                                        <m:t>0</m:t>
                                      </m:r>
                                    </m:e>
                                  </m:mr>
                                </m:m>
                              </m:e>
                            </m:d>
                          </m:e>
                          <m:lim>
                            <m:r>
                              <a:rPr lang="en-GB"/>
                              <m:t>⏟</m:t>
                            </m:r>
                          </m:lim>
                        </m:limLow>
                      </m:e>
                      <m:lim>
                        <m:sSub>
                          <m:sSubPr>
                            <m:ctrlPr>
                              <a:rPr lang="en-US" i="1"/>
                            </m:ctrlPr>
                          </m:sSubPr>
                          <m:e>
                            <m:r>
                              <a:rPr lang="en-GB" i="1"/>
                              <m:t>𝐴</m:t>
                            </m:r>
                          </m:e>
                          <m:sub>
                            <m:r>
                              <a:rPr lang="en-GB" i="1"/>
                              <m:t>𝑑</m:t>
                            </m:r>
                          </m:sub>
                        </m:sSub>
                      </m:lim>
                    </m:limLow>
                    <m:d>
                      <m:dPr>
                        <m:begChr m:val="["/>
                        <m:endChr m:val="]"/>
                        <m:ctrlPr>
                          <a:rPr lang="en-US" i="1"/>
                        </m:ctrlPr>
                      </m:dPr>
                      <m:e>
                        <m:m>
                          <m:mPr>
                            <m:plcHide m:val="on"/>
                            <m:mcs>
                              <m:mc>
                                <m:mcPr>
                                  <m:count m:val="1"/>
                                  <m:mcJc m:val="center"/>
                                </m:mcPr>
                              </m:mc>
                            </m:mcs>
                            <m:ctrlPr>
                              <a:rPr lang="en-US" i="1"/>
                            </m:ctrlPr>
                          </m:mPr>
                          <m:mr>
                            <m:e>
                              <m:r>
                                <a:rPr lang="en-GB" i="1"/>
                                <m:t>𝛿</m:t>
                              </m:r>
                              <m:r>
                                <a:rPr lang="en-GB" i="1"/>
                                <m:t>𝑊</m:t>
                              </m:r>
                              <m:d>
                                <m:dPr>
                                  <m:ctrlPr>
                                    <a:rPr lang="en-US" i="1"/>
                                  </m:ctrlPr>
                                </m:dPr>
                                <m:e>
                                  <m:r>
                                    <a:rPr lang="en-GB" i="1"/>
                                    <m:t>𝑡</m:t>
                                  </m:r>
                                  <m:r>
                                    <a:rPr lang="en-GB" i="1"/>
                                    <m:t>−</m:t>
                                  </m:r>
                                  <m:sSub>
                                    <m:sSubPr>
                                      <m:ctrlPr>
                                        <a:rPr lang="en-US" i="1"/>
                                      </m:ctrlPr>
                                    </m:sSubPr>
                                    <m:e>
                                      <m:r>
                                        <a:rPr lang="en-GB" i="1"/>
                                        <m:t>𝜏</m:t>
                                      </m:r>
                                    </m:e>
                                    <m:sub>
                                      <m:r>
                                        <a:rPr lang="en-GB" i="1"/>
                                        <m:t>0</m:t>
                                      </m:r>
                                    </m:sub>
                                  </m:sSub>
                                </m:e>
                              </m:d>
                            </m:e>
                          </m:mr>
                          <m:mr>
                            <m:e>
                              <m:r>
                                <a:rPr lang="en-GB" i="1"/>
                                <m:t>𝛿</m:t>
                              </m:r>
                              <m:r>
                                <a:rPr lang="en-GB" i="1"/>
                                <m:t>𝑞</m:t>
                              </m:r>
                              <m:d>
                                <m:dPr>
                                  <m:ctrlPr>
                                    <a:rPr lang="en-US" i="1"/>
                                  </m:ctrlPr>
                                </m:dPr>
                                <m:e>
                                  <m:r>
                                    <a:rPr lang="en-GB" i="1"/>
                                    <m:t>𝑡</m:t>
                                  </m:r>
                                  <m:r>
                                    <a:rPr lang="en-GB" i="1"/>
                                    <m:t>−</m:t>
                                  </m:r>
                                  <m:sSub>
                                    <m:sSubPr>
                                      <m:ctrlPr>
                                        <a:rPr lang="en-US" i="1"/>
                                      </m:ctrlPr>
                                    </m:sSubPr>
                                    <m:e>
                                      <m:r>
                                        <a:rPr lang="en-GB" i="1"/>
                                        <m:t>𝜏</m:t>
                                      </m:r>
                                    </m:e>
                                    <m:sub>
                                      <m:r>
                                        <a:rPr lang="en-GB" i="1"/>
                                        <m:t>0</m:t>
                                      </m:r>
                                    </m:sub>
                                  </m:sSub>
                                </m:e>
                              </m:d>
                            </m:e>
                          </m:mr>
                        </m:m>
                      </m:e>
                    </m:d>
                    <m:r>
                      <a:rPr lang="en-GB"/>
                      <m:t>+</m:t>
                    </m:r>
                    <m:limLow>
                      <m:limLowPr>
                        <m:ctrlPr>
                          <a:rPr lang="en-US" i="1"/>
                        </m:ctrlPr>
                      </m:limLowPr>
                      <m:e>
                        <m:limLow>
                          <m:limLowPr>
                            <m:ctrlPr>
                              <a:rPr lang="en-US" i="1"/>
                            </m:ctrlPr>
                          </m:limLowPr>
                          <m:e>
                            <m:d>
                              <m:dPr>
                                <m:begChr m:val="["/>
                                <m:endChr m:val="]"/>
                                <m:ctrlPr>
                                  <a:rPr lang="en-US" i="1"/>
                                </m:ctrlPr>
                              </m:dPr>
                              <m:e>
                                <m:m>
                                  <m:mPr>
                                    <m:plcHide m:val="on"/>
                                    <m:mcs>
                                      <m:mc>
                                        <m:mcPr>
                                          <m:count m:val="1"/>
                                          <m:mcJc m:val="center"/>
                                        </m:mcPr>
                                      </m:mc>
                                    </m:mcs>
                                    <m:ctrlPr>
                                      <a:rPr lang="en-US" i="1"/>
                                    </m:ctrlPr>
                                  </m:mPr>
                                  <m:mr>
                                    <m:e>
                                      <m:r>
                                        <a:rPr lang="en-GB" i="1"/>
                                        <m:t>−</m:t>
                                      </m:r>
                                      <m:f>
                                        <m:fPr>
                                          <m:ctrlPr>
                                            <a:rPr lang="en-US" i="1"/>
                                          </m:ctrlPr>
                                        </m:fPr>
                                        <m:num>
                                          <m:sSub>
                                            <m:sSubPr>
                                              <m:ctrlPr>
                                                <a:rPr lang="en-US" i="1"/>
                                              </m:ctrlPr>
                                            </m:sSubPr>
                                            <m:e>
                                              <m:r>
                                                <a:rPr lang="en-GB" i="1"/>
                                                <m:t>𝜏</m:t>
                                              </m:r>
                                            </m:e>
                                            <m:sub>
                                              <m:r>
                                                <a:rPr lang="en-GB" i="1"/>
                                                <m:t>0</m:t>
                                              </m:r>
                                            </m:sub>
                                          </m:sSub>
                                          <m:sSubSup>
                                            <m:sSubSupPr>
                                              <m:ctrlPr>
                                                <a:rPr lang="en-US" i="1"/>
                                              </m:ctrlPr>
                                            </m:sSubSupPr>
                                            <m:e>
                                              <m:r>
                                                <a:rPr lang="en-GB" i="1"/>
                                                <m:t>𝐶</m:t>
                                              </m:r>
                                            </m:e>
                                            <m:sub>
                                              <m:r>
                                                <a:rPr lang="en-GB" i="1"/>
                                                <m:t>0</m:t>
                                              </m:r>
                                            </m:sub>
                                            <m:sup>
                                              <m:r>
                                                <a:rPr lang="en-GB" i="1"/>
                                                <m:t>2</m:t>
                                              </m:r>
                                            </m:sup>
                                          </m:sSubSup>
                                        </m:num>
                                        <m:den>
                                          <m:r>
                                            <a:rPr lang="en-GB" i="1"/>
                                            <m:t>2</m:t>
                                          </m:r>
                                          <m:sSup>
                                            <m:sSupPr>
                                              <m:ctrlPr>
                                                <a:rPr lang="en-US" i="1"/>
                                              </m:ctrlPr>
                                            </m:sSupPr>
                                            <m:e>
                                              <m:r>
                                                <a:rPr lang="en-GB" i="1"/>
                                                <m:t>𝑁</m:t>
                                              </m:r>
                                            </m:e>
                                            <m:sup>
                                              <m:r>
                                                <a:rPr lang="en-GB" i="1"/>
                                                <m:t>2</m:t>
                                              </m:r>
                                            </m:sup>
                                          </m:sSup>
                                        </m:den>
                                      </m:f>
                                    </m:e>
                                  </m:mr>
                                  <m:mr>
                                    <m:e>
                                      <m:r>
                                        <a:rPr lang="en-GB" i="1"/>
                                        <m:t>0</m:t>
                                      </m:r>
                                    </m:e>
                                  </m:mr>
                                </m:m>
                              </m:e>
                            </m:d>
                          </m:e>
                          <m:lim>
                            <m:r>
                              <a:rPr lang="en-GB"/>
                              <m:t>⏟</m:t>
                            </m:r>
                          </m:lim>
                        </m:limLow>
                      </m:e>
                      <m:lim>
                        <m:r>
                          <a:rPr lang="en-GB" i="1"/>
                          <m:t>𝐵</m:t>
                        </m:r>
                      </m:lim>
                    </m:limLow>
                    <m:r>
                      <a:rPr lang="en-GB" i="1"/>
                      <m:t>𝛿</m:t>
                    </m:r>
                    <m:r>
                      <a:rPr lang="en-GB" i="1"/>
                      <m:t>𝑝</m:t>
                    </m:r>
                    <m:d>
                      <m:dPr>
                        <m:ctrlPr>
                          <a:rPr lang="en-US" i="1"/>
                        </m:ctrlPr>
                      </m:dPr>
                      <m:e>
                        <m:r>
                          <a:rPr lang="en-GB" i="1"/>
                          <m:t>𝑡</m:t>
                        </m:r>
                        <m:r>
                          <a:rPr lang="en-GB" i="1"/>
                          <m:t>−</m:t>
                        </m:r>
                        <m:sSub>
                          <m:sSubPr>
                            <m:ctrlPr>
                              <a:rPr lang="en-US" i="1"/>
                            </m:ctrlPr>
                          </m:sSubPr>
                          <m:e>
                            <m:r>
                              <a:rPr lang="en-GB" i="1"/>
                              <m:t>𝜏</m:t>
                            </m:r>
                          </m:e>
                          <m:sub>
                            <m:r>
                              <a:rPr lang="en-GB" i="1"/>
                              <m:t>0</m:t>
                            </m:r>
                          </m:sub>
                        </m:sSub>
                      </m:e>
                    </m:d>
                    <m:r>
                      <a:rPr lang="en-GB"/>
                      <m:t>+</m:t>
                    </m:r>
                    <m:limLow>
                      <m:limLowPr>
                        <m:ctrlPr>
                          <a:rPr lang="en-US" i="1"/>
                        </m:ctrlPr>
                      </m:limLowPr>
                      <m:e>
                        <m:limLow>
                          <m:limLowPr>
                            <m:ctrlPr>
                              <a:rPr lang="en-US" i="1"/>
                            </m:ctrlPr>
                          </m:limLowPr>
                          <m:e>
                            <m:d>
                              <m:dPr>
                                <m:begChr m:val="["/>
                                <m:endChr m:val="]"/>
                                <m:ctrlPr>
                                  <a:rPr lang="en-US" i="1"/>
                                </m:ctrlPr>
                              </m:dPr>
                              <m:e>
                                <m:m>
                                  <m:mPr>
                                    <m:plcHide m:val="on"/>
                                    <m:mcs>
                                      <m:mc>
                                        <m:mcPr>
                                          <m:count m:val="2"/>
                                          <m:mcJc m:val="center"/>
                                        </m:mcPr>
                                      </m:mc>
                                    </m:mcs>
                                    <m:ctrlPr>
                                      <a:rPr lang="en-US" i="1"/>
                                    </m:ctrlPr>
                                  </m:mPr>
                                  <m:mr>
                                    <m:e>
                                      <m:f>
                                        <m:fPr>
                                          <m:ctrlPr>
                                            <a:rPr lang="en-US" i="1"/>
                                          </m:ctrlPr>
                                        </m:fPr>
                                        <m:num>
                                          <m:sSub>
                                            <m:sSubPr>
                                              <m:ctrlPr>
                                                <a:rPr lang="en-US" i="1"/>
                                              </m:ctrlPr>
                                            </m:sSubPr>
                                            <m:e>
                                              <m:r>
                                                <a:rPr lang="en-GB" i="1"/>
                                                <m:t>𝜏</m:t>
                                              </m:r>
                                            </m:e>
                                            <m:sub>
                                              <m:r>
                                                <a:rPr lang="en-GB" i="1"/>
                                                <m:t>0</m:t>
                                              </m:r>
                                            </m:sub>
                                          </m:sSub>
                                          <m:r>
                                            <a:rPr lang="en-GB" i="1"/>
                                            <m:t>−</m:t>
                                          </m:r>
                                          <m:sSub>
                                            <m:sSubPr>
                                              <m:ctrlPr>
                                                <a:rPr lang="en-US" i="1"/>
                                              </m:ctrlPr>
                                            </m:sSubPr>
                                            <m:e>
                                              <m:r>
                                                <a:rPr lang="en-GB" i="1"/>
                                                <m:t>𝑇</m:t>
                                              </m:r>
                                            </m:e>
                                            <m:sub>
                                              <m:r>
                                                <a:rPr lang="en-GB" i="1"/>
                                                <m:t>𝑝</m:t>
                                              </m:r>
                                            </m:sub>
                                          </m:sSub>
                                        </m:num>
                                        <m:den>
                                          <m:sSubSup>
                                            <m:sSubSupPr>
                                              <m:ctrlPr>
                                                <a:rPr lang="en-US" i="1"/>
                                              </m:ctrlPr>
                                            </m:sSubSupPr>
                                            <m:e>
                                              <m:r>
                                                <a:rPr lang="en-GB" i="1"/>
                                                <m:t>𝜏</m:t>
                                              </m:r>
                                            </m:e>
                                            <m:sub>
                                              <m:r>
                                                <a:rPr lang="en-GB" i="1"/>
                                                <m:t>0</m:t>
                                              </m:r>
                                            </m:sub>
                                            <m:sup>
                                              <m:r>
                                                <a:rPr lang="en-GB" i="1"/>
                                                <m:t>2</m:t>
                                              </m:r>
                                            </m:sup>
                                          </m:sSubSup>
                                          <m:sSub>
                                            <m:sSubPr>
                                              <m:ctrlPr>
                                                <a:rPr lang="en-US" i="1"/>
                                              </m:ctrlPr>
                                            </m:sSubPr>
                                            <m:e>
                                              <m:r>
                                                <a:rPr lang="en-GB" i="1"/>
                                                <m:t>𝐶</m:t>
                                              </m:r>
                                            </m:e>
                                            <m:sub>
                                              <m:r>
                                                <a:rPr lang="en-GB" i="1"/>
                                                <m:t>0</m:t>
                                              </m:r>
                                            </m:sub>
                                          </m:sSub>
                                        </m:den>
                                      </m:f>
                                    </m:e>
                                    <m:e>
                                      <m:r>
                                        <a:rPr lang="en-GB" i="1"/>
                                        <m:t>−</m:t>
                                      </m:r>
                                      <m:f>
                                        <m:fPr>
                                          <m:ctrlPr>
                                            <a:rPr lang="en-US" i="1"/>
                                          </m:ctrlPr>
                                        </m:fPr>
                                        <m:num>
                                          <m:sSub>
                                            <m:sSubPr>
                                              <m:ctrlPr>
                                                <a:rPr lang="en-US" i="1"/>
                                              </m:ctrlPr>
                                            </m:sSubPr>
                                            <m:e>
                                              <m:r>
                                                <a:rPr lang="en-GB" i="1"/>
                                                <m:t>𝜏</m:t>
                                              </m:r>
                                            </m:e>
                                            <m:sub>
                                              <m:r>
                                                <a:rPr lang="en-GB" i="1"/>
                                                <m:t>0</m:t>
                                              </m:r>
                                            </m:sub>
                                          </m:sSub>
                                          <m:r>
                                            <a:rPr lang="en-GB" i="1"/>
                                            <m:t>−</m:t>
                                          </m:r>
                                          <m:sSub>
                                            <m:sSubPr>
                                              <m:ctrlPr>
                                                <a:rPr lang="en-US" i="1"/>
                                              </m:ctrlPr>
                                            </m:sSubPr>
                                            <m:e>
                                              <m:r>
                                                <a:rPr lang="en-GB" i="1"/>
                                                <m:t>𝑇</m:t>
                                              </m:r>
                                            </m:e>
                                            <m:sub>
                                              <m:r>
                                                <a:rPr lang="en-GB" i="1"/>
                                                <m:t>𝑝</m:t>
                                              </m:r>
                                            </m:sub>
                                          </m:sSub>
                                        </m:num>
                                        <m:den>
                                          <m:sSubSup>
                                            <m:sSubSupPr>
                                              <m:ctrlPr>
                                                <a:rPr lang="en-US" i="1"/>
                                              </m:ctrlPr>
                                            </m:sSubSupPr>
                                            <m:e>
                                              <m:r>
                                                <a:rPr lang="en-GB" i="1"/>
                                                <m:t>𝜏</m:t>
                                              </m:r>
                                            </m:e>
                                            <m:sub>
                                              <m:r>
                                                <a:rPr lang="en-GB" i="1"/>
                                                <m:t>0</m:t>
                                              </m:r>
                                            </m:sub>
                                            <m:sup>
                                              <m:r>
                                                <a:rPr lang="en-GB" i="1"/>
                                                <m:t>2</m:t>
                                              </m:r>
                                            </m:sup>
                                          </m:sSubSup>
                                          <m:sSub>
                                            <m:sSubPr>
                                              <m:ctrlPr>
                                                <a:rPr lang="en-US" i="1"/>
                                              </m:ctrlPr>
                                            </m:sSubPr>
                                            <m:e>
                                              <m:r>
                                                <a:rPr lang="en-GB" i="1"/>
                                                <m:t>𝐶</m:t>
                                              </m:r>
                                            </m:e>
                                            <m:sub>
                                              <m:r>
                                                <a:rPr lang="en-GB" i="1"/>
                                                <m:t>0</m:t>
                                              </m:r>
                                            </m:sub>
                                          </m:sSub>
                                        </m:den>
                                      </m:f>
                                    </m:e>
                                  </m:mr>
                                  <m:mr>
                                    <m:e>
                                      <m:r>
                                        <a:rPr lang="en-GB" i="1"/>
                                        <m:t>−</m:t>
                                      </m:r>
                                      <m:f>
                                        <m:fPr>
                                          <m:ctrlPr>
                                            <a:rPr lang="en-US" i="1"/>
                                          </m:ctrlPr>
                                        </m:fPr>
                                        <m:num>
                                          <m:sSub>
                                            <m:sSubPr>
                                              <m:ctrlPr>
                                                <a:rPr lang="en-US" i="1"/>
                                              </m:ctrlPr>
                                            </m:sSubPr>
                                            <m:e>
                                              <m:r>
                                                <a:rPr lang="en-GB" i="1"/>
                                                <m:t>𝑇</m:t>
                                              </m:r>
                                            </m:e>
                                            <m:sub>
                                              <m:r>
                                                <a:rPr lang="en-GB" i="1"/>
                                                <m:t>𝑝</m:t>
                                              </m:r>
                                            </m:sub>
                                          </m:sSub>
                                        </m:num>
                                        <m:den>
                                          <m:sSub>
                                            <m:sSubPr>
                                              <m:ctrlPr>
                                                <a:rPr lang="en-US" i="1"/>
                                              </m:ctrlPr>
                                            </m:sSubPr>
                                            <m:e>
                                              <m:r>
                                                <a:rPr lang="en-GB" i="1"/>
                                                <m:t>𝜏</m:t>
                                              </m:r>
                                            </m:e>
                                            <m:sub>
                                              <m:r>
                                                <a:rPr lang="en-GB" i="1"/>
                                                <m:t>0</m:t>
                                              </m:r>
                                            </m:sub>
                                          </m:sSub>
                                        </m:den>
                                      </m:f>
                                    </m:e>
                                    <m:e>
                                      <m:r>
                                        <a:rPr lang="en-GB" i="1"/>
                                        <m:t>0</m:t>
                                      </m:r>
                                    </m:e>
                                  </m:mr>
                                </m:m>
                              </m:e>
                            </m:d>
                          </m:e>
                          <m:lim>
                            <m:r>
                              <a:rPr lang="en-GB"/>
                              <m:t>⏟</m:t>
                            </m:r>
                          </m:lim>
                        </m:limLow>
                      </m:e>
                      <m:lim>
                        <m:r>
                          <a:rPr lang="en-GB" i="1"/>
                          <m:t>𝐷</m:t>
                        </m:r>
                      </m:lim>
                    </m:limLow>
                    <m:d>
                      <m:dPr>
                        <m:begChr m:val="["/>
                        <m:endChr m:val="]"/>
                        <m:ctrlPr>
                          <a:rPr lang="en-US" i="1"/>
                        </m:ctrlPr>
                      </m:dPr>
                      <m:e>
                        <m:m>
                          <m:mPr>
                            <m:plcHide m:val="on"/>
                            <m:mcs>
                              <m:mc>
                                <m:mcPr>
                                  <m:count m:val="1"/>
                                  <m:mcJc m:val="center"/>
                                </m:mcPr>
                              </m:mc>
                            </m:mcs>
                            <m:ctrlPr>
                              <a:rPr lang="en-US" i="1"/>
                            </m:ctrlPr>
                          </m:mPr>
                          <m:mr>
                            <m:e>
                              <m:r>
                                <a:rPr lang="en-GB" i="1"/>
                                <m:t>𝛿</m:t>
                              </m:r>
                              <m:r>
                                <a:rPr lang="en-GB" i="1"/>
                                <m:t>𝐶</m:t>
                              </m:r>
                              <m:d>
                                <m:dPr>
                                  <m:ctrlPr>
                                    <a:rPr lang="en-US" i="1"/>
                                  </m:ctrlPr>
                                </m:dPr>
                                <m:e>
                                  <m:r>
                                    <a:rPr lang="en-GB" i="1"/>
                                    <m:t>𝑡</m:t>
                                  </m:r>
                                </m:e>
                              </m:d>
                            </m:e>
                          </m:mr>
                          <m:mr>
                            <m:e>
                              <m:r>
                                <a:rPr lang="en-GB" i="1"/>
                                <m:t>𝛿</m:t>
                              </m:r>
                              <m:r>
                                <a:rPr lang="en-GB" i="1"/>
                                <m:t>𝐶</m:t>
                              </m:r>
                              <m:d>
                                <m:dPr>
                                  <m:ctrlPr>
                                    <a:rPr lang="en-US" i="1"/>
                                  </m:ctrlPr>
                                </m:dPr>
                                <m:e>
                                  <m:r>
                                    <a:rPr lang="en-GB" i="1"/>
                                    <m:t>𝑡</m:t>
                                  </m:r>
                                  <m:r>
                                    <a:rPr lang="en-GB" i="1"/>
                                    <m:t>−</m:t>
                                  </m:r>
                                  <m:sSub>
                                    <m:sSubPr>
                                      <m:ctrlPr>
                                        <a:rPr lang="en-US" i="1"/>
                                      </m:ctrlPr>
                                    </m:sSubPr>
                                    <m:e>
                                      <m:r>
                                        <a:rPr lang="en-GB" i="1"/>
                                        <m:t>𝜏</m:t>
                                      </m:r>
                                    </m:e>
                                    <m:sub>
                                      <m:r>
                                        <a:rPr lang="en-GB" i="1"/>
                                        <m:t>0</m:t>
                                      </m:r>
                                    </m:sub>
                                  </m:sSub>
                                </m:e>
                              </m:d>
                            </m:e>
                          </m:mr>
                        </m:m>
                      </m:e>
                    </m:d>
                  </m:oMath>
                </a14:m>
                <a:endParaRPr lang="en-US" sz="2000" dirty="0">
                  <a:latin typeface="Arial" panose="020B0604020202020204" pitchFamily="34" charset="0"/>
                  <a:cs typeface="Arial" panose="020B0604020202020204" pitchFamily="34" charset="0"/>
                </a:endParaRPr>
              </a:p>
              <a:p>
                <a:endParaRPr lang="en-US" sz="2000" dirty="0">
                  <a:latin typeface="Arial" panose="020B0604020202020204" pitchFamily="34" charset="0"/>
                  <a:cs typeface="Arial" panose="020B0604020202020204" pitchFamily="34" charset="0"/>
                </a:endParaRPr>
              </a:p>
            </p:txBody>
          </p:sp>
        </mc:Choice>
        <mc:Fallback>
          <p:sp>
            <p:nvSpPr>
              <p:cNvPr id="4" name="Content Placeholder 3">
                <a:extLst>
                  <a:ext uri="{FF2B5EF4-FFF2-40B4-BE49-F238E27FC236}">
                    <a16:creationId xmlns:a16="http://schemas.microsoft.com/office/drawing/2014/main" id="{A7C26848-BF0C-BA02-36A3-4FF33CE9F8AE}"/>
                  </a:ext>
                </a:extLst>
              </p:cNvPr>
              <p:cNvSpPr>
                <a:spLocks noGrp="1" noRot="1" noChangeAspect="1" noMove="1" noResize="1" noEditPoints="1" noAdjustHandles="1" noChangeArrowheads="1" noChangeShapeType="1" noTextEdit="1"/>
              </p:cNvSpPr>
              <p:nvPr>
                <p:ph sz="half" idx="2"/>
              </p:nvPr>
            </p:nvSpPr>
            <p:spPr>
              <a:xfrm>
                <a:off x="187282" y="1395664"/>
                <a:ext cx="10031539" cy="5241972"/>
              </a:xfrm>
              <a:blipFill>
                <a:blip r:embed="rId3"/>
                <a:stretch>
                  <a:fillRect l="-304" t="-581"/>
                </a:stretch>
              </a:blipFill>
            </p:spPr>
            <p:txBody>
              <a:bodyPr/>
              <a:lstStyle/>
              <a:p>
                <a:r>
                  <a:rPr lang="en-US">
                    <a:noFill/>
                  </a:rPr>
                  <a:t> </a:t>
                </a:r>
              </a:p>
            </p:txBody>
          </p:sp>
        </mc:Fallback>
      </mc:AlternateContent>
      <p:sp>
        <p:nvSpPr>
          <p:cNvPr id="6" name="Content Placeholder 3">
            <a:extLst>
              <a:ext uri="{FF2B5EF4-FFF2-40B4-BE49-F238E27FC236}">
                <a16:creationId xmlns:a16="http://schemas.microsoft.com/office/drawing/2014/main" id="{CC0627E9-A96C-5BA4-A575-C3919BBF4595}"/>
              </a:ext>
            </a:extLst>
          </p:cNvPr>
          <p:cNvSpPr txBox="1">
            <a:spLocks/>
          </p:cNvSpPr>
          <p:nvPr/>
        </p:nvSpPr>
        <p:spPr>
          <a:xfrm>
            <a:off x="320287" y="4105955"/>
            <a:ext cx="8723960"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r>
              <a:rPr lang="en-US" sz="2000" dirty="0">
                <a:latin typeface="Arial" panose="020B0604020202020204" pitchFamily="34" charset="0"/>
                <a:cs typeface="Arial" panose="020B0604020202020204" pitchFamily="34" charset="0"/>
              </a:rPr>
              <a:t>Now we have three cases in this model</a:t>
            </a:r>
          </a:p>
          <a:p>
            <a:pPr lvl="1">
              <a:buFont typeface="Courier New" panose="02070309020205020404" pitchFamily="49" charset="0"/>
              <a:buChar char="o"/>
            </a:pPr>
            <a:r>
              <a:rPr lang="en-US" sz="2000" dirty="0">
                <a:latin typeface="Arial" panose="020B0604020202020204" pitchFamily="34" charset="0"/>
                <a:cs typeface="Arial" panose="020B0604020202020204" pitchFamily="34" charset="0"/>
              </a:rPr>
              <a:t>	Case 1: input delay h=0 (Theorem 1; LMIs (6),(7)).  </a:t>
            </a:r>
          </a:p>
          <a:p>
            <a:pPr lvl="1">
              <a:buFont typeface="Courier New" panose="02070309020205020404" pitchFamily="49" charset="0"/>
              <a:buChar char="o"/>
            </a:pPr>
            <a:r>
              <a:rPr lang="en-US" sz="2000" dirty="0">
                <a:latin typeface="Arial" panose="020B0604020202020204" pitchFamily="34" charset="0"/>
                <a:cs typeface="Arial" panose="020B0604020202020204" pitchFamily="34" charset="0"/>
              </a:rPr>
              <a:t>	Case 2: input delay </a:t>
            </a:r>
            <a:r>
              <a:rPr lang="en-US" sz="2000" dirty="0" err="1">
                <a:latin typeface="Arial" panose="020B0604020202020204" pitchFamily="34" charset="0"/>
                <a:cs typeface="Arial" panose="020B0604020202020204" pitchFamily="34" charset="0"/>
              </a:rPr>
              <a:t>h≠d</a:t>
            </a:r>
            <a:r>
              <a:rPr lang="en-US" sz="2000" dirty="0">
                <a:latin typeface="Arial" panose="020B0604020202020204" pitchFamily="34" charset="0"/>
                <a:cs typeface="Arial" panose="020B0604020202020204" pitchFamily="34" charset="0"/>
              </a:rPr>
              <a:t>, h&gt;0 (Theorem 2; LMI (16)).  </a:t>
            </a:r>
          </a:p>
          <a:p>
            <a:pPr lvl="1">
              <a:buFont typeface="Courier New" panose="02070309020205020404" pitchFamily="49" charset="0"/>
              <a:buChar char="o"/>
            </a:pPr>
            <a:r>
              <a:rPr lang="en-US" sz="2000" dirty="0">
                <a:latin typeface="Arial" panose="020B0604020202020204" pitchFamily="34" charset="0"/>
                <a:cs typeface="Arial" panose="020B0604020202020204" pitchFamily="34" charset="0"/>
              </a:rPr>
              <a:t>	Case 3: h=d special-case simplification (Eq. (21)).  </a:t>
            </a:r>
          </a:p>
          <a:p>
            <a:r>
              <a:rPr lang="en-US" sz="2000" dirty="0">
                <a:latin typeface="Arial" panose="020B0604020202020204" pitchFamily="34" charset="0"/>
                <a:cs typeface="Arial" panose="020B0604020202020204" pitchFamily="34" charset="0"/>
              </a:rPr>
              <a:t>Moving forward our focus will be on case 3 as it is the most realistic one. </a:t>
            </a:r>
          </a:p>
          <a:p>
            <a:endParaRPr lang="en-US" sz="24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B7010D3B-F110-FFFC-68EB-00E322011302}"/>
              </a:ext>
            </a:extLst>
          </p:cNvPr>
          <p:cNvSpPr>
            <a:spLocks noGrp="1"/>
          </p:cNvSpPr>
          <p:nvPr>
            <p:ph type="sldNum" sz="quarter" idx="12"/>
          </p:nvPr>
        </p:nvSpPr>
        <p:spPr/>
        <p:txBody>
          <a:bodyPr/>
          <a:lstStyle/>
          <a:p>
            <a:r>
              <a:rPr lang="en-US" dirty="0"/>
              <a:t>6</a:t>
            </a:r>
          </a:p>
        </p:txBody>
      </p:sp>
    </p:spTree>
    <p:extLst>
      <p:ext uri="{BB962C8B-B14F-4D97-AF65-F5344CB8AC3E}">
        <p14:creationId xmlns:p14="http://schemas.microsoft.com/office/powerpoint/2010/main" val="1181064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274F42-BC1C-3B44-D625-B79480BF64DE}"/>
              </a:ext>
            </a:extLst>
          </p:cNvPr>
          <p:cNvSpPr>
            <a:spLocks noGrp="1"/>
          </p:cNvSpPr>
          <p:nvPr>
            <p:ph type="title"/>
          </p:nvPr>
        </p:nvSpPr>
        <p:spPr>
          <a:xfrm>
            <a:off x="645877" y="624970"/>
            <a:ext cx="8596668" cy="887659"/>
          </a:xfrm>
        </p:spPr>
        <p:txBody>
          <a:bodyPr>
            <a:normAutofit/>
          </a:bodyPr>
          <a:lstStyle/>
          <a:p>
            <a:pPr algn="ctr"/>
            <a:r>
              <a:rPr lang="en-US" b="1" dirty="0">
                <a:latin typeface="Arial" panose="020B0604020202020204" pitchFamily="34" charset="0"/>
                <a:cs typeface="Arial" panose="020B0604020202020204" pitchFamily="34" charset="0"/>
              </a:rPr>
              <a:t>Controller Design (Case 3)</a:t>
            </a:r>
            <a:endParaRPr lang="en-US"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95FE4F63-8174-5E4C-8251-0C9C5CF92119}"/>
                  </a:ext>
                </a:extLst>
              </p:cNvPr>
              <p:cNvSpPr>
                <a:spLocks noGrp="1"/>
              </p:cNvSpPr>
              <p:nvPr>
                <p:ph sz="half" idx="2"/>
              </p:nvPr>
            </p:nvSpPr>
            <p:spPr>
              <a:xfrm>
                <a:off x="299581" y="1465680"/>
                <a:ext cx="10528840" cy="5392320"/>
              </a:xfrm>
            </p:spPr>
            <p:txBody>
              <a:bodyPr>
                <a:noAutofit/>
              </a:bodyPr>
              <a:lstStyle/>
              <a:p>
                <a:r>
                  <a:rPr lang="en-US" sz="2000" b="1" dirty="0">
                    <a:latin typeface="Arial" panose="020B0604020202020204" pitchFamily="34" charset="0"/>
                    <a:cs typeface="Arial" panose="020B0604020202020204" pitchFamily="34" charset="0"/>
                  </a:rPr>
                  <a:t>Control Law:</a:t>
                </a:r>
              </a:p>
              <a:p>
                <a:pPr marL="457200" lvl="1"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𝑢</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1</m:t>
                          </m:r>
                        </m:sub>
                      </m:sSub>
                      <m:r>
                        <a:rPr lang="en-US" sz="2000" i="1">
                          <a:latin typeface="Cambria Math" panose="02040503050406030204" pitchFamily="18" charset="0"/>
                        </a:rPr>
                        <m:t>𝑦</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2</m:t>
                          </m:r>
                        </m:sub>
                      </m:sSub>
                      <m:r>
                        <a:rPr lang="en-US" sz="2000" i="1">
                          <a:latin typeface="Cambria Math" panose="02040503050406030204" pitchFamily="18" charset="0"/>
                        </a:rPr>
                        <m:t>𝑦</m:t>
                      </m:r>
                      <m:d>
                        <m:dPr>
                          <m:ctrlPr>
                            <a:rPr lang="en-US" sz="2000" i="1">
                              <a:latin typeface="Cambria Math" panose="02040503050406030204" pitchFamily="18" charset="0"/>
                            </a:rPr>
                          </m:ctrlPr>
                        </m:dPr>
                        <m:e>
                          <m:r>
                            <a:rPr lang="en-US" sz="2000" i="1">
                              <a:latin typeface="Cambria Math" panose="02040503050406030204" pitchFamily="18" charset="0"/>
                            </a:rPr>
                            <m:t>𝑡</m:t>
                          </m:r>
                          <m:r>
                            <a:rPr lang="en-US" sz="2000" i="1">
                              <a:latin typeface="Cambria Math" panose="02040503050406030204" pitchFamily="18" charset="0"/>
                            </a:rPr>
                            <m:t>−</m:t>
                          </m:r>
                          <m:r>
                            <a:rPr lang="en-US" sz="2000" i="1">
                              <a:latin typeface="Cambria Math" panose="02040503050406030204" pitchFamily="18" charset="0"/>
                            </a:rPr>
                            <m:t>𝑑</m:t>
                          </m:r>
                        </m:e>
                      </m:d>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1</m:t>
                          </m:r>
                        </m:sub>
                      </m:sSub>
                      <m:r>
                        <a:rPr lang="en-US" sz="2000" i="1">
                          <a:latin typeface="Cambria Math" panose="02040503050406030204" pitchFamily="18" charset="0"/>
                        </a:rPr>
                        <m:t>𝐶𝑥</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2</m:t>
                          </m:r>
                        </m:sub>
                      </m:sSub>
                      <m:r>
                        <a:rPr lang="en-US" sz="2000" i="1">
                          <a:latin typeface="Cambria Math" panose="02040503050406030204" pitchFamily="18" charset="0"/>
                        </a:rPr>
                        <m:t>𝐶𝑥</m:t>
                      </m:r>
                      <m:d>
                        <m:dPr>
                          <m:ctrlPr>
                            <a:rPr lang="en-US" sz="2000" i="1">
                              <a:latin typeface="Cambria Math" panose="02040503050406030204" pitchFamily="18" charset="0"/>
                            </a:rPr>
                          </m:ctrlPr>
                        </m:dPr>
                        <m:e>
                          <m:r>
                            <a:rPr lang="en-US" sz="2000" i="1">
                              <a:latin typeface="Cambria Math" panose="02040503050406030204" pitchFamily="18" charset="0"/>
                            </a:rPr>
                            <m:t>𝑡</m:t>
                          </m:r>
                          <m:r>
                            <a:rPr lang="en-US" sz="2000" i="1">
                              <a:latin typeface="Cambria Math" panose="02040503050406030204" pitchFamily="18" charset="0"/>
                            </a:rPr>
                            <m:t>−</m:t>
                          </m:r>
                          <m:r>
                            <a:rPr lang="en-US" sz="2000" i="1">
                              <a:latin typeface="Cambria Math" panose="02040503050406030204" pitchFamily="18" charset="0"/>
                            </a:rPr>
                            <m:t>𝑑</m:t>
                          </m:r>
                        </m:e>
                      </m:d>
                      <m:r>
                        <a:rPr lang="en-US" sz="2000">
                          <a:latin typeface="Cambria Math" panose="02040503050406030204" pitchFamily="18" charset="0"/>
                        </a:rPr>
                        <m:t>.</m:t>
                      </m:r>
                    </m:oMath>
                  </m:oMathPara>
                </a14:m>
                <a:endParaRPr lang="en-US" sz="2000" dirty="0">
                  <a:latin typeface="Arial" panose="020B0604020202020204" pitchFamily="34" charset="0"/>
                  <a:cs typeface="Arial" panose="020B0604020202020204" pitchFamily="34" charset="0"/>
                </a:endParaRPr>
              </a:p>
              <a:p>
                <a:pPr lvl="1">
                  <a:buFont typeface="Courier New" panose="02070309020205020404" pitchFamily="49" charset="0"/>
                  <a:buChar char="o"/>
                </a:pPr>
                <a:r>
                  <a:rPr lang="en-US" sz="1800" dirty="0">
                    <a:latin typeface="Arial" panose="020B0604020202020204" pitchFamily="34" charset="0"/>
                    <a:cs typeface="Arial" panose="020B0604020202020204" pitchFamily="34" charset="0"/>
                  </a:rPr>
                  <a:t>Uses Current Output </a:t>
                </a:r>
                <a14:m>
                  <m:oMath xmlns:m="http://schemas.openxmlformats.org/officeDocument/2006/math">
                    <m:r>
                      <a:rPr lang="en-US" sz="1800" i="1">
                        <a:latin typeface="Cambria Math" panose="02040503050406030204" pitchFamily="18" charset="0"/>
                      </a:rPr>
                      <m:t>𝑦</m:t>
                    </m:r>
                    <m:d>
                      <m:dPr>
                        <m:ctrlPr>
                          <a:rPr lang="en-US" sz="1800" i="1">
                            <a:latin typeface="Cambria Math" panose="02040503050406030204" pitchFamily="18" charset="0"/>
                          </a:rPr>
                        </m:ctrlPr>
                      </m:dPr>
                      <m:e>
                        <m:r>
                          <a:rPr lang="en-US" sz="1800" i="1">
                            <a:latin typeface="Cambria Math" panose="02040503050406030204" pitchFamily="18" charset="0"/>
                          </a:rPr>
                          <m:t>𝑡</m:t>
                        </m:r>
                      </m:e>
                    </m:d>
                  </m:oMath>
                </a14:m>
                <a:r>
                  <a:rPr lang="en-US" sz="1800" dirty="0">
                    <a:latin typeface="Arial" panose="020B0604020202020204" pitchFamily="34" charset="0"/>
                    <a:cs typeface="Arial" panose="020B0604020202020204" pitchFamily="34" charset="0"/>
                  </a:rPr>
                  <a:t> and Delayed Output </a:t>
                </a:r>
                <a14:m>
                  <m:oMath xmlns:m="http://schemas.openxmlformats.org/officeDocument/2006/math">
                    <m:r>
                      <a:rPr lang="en-US" sz="1800" i="1">
                        <a:latin typeface="Cambria Math" panose="02040503050406030204" pitchFamily="18" charset="0"/>
                      </a:rPr>
                      <m:t>𝑦</m:t>
                    </m:r>
                    <m:d>
                      <m:dPr>
                        <m:ctrlPr>
                          <a:rPr lang="en-US" sz="1800" i="1">
                            <a:latin typeface="Cambria Math" panose="02040503050406030204" pitchFamily="18" charset="0"/>
                          </a:rPr>
                        </m:ctrlPr>
                      </m:dPr>
                      <m:e>
                        <m:r>
                          <a:rPr lang="en-US" sz="1800" i="1">
                            <a:latin typeface="Cambria Math" panose="02040503050406030204" pitchFamily="18" charset="0"/>
                          </a:rPr>
                          <m:t>𝑡</m:t>
                        </m:r>
                        <m:r>
                          <a:rPr lang="en-US" sz="1800" i="1">
                            <a:latin typeface="Cambria Math" panose="02040503050406030204" pitchFamily="18" charset="0"/>
                          </a:rPr>
                          <m:t>−</m:t>
                        </m:r>
                        <m:r>
                          <a:rPr lang="en-US" sz="1800" i="1">
                            <a:latin typeface="Cambria Math" panose="02040503050406030204" pitchFamily="18" charset="0"/>
                          </a:rPr>
                          <m:t>𝑑</m:t>
                        </m:r>
                      </m:e>
                    </m:d>
                  </m:oMath>
                </a14:m>
                <a:endParaRPr lang="en-US" sz="18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Scenario: Case 3 (</a:t>
                </a:r>
                <a:r>
                  <a:rPr lang="en-US" sz="2000" b="1" i="1" dirty="0">
                    <a:latin typeface="Arial" panose="020B0604020202020204" pitchFamily="34" charset="0"/>
                    <a:cs typeface="Arial" panose="020B0604020202020204" pitchFamily="34" charset="0"/>
                  </a:rPr>
                  <a:t>h = d</a:t>
                </a:r>
                <a:r>
                  <a:rPr lang="en-US" sz="2000" b="1" dirty="0">
                    <a:latin typeface="Arial" panose="020B0604020202020204" pitchFamily="34" charset="0"/>
                    <a:cs typeface="Arial" panose="020B0604020202020204" pitchFamily="34" charset="0"/>
                  </a:rPr>
                  <a:t>)</a:t>
                </a:r>
              </a:p>
              <a:p>
                <a:pPr lvl="1">
                  <a:buFont typeface="Courier New" panose="02070309020205020404" pitchFamily="49" charset="0"/>
                  <a:buChar char="o"/>
                </a:pPr>
                <a:r>
                  <a:rPr lang="en-US" sz="1800" dirty="0">
                    <a:latin typeface="Arial" panose="020B0604020202020204" pitchFamily="34" charset="0"/>
                    <a:cs typeface="Arial" panose="020B0604020202020204" pitchFamily="34" charset="0"/>
                  </a:rPr>
                  <a:t>We focus on the realistic scenario where Input Delay equals State Delay (</a:t>
                </a:r>
                <a:r>
                  <a:rPr lang="en-US" sz="1800" i="1" dirty="0">
                    <a:latin typeface="Arial" panose="020B0604020202020204" pitchFamily="34" charset="0"/>
                    <a:cs typeface="Arial" panose="020B0604020202020204" pitchFamily="34" charset="0"/>
                  </a:rPr>
                  <a:t>h=d</a:t>
                </a:r>
                <a:r>
                  <a:rPr lang="en-US" sz="1800" dirty="0">
                    <a:latin typeface="Arial" panose="020B0604020202020204" pitchFamily="34" charset="0"/>
                    <a:cs typeface="Arial" panose="020B0604020202020204" pitchFamily="34" charset="0"/>
                  </a:rPr>
                  <a:t>).</a:t>
                </a:r>
              </a:p>
              <a:p>
                <a:pPr lvl="1">
                  <a:buFont typeface="Courier New" panose="02070309020205020404" pitchFamily="49" charset="0"/>
                  <a:buChar char="o"/>
                </a:pPr>
                <a:r>
                  <a:rPr lang="en-US" sz="1800" dirty="0">
                    <a:latin typeface="Arial" panose="020B0604020202020204" pitchFamily="34" charset="0"/>
                    <a:cs typeface="Arial" panose="020B0604020202020204" pitchFamily="34" charset="0"/>
                  </a:rPr>
                  <a:t>The control signal experiences the same RTT delay as the state measurements3131.</a:t>
                </a:r>
              </a:p>
              <a:p>
                <a:r>
                  <a:rPr lang="en-US" sz="2000" b="1" dirty="0">
                    <a:latin typeface="Arial" panose="020B0604020202020204" pitchFamily="34" charset="0"/>
                    <a:cs typeface="Arial" panose="020B0604020202020204" pitchFamily="34" charset="0"/>
                  </a:rPr>
                  <a:t>Objective:</a:t>
                </a:r>
              </a:p>
              <a:p>
                <a:pPr lvl="1">
                  <a:buFont typeface="Courier New" panose="02070309020205020404" pitchFamily="49" charset="0"/>
                  <a:buChar char="o"/>
                </a:pPr>
                <a:r>
                  <a:rPr lang="en-US" sz="1800" dirty="0">
                    <a:latin typeface="Arial" panose="020B0604020202020204" pitchFamily="34" charset="0"/>
                    <a:cs typeface="Arial" panose="020B0604020202020204" pitchFamily="34" charset="0"/>
                  </a:rPr>
                  <a:t>Find gains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𝐹</m:t>
                        </m:r>
                      </m:e>
                      <m:sub>
                        <m:r>
                          <a:rPr lang="en-US" sz="1800" i="1">
                            <a:latin typeface="Cambria Math" panose="02040503050406030204" pitchFamily="18" charset="0"/>
                          </a:rPr>
                          <m:t>1</m:t>
                        </m:r>
                      </m:sub>
                    </m:sSub>
                  </m:oMath>
                </a14:m>
                <a:r>
                  <a:rPr lang="en-US" sz="1800" dirty="0">
                    <a:latin typeface="Arial" panose="020B0604020202020204" pitchFamily="34" charset="0"/>
                    <a:cs typeface="Arial" panose="020B0604020202020204" pitchFamily="34" charset="0"/>
                  </a:rPr>
                  <a:t> and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𝐹</m:t>
                        </m:r>
                      </m:e>
                      <m:sub>
                        <m:r>
                          <a:rPr lang="en-US" sz="1800" i="1">
                            <a:latin typeface="Cambria Math" panose="02040503050406030204" pitchFamily="18" charset="0"/>
                          </a:rPr>
                          <m:t>2</m:t>
                        </m:r>
                      </m:sub>
                    </m:sSub>
                  </m:oMath>
                </a14:m>
                <a:r>
                  <a:rPr lang="en-US" sz="1800" dirty="0">
                    <a:latin typeface="Arial" panose="020B0604020202020204" pitchFamily="34" charset="0"/>
                    <a:cs typeface="Arial" panose="020B0604020202020204" pitchFamily="34" charset="0"/>
                  </a:rPr>
                  <a:t> to guarantee stability and minimize disturbance impact.</a:t>
                </a:r>
              </a:p>
              <a:p>
                <a:pPr lvl="1">
                  <a:buFont typeface="Courier New" panose="02070309020205020404" pitchFamily="49" charset="0"/>
                  <a:buChar char="o"/>
                </a:pPr>
                <a:r>
                  <a:rPr lang="en-US" dirty="0"/>
                  <a:t>Performance objective (paper Eq.(9))</a:t>
                </a:r>
              </a:p>
              <a:p>
                <a:pPr marL="457200" lvl="1" indent="0">
                  <a:buNone/>
                </a:pPr>
                <a14:m>
                  <m:oMathPara xmlns:m="http://schemas.openxmlformats.org/officeDocument/2006/math">
                    <m:oMathParaPr>
                      <m:jc m:val="centerGroup"/>
                    </m:oMathParaPr>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𝐽</m:t>
                          </m:r>
                        </m:e>
                        <m:sub>
                          <m:r>
                            <a:rPr lang="en-US" sz="2000">
                              <a:latin typeface="Cambria Math" panose="02040503050406030204" pitchFamily="18" charset="0"/>
                            </a:rPr>
                            <m:t>∞</m:t>
                          </m:r>
                        </m:sub>
                      </m:sSub>
                      <m:r>
                        <a:rPr lang="en-US" sz="2000">
                          <a:latin typeface="Cambria Math" panose="02040503050406030204" pitchFamily="18" charset="0"/>
                        </a:rPr>
                        <m:t>=</m:t>
                      </m:r>
                      <m:nary>
                        <m:naryPr>
                          <m:limLoc m:val="subSup"/>
                          <m:ctrlPr>
                            <a:rPr lang="en-US" sz="2000" i="1">
                              <a:latin typeface="Cambria Math" panose="02040503050406030204" pitchFamily="18" charset="0"/>
                            </a:rPr>
                          </m:ctrlPr>
                        </m:naryPr>
                        <m:sub>
                          <m:r>
                            <a:rPr lang="en-US" sz="2000" i="1">
                              <a:latin typeface="Cambria Math" panose="02040503050406030204" pitchFamily="18" charset="0"/>
                            </a:rPr>
                            <m:t>0</m:t>
                          </m:r>
                        </m:sub>
                        <m:sup>
                          <m:r>
                            <a:rPr lang="en-US" sz="2000">
                              <a:latin typeface="Cambria Math" panose="02040503050406030204" pitchFamily="18" charset="0"/>
                            </a:rPr>
                            <m:t>∞</m:t>
                          </m:r>
                        </m:sup>
                        <m:e>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𝑧</m:t>
                                  </m:r>
                                </m:e>
                                <m:sup>
                                  <m:r>
                                    <a:rPr lang="en-US" sz="2000" i="1">
                                      <a:latin typeface="Cambria Math" panose="02040503050406030204" pitchFamily="18" charset="0"/>
                                    </a:rPr>
                                    <m:t>𝑇</m:t>
                                  </m:r>
                                </m:sup>
                              </m:sSup>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𝑧</m:t>
                              </m:r>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𝛾</m:t>
                                  </m:r>
                                </m:e>
                                <m:sup>
                                  <m:r>
                                    <a:rPr lang="en-US" sz="2000" i="1">
                                      <a:latin typeface="Cambria Math" panose="02040503050406030204" pitchFamily="18" charset="0"/>
                                    </a:rPr>
                                    <m:t>2</m:t>
                                  </m:r>
                                </m:sup>
                              </m:sSup>
                              <m:sSup>
                                <m:sSupPr>
                                  <m:ctrlPr>
                                    <a:rPr lang="en-US" sz="2000" i="1">
                                      <a:latin typeface="Cambria Math" panose="02040503050406030204" pitchFamily="18" charset="0"/>
                                    </a:rPr>
                                  </m:ctrlPr>
                                </m:sSupPr>
                                <m:e>
                                  <m:r>
                                    <a:rPr lang="en-US" sz="2000" i="1">
                                      <a:latin typeface="Cambria Math" panose="02040503050406030204" pitchFamily="18" charset="0"/>
                                    </a:rPr>
                                    <m:t>𝜔</m:t>
                                  </m:r>
                                </m:e>
                                <m:sup>
                                  <m:r>
                                    <a:rPr lang="en-US" sz="2000" i="1">
                                      <a:latin typeface="Cambria Math" panose="02040503050406030204" pitchFamily="18" charset="0"/>
                                    </a:rPr>
                                    <m:t>𝑇</m:t>
                                  </m:r>
                                </m:sup>
                              </m:sSup>
                              <m:d>
                                <m:dPr>
                                  <m:ctrlPr>
                                    <a:rPr lang="en-US" sz="2000" i="1">
                                      <a:latin typeface="Cambria Math" panose="02040503050406030204" pitchFamily="18" charset="0"/>
                                    </a:rPr>
                                  </m:ctrlPr>
                                </m:dPr>
                                <m:e>
                                  <m:r>
                                    <a:rPr lang="en-US" sz="2000" i="1">
                                      <a:latin typeface="Cambria Math" panose="02040503050406030204" pitchFamily="18" charset="0"/>
                                    </a:rPr>
                                    <m:t>𝑡</m:t>
                                  </m:r>
                                </m:e>
                              </m:d>
                              <m:r>
                                <a:rPr lang="en-US" sz="2000" i="1">
                                  <a:latin typeface="Cambria Math" panose="02040503050406030204" pitchFamily="18" charset="0"/>
                                </a:rPr>
                                <m:t>𝜔</m:t>
                              </m:r>
                              <m:d>
                                <m:dPr>
                                  <m:ctrlPr>
                                    <a:rPr lang="en-US" sz="2000" i="1">
                                      <a:latin typeface="Cambria Math" panose="02040503050406030204" pitchFamily="18" charset="0"/>
                                    </a:rPr>
                                  </m:ctrlPr>
                                </m:dPr>
                                <m:e>
                                  <m:r>
                                    <a:rPr lang="en-US" sz="2000" i="1">
                                      <a:latin typeface="Cambria Math" panose="02040503050406030204" pitchFamily="18" charset="0"/>
                                    </a:rPr>
                                    <m:t>𝑡</m:t>
                                  </m:r>
                                </m:e>
                              </m:d>
                            </m:e>
                          </m:d>
                        </m:e>
                      </m:nary>
                      <m:r>
                        <a:rPr lang="en-US" sz="2000" i="1">
                          <a:latin typeface="Cambria Math" panose="02040503050406030204" pitchFamily="18" charset="0"/>
                        </a:rPr>
                        <m:t> </m:t>
                      </m:r>
                      <m:r>
                        <a:rPr lang="en-US" sz="2000" i="1">
                          <a:latin typeface="Cambria Math" panose="02040503050406030204" pitchFamily="18" charset="0"/>
                        </a:rPr>
                        <m:t>𝑑𝑡</m:t>
                      </m:r>
                      <m:r>
                        <a:rPr lang="en-US" sz="2000">
                          <a:latin typeface="Cambria Math" panose="02040503050406030204" pitchFamily="18" charset="0"/>
                        </a:rPr>
                        <m:t>&lt;</m:t>
                      </m:r>
                      <m:r>
                        <a:rPr lang="en-US" sz="2000" i="1">
                          <a:latin typeface="Cambria Math" panose="02040503050406030204" pitchFamily="18" charset="0"/>
                        </a:rPr>
                        <m:t>0</m:t>
                      </m:r>
                    </m:oMath>
                  </m:oMathPara>
                </a14:m>
                <a:endParaRPr lang="en-US" sz="1800" dirty="0"/>
              </a:p>
              <a:p>
                <a:pPr lvl="1">
                  <a:buFont typeface="Courier New" panose="02070309020205020404" pitchFamily="49" charset="0"/>
                  <a:buChar char="o"/>
                </a:pPr>
                <a:r>
                  <a:rPr lang="en-US" dirty="0"/>
                  <a:t>equivalently require the dissipation inequality (bounded-real form):</a:t>
                </a:r>
              </a:p>
              <a:p>
                <a:pPr marL="457200" lvl="1" indent="0">
                  <a:buNone/>
                </a:pPr>
                <a14:m>
                  <m:oMathPara xmlns:m="http://schemas.openxmlformats.org/officeDocument/2006/math">
                    <m:oMathParaPr>
                      <m:jc m:val="centerGroup"/>
                    </m:oMathParaPr>
                    <m:oMath xmlns:m="http://schemas.openxmlformats.org/officeDocument/2006/math">
                      <m:acc>
                        <m:accPr>
                          <m:chr m:val="̇"/>
                          <m:ctrlPr>
                            <a:rPr lang="en-US" sz="2000" i="1">
                              <a:latin typeface="Cambria Math" panose="02040503050406030204" pitchFamily="18" charset="0"/>
                            </a:rPr>
                          </m:ctrlPr>
                        </m:accPr>
                        <m:e>
                          <m:r>
                            <a:rPr lang="en-US" sz="2000" i="1">
                              <a:latin typeface="Cambria Math" panose="02040503050406030204" pitchFamily="18" charset="0"/>
                            </a:rPr>
                            <m:t>𝑉</m:t>
                          </m:r>
                        </m:e>
                      </m:acc>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𝑡</m:t>
                              </m:r>
                            </m:sub>
                          </m:sSub>
                        </m:e>
                      </m:d>
                      <m:r>
                        <a:rPr lang="en-US" sz="200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𝑧</m:t>
                          </m:r>
                        </m:e>
                        <m:sup>
                          <m:r>
                            <a:rPr lang="en-US" sz="2000" i="1">
                              <a:latin typeface="Cambria Math" panose="02040503050406030204" pitchFamily="18" charset="0"/>
                            </a:rPr>
                            <m:t>𝑇</m:t>
                          </m:r>
                        </m:sup>
                      </m:sSup>
                      <m:r>
                        <a:rPr lang="en-US" sz="2000" i="1">
                          <a:latin typeface="Cambria Math" panose="02040503050406030204" pitchFamily="18" charset="0"/>
                        </a:rPr>
                        <m:t>𝑧</m:t>
                      </m:r>
                      <m:r>
                        <a:rPr lang="en-US" sz="2000" i="1">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𝛾</m:t>
                          </m:r>
                        </m:e>
                        <m:sup>
                          <m:r>
                            <a:rPr lang="en-US" sz="2000" i="1">
                              <a:latin typeface="Cambria Math" panose="02040503050406030204" pitchFamily="18" charset="0"/>
                            </a:rPr>
                            <m:t>2</m:t>
                          </m:r>
                        </m:sup>
                      </m:sSup>
                      <m:sSup>
                        <m:sSupPr>
                          <m:ctrlPr>
                            <a:rPr lang="en-US" sz="2000" i="1">
                              <a:latin typeface="Cambria Math" panose="02040503050406030204" pitchFamily="18" charset="0"/>
                            </a:rPr>
                          </m:ctrlPr>
                        </m:sSupPr>
                        <m:e>
                          <m:r>
                            <a:rPr lang="en-US" sz="2000" i="1">
                              <a:latin typeface="Cambria Math" panose="02040503050406030204" pitchFamily="18" charset="0"/>
                            </a:rPr>
                            <m:t>𝜔</m:t>
                          </m:r>
                        </m:e>
                        <m:sup>
                          <m:r>
                            <a:rPr lang="en-US" sz="2000" i="1">
                              <a:latin typeface="Cambria Math" panose="02040503050406030204" pitchFamily="18" charset="0"/>
                            </a:rPr>
                            <m:t>𝑇</m:t>
                          </m:r>
                        </m:sup>
                      </m:sSup>
                      <m:r>
                        <a:rPr lang="en-US" sz="2000" i="1">
                          <a:latin typeface="Cambria Math" panose="02040503050406030204" pitchFamily="18" charset="0"/>
                        </a:rPr>
                        <m:t>𝜔</m:t>
                      </m:r>
                      <m:r>
                        <a:rPr lang="en-US" sz="2000">
                          <a:latin typeface="Cambria Math" panose="02040503050406030204" pitchFamily="18" charset="0"/>
                        </a:rPr>
                        <m:t>&lt;</m:t>
                      </m:r>
                      <m:r>
                        <a:rPr lang="en-US" sz="2000" i="1">
                          <a:latin typeface="Cambria Math" panose="02040503050406030204" pitchFamily="18" charset="0"/>
                        </a:rPr>
                        <m:t>0</m:t>
                      </m:r>
                    </m:oMath>
                  </m:oMathPara>
                </a14:m>
                <a:endParaRPr lang="en-US" sz="2000" dirty="0"/>
              </a:p>
              <a:p>
                <a:pPr lvl="1">
                  <a:buFont typeface="Courier New" panose="02070309020205020404" pitchFamily="49" charset="0"/>
                  <a:buChar char="o"/>
                </a:pPr>
                <a:endParaRPr lang="en-US" dirty="0"/>
              </a:p>
              <a:p>
                <a:pPr marL="457200" lvl="1" indent="0">
                  <a:buNone/>
                </a:pPr>
                <a:endParaRPr lang="en-US" dirty="0"/>
              </a:p>
              <a:p>
                <a:pPr lvl="1">
                  <a:buFont typeface="Courier New" panose="02070309020205020404" pitchFamily="49" charset="0"/>
                  <a:buChar char="o"/>
                </a:pPr>
                <a:endParaRPr lang="en-US" sz="1800" dirty="0">
                  <a:latin typeface="Arial" panose="020B0604020202020204" pitchFamily="34" charset="0"/>
                  <a:cs typeface="Arial" panose="020B0604020202020204" pitchFamily="34" charset="0"/>
                </a:endParaRPr>
              </a:p>
            </p:txBody>
          </p:sp>
        </mc:Choice>
        <mc:Fallback xmlns="">
          <p:sp>
            <p:nvSpPr>
              <p:cNvPr id="4" name="Content Placeholder 3">
                <a:extLst>
                  <a:ext uri="{FF2B5EF4-FFF2-40B4-BE49-F238E27FC236}">
                    <a16:creationId xmlns:a16="http://schemas.microsoft.com/office/drawing/2014/main" id="{95FE4F63-8174-5E4C-8251-0C9C5CF92119}"/>
                  </a:ext>
                </a:extLst>
              </p:cNvPr>
              <p:cNvSpPr>
                <a:spLocks noGrp="1" noRot="1" noChangeAspect="1" noMove="1" noResize="1" noEditPoints="1" noAdjustHandles="1" noChangeArrowheads="1" noChangeShapeType="1" noTextEdit="1"/>
              </p:cNvSpPr>
              <p:nvPr>
                <p:ph sz="half" idx="2"/>
              </p:nvPr>
            </p:nvSpPr>
            <p:spPr>
              <a:xfrm>
                <a:off x="299581" y="1465680"/>
                <a:ext cx="10528840" cy="5392320"/>
              </a:xfrm>
              <a:blipFill>
                <a:blip r:embed="rId3"/>
                <a:stretch>
                  <a:fillRect l="-232" t="-452"/>
                </a:stretch>
              </a:blipFill>
            </p:spPr>
            <p:txBody>
              <a:bodyPr/>
              <a:lstStyle/>
              <a:p>
                <a:r>
                  <a:rPr lang="en-US">
                    <a:noFill/>
                  </a:rPr>
                  <a:t> </a:t>
                </a:r>
              </a:p>
            </p:txBody>
          </p:sp>
        </mc:Fallback>
      </mc:AlternateContent>
      <p:sp>
        <p:nvSpPr>
          <p:cNvPr id="6" name="Content Placeholder 3">
            <a:extLst>
              <a:ext uri="{FF2B5EF4-FFF2-40B4-BE49-F238E27FC236}">
                <a16:creationId xmlns:a16="http://schemas.microsoft.com/office/drawing/2014/main" id="{5D753F6A-6173-9612-9615-324CAD1FA1B0}"/>
              </a:ext>
            </a:extLst>
          </p:cNvPr>
          <p:cNvSpPr txBox="1">
            <a:spLocks/>
          </p:cNvSpPr>
          <p:nvPr/>
        </p:nvSpPr>
        <p:spPr>
          <a:xfrm>
            <a:off x="187283" y="4207555"/>
            <a:ext cx="7047705"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F89EC301-E9A0-E322-253D-758BFB828EC2}"/>
              </a:ext>
            </a:extLst>
          </p:cNvPr>
          <p:cNvSpPr>
            <a:spLocks noGrp="1"/>
          </p:cNvSpPr>
          <p:nvPr>
            <p:ph type="sldNum" sz="quarter" idx="12"/>
          </p:nvPr>
        </p:nvSpPr>
        <p:spPr>
          <a:xfrm>
            <a:off x="7795578" y="6141113"/>
            <a:ext cx="1096432" cy="716887"/>
          </a:xfrm>
        </p:spPr>
        <p:txBody>
          <a:bodyPr/>
          <a:lstStyle/>
          <a:p>
            <a:r>
              <a:rPr lang="en-US" dirty="0"/>
              <a:t>7</a:t>
            </a:r>
          </a:p>
        </p:txBody>
      </p:sp>
    </p:spTree>
    <p:extLst>
      <p:ext uri="{BB962C8B-B14F-4D97-AF65-F5344CB8AC3E}">
        <p14:creationId xmlns:p14="http://schemas.microsoft.com/office/powerpoint/2010/main" val="2162452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500"/>
                                        <p:tgtEl>
                                          <p:spTgt spid="4">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4">
                                            <p:txEl>
                                              <p:pRg st="8" end="8"/>
                                            </p:txEl>
                                          </p:spTgt>
                                        </p:tgtEl>
                                        <p:attrNameLst>
                                          <p:attrName>style.visibility</p:attrName>
                                        </p:attrNameLst>
                                      </p:cBhvr>
                                      <p:to>
                                        <p:strVal val="visible"/>
                                      </p:to>
                                    </p:set>
                                    <p:animEffect transition="in" filter="fade">
                                      <p:cBhvr>
                                        <p:cTn id="47" dur="500"/>
                                        <p:tgtEl>
                                          <p:spTgt spid="4">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4">
                                            <p:txEl>
                                              <p:pRg st="9" end="9"/>
                                            </p:txEl>
                                          </p:spTgt>
                                        </p:tgtEl>
                                        <p:attrNameLst>
                                          <p:attrName>style.visibility</p:attrName>
                                        </p:attrNameLst>
                                      </p:cBhvr>
                                      <p:to>
                                        <p:strVal val="visible"/>
                                      </p:to>
                                    </p:set>
                                    <p:animEffect transition="in" filter="fade">
                                      <p:cBhvr>
                                        <p:cTn id="52" dur="500"/>
                                        <p:tgtEl>
                                          <p:spTgt spid="4">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4">
                                            <p:txEl>
                                              <p:pRg st="10" end="10"/>
                                            </p:txEl>
                                          </p:spTgt>
                                        </p:tgtEl>
                                        <p:attrNameLst>
                                          <p:attrName>style.visibility</p:attrName>
                                        </p:attrNameLst>
                                      </p:cBhvr>
                                      <p:to>
                                        <p:strVal val="visible"/>
                                      </p:to>
                                    </p:set>
                                    <p:animEffect transition="in" filter="fade">
                                      <p:cBhvr>
                                        <p:cTn id="57" dur="500"/>
                                        <p:tgtEl>
                                          <p:spTgt spid="4">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4">
                                            <p:txEl>
                                              <p:pRg st="11" end="11"/>
                                            </p:txEl>
                                          </p:spTgt>
                                        </p:tgtEl>
                                        <p:attrNameLst>
                                          <p:attrName>style.visibility</p:attrName>
                                        </p:attrNameLst>
                                      </p:cBhvr>
                                      <p:to>
                                        <p:strVal val="visible"/>
                                      </p:to>
                                    </p:set>
                                    <p:animEffect transition="in" filter="fade">
                                      <p:cBhvr>
                                        <p:cTn id="62"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69A2EB-25C9-C924-D720-973E6EADB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9AF660-25DC-F7DC-FEB0-AAAE04DF5004}"/>
              </a:ext>
            </a:extLst>
          </p:cNvPr>
          <p:cNvSpPr>
            <a:spLocks noGrp="1"/>
          </p:cNvSpPr>
          <p:nvPr>
            <p:ph type="title"/>
          </p:nvPr>
        </p:nvSpPr>
        <p:spPr>
          <a:xfrm>
            <a:off x="645877" y="624970"/>
            <a:ext cx="8596668" cy="887659"/>
          </a:xfrm>
        </p:spPr>
        <p:txBody>
          <a:bodyPr>
            <a:normAutofit/>
          </a:bodyPr>
          <a:lstStyle/>
          <a:p>
            <a:pPr algn="ctr"/>
            <a:r>
              <a:rPr lang="en-US" b="1" dirty="0">
                <a:latin typeface="Arial" panose="020B0604020202020204" pitchFamily="34" charset="0"/>
                <a:cs typeface="Arial" panose="020B0604020202020204" pitchFamily="34" charset="0"/>
              </a:rPr>
              <a:t>Theoretical Framework (LMI)</a:t>
            </a:r>
            <a:endParaRPr lang="en-US" dirty="0">
              <a:latin typeface="Arial" panose="020B0604020202020204" pitchFamily="34" charset="0"/>
              <a:cs typeface="Arial" panose="020B0604020202020204" pitchFamily="34" charset="0"/>
            </a:endParaRPr>
          </a:p>
        </p:txBody>
      </p:sp>
      <p:sp>
        <p:nvSpPr>
          <p:cNvPr id="6" name="Content Placeholder 3">
            <a:extLst>
              <a:ext uri="{FF2B5EF4-FFF2-40B4-BE49-F238E27FC236}">
                <a16:creationId xmlns:a16="http://schemas.microsoft.com/office/drawing/2014/main" id="{9DCDD505-B041-E275-77D3-DF90739734AB}"/>
              </a:ext>
            </a:extLst>
          </p:cNvPr>
          <p:cNvSpPr txBox="1">
            <a:spLocks/>
          </p:cNvSpPr>
          <p:nvPr/>
        </p:nvSpPr>
        <p:spPr>
          <a:xfrm>
            <a:off x="187283" y="4207555"/>
            <a:ext cx="7047705"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9" name="Content Placeholder 3">
                <a:extLst>
                  <a:ext uri="{FF2B5EF4-FFF2-40B4-BE49-F238E27FC236}">
                    <a16:creationId xmlns:a16="http://schemas.microsoft.com/office/drawing/2014/main" id="{0D89C9B8-EEAE-0B37-260C-1FB47319ED74}"/>
                  </a:ext>
                </a:extLst>
              </p:cNvPr>
              <p:cNvSpPr>
                <a:spLocks noGrp="1"/>
              </p:cNvSpPr>
              <p:nvPr>
                <p:ph sz="half" idx="2"/>
              </p:nvPr>
            </p:nvSpPr>
            <p:spPr>
              <a:xfrm>
                <a:off x="299581" y="1465680"/>
                <a:ext cx="10528840" cy="5392320"/>
              </a:xfrm>
            </p:spPr>
            <p:txBody>
              <a:bodyPr>
                <a:noAutofit/>
              </a:bodyPr>
              <a:lstStyle/>
              <a:p>
                <a:r>
                  <a:rPr lang="en-US" sz="2000" b="1" dirty="0"/>
                  <a:t>Lyapunov-</a:t>
                </a:r>
                <a:r>
                  <a:rPr lang="en-US" sz="2000" b="1" dirty="0" err="1"/>
                  <a:t>Krasovskii</a:t>
                </a:r>
                <a:r>
                  <a:rPr lang="en-US" sz="2000" b="1" dirty="0"/>
                  <a:t> Function:</a:t>
                </a:r>
              </a:p>
              <a:p>
                <a:pPr lvl="1">
                  <a:buFont typeface="Courier New" panose="02070309020205020404" pitchFamily="49" charset="0"/>
                  <a:buChar char="o"/>
                </a:pPr>
                <a:r>
                  <a:rPr lang="en-US" sz="1800" dirty="0"/>
                  <a:t>Selected to prove asymptotic stability for delays at d and 2d. </a:t>
                </a:r>
                <a:endParaRPr lang="en-US" sz="2000" b="1" dirty="0"/>
              </a:p>
              <a:p>
                <a:pPr marL="0" indent="0">
                  <a:buNone/>
                </a:pPr>
                <a14:m>
                  <m:oMathPara xmlns:m="http://schemas.openxmlformats.org/officeDocument/2006/math">
                    <m:oMathParaPr>
                      <m:jc m:val="centerGroup"/>
                    </m:oMathParaPr>
                    <m:oMath xmlns:m="http://schemas.openxmlformats.org/officeDocument/2006/math">
                      <m:borderBox>
                        <m:borderBoxPr>
                          <m:ctrlPr>
                            <a:rPr lang="en-US" i="1">
                              <a:latin typeface="Cambria Math" panose="02040503050406030204" pitchFamily="18" charset="0"/>
                            </a:rPr>
                          </m:ctrlPr>
                        </m:borderBoxPr>
                        <m:e>
                          <m:r>
                            <a:rPr lang="en-US" i="1">
                              <a:latin typeface="Cambria Math" panose="02040503050406030204" pitchFamily="18" charset="0"/>
                            </a:rPr>
                            <m:t>𝑉</m:t>
                          </m:r>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𝑥</m:t>
                                  </m:r>
                                </m:e>
                                <m:sub>
                                  <m:r>
                                    <a:rPr lang="en-US" i="1">
                                      <a:latin typeface="Cambria Math" panose="02040503050406030204" pitchFamily="18" charset="0"/>
                                    </a:rPr>
                                    <m:t>𝑡</m:t>
                                  </m:r>
                                </m:sub>
                              </m:sSub>
                            </m:e>
                          </m:d>
                          <m:r>
                            <a:rPr lang="en-US" i="1">
                              <a:latin typeface="Cambria Math" panose="02040503050406030204" pitchFamily="18" charset="0"/>
                            </a:rPr>
                            <m:t> </m:t>
                          </m:r>
                          <m:r>
                            <a:rPr lang="en-US">
                              <a:latin typeface="Cambria Math" panose="02040503050406030204" pitchFamily="18" charset="0"/>
                            </a:rPr>
                            <m:t>=</m:t>
                          </m:r>
                          <m:r>
                            <a:rPr lang="en-US" i="1">
                              <a:latin typeface="Cambria Math" panose="02040503050406030204" pitchFamily="18" charset="0"/>
                            </a:rPr>
                            <m:t> </m:t>
                          </m:r>
                          <m:r>
                            <a:rPr lang="en-US" i="1">
                              <a:latin typeface="Cambria Math" panose="02040503050406030204" pitchFamily="18" charset="0"/>
                            </a:rPr>
                            <m:t>𝑥</m:t>
                          </m:r>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𝑡</m:t>
                                  </m:r>
                                </m:e>
                              </m:d>
                            </m:e>
                            <m:sup>
                              <m:r>
                                <a:rPr lang="en-US" i="1">
                                  <a:latin typeface="Cambria Math" panose="02040503050406030204" pitchFamily="18" charset="0"/>
                                </a:rPr>
                                <m:t>𝑇</m:t>
                              </m:r>
                            </m:sup>
                          </m:sSup>
                          <m:r>
                            <a:rPr lang="en-US" i="1">
                              <a:latin typeface="Cambria Math" panose="02040503050406030204" pitchFamily="18" charset="0"/>
                            </a:rPr>
                            <m:t>𝑃𝑥</m:t>
                          </m:r>
                          <m:d>
                            <m:dPr>
                              <m:ctrlPr>
                                <a:rPr lang="en-US" i="1">
                                  <a:latin typeface="Cambria Math" panose="02040503050406030204" pitchFamily="18" charset="0"/>
                                </a:rPr>
                              </m:ctrlPr>
                            </m:dPr>
                            <m:e>
                              <m:r>
                                <a:rPr lang="en-US" i="1">
                                  <a:latin typeface="Cambria Math" panose="02040503050406030204" pitchFamily="18" charset="0"/>
                                </a:rPr>
                                <m:t>𝑡</m:t>
                              </m:r>
                            </m:e>
                          </m:d>
                          <m:r>
                            <a:rPr lang="en-US" i="1">
                              <a:latin typeface="Cambria Math" panose="02040503050406030204" pitchFamily="18" charset="0"/>
                            </a:rPr>
                            <m:t> </m:t>
                          </m:r>
                          <m:r>
                            <a:rPr lang="en-US">
                              <a:latin typeface="Cambria Math" panose="02040503050406030204" pitchFamily="18" charset="0"/>
                            </a:rPr>
                            <m:t>+</m:t>
                          </m:r>
                          <m:r>
                            <a:rPr lang="en-US" i="1">
                              <a:latin typeface="Cambria Math" panose="02040503050406030204" pitchFamily="18" charset="0"/>
                            </a:rPr>
                            <m:t> </m:t>
                          </m:r>
                          <m:nary>
                            <m:naryPr>
                              <m:limLoc m:val="subSup"/>
                              <m:ctrlPr>
                                <a:rPr lang="en-US" i="1">
                                  <a:latin typeface="Cambria Math" panose="02040503050406030204" pitchFamily="18" charset="0"/>
                                </a:rPr>
                              </m:ctrlPr>
                            </m:naryPr>
                            <m:sub>
                              <m:r>
                                <a:rPr lang="en-US" i="1">
                                  <a:latin typeface="Cambria Math" panose="02040503050406030204" pitchFamily="18" charset="0"/>
                                </a:rPr>
                                <m:t>𝑡</m:t>
                              </m:r>
                              <m:r>
                                <a:rPr lang="en-US" i="1">
                                  <a:latin typeface="Cambria Math" panose="02040503050406030204" pitchFamily="18" charset="0"/>
                                </a:rPr>
                                <m:t>−</m:t>
                              </m:r>
                              <m:r>
                                <a:rPr lang="en-US" i="1">
                                  <a:latin typeface="Cambria Math" panose="02040503050406030204" pitchFamily="18" charset="0"/>
                                </a:rPr>
                                <m:t>𝑑</m:t>
                              </m:r>
                            </m:sub>
                            <m:sup>
                              <m:r>
                                <a:rPr lang="en-US" i="1">
                                  <a:latin typeface="Cambria Math" panose="02040503050406030204" pitchFamily="18" charset="0"/>
                                </a:rPr>
                                <m:t>𝑡</m:t>
                              </m:r>
                            </m:sup>
                            <m:e>
                              <m:r>
                                <a:rPr lang="en-US" i="1">
                                  <a:latin typeface="Cambria Math" panose="02040503050406030204" pitchFamily="18" charset="0"/>
                                </a:rPr>
                                <m:t>𝑥</m:t>
                              </m:r>
                            </m:e>
                          </m:nary>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𝜏</m:t>
                                  </m:r>
                                </m:e>
                              </m:d>
                            </m:e>
                            <m:sup>
                              <m:r>
                                <a:rPr lang="en-US" i="1">
                                  <a:latin typeface="Cambria Math" panose="02040503050406030204" pitchFamily="18" charset="0"/>
                                </a:rPr>
                                <m:t>𝑇</m:t>
                              </m:r>
                            </m:sup>
                          </m:s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1</m:t>
                              </m:r>
                            </m:sub>
                          </m:sSub>
                          <m:r>
                            <a:rPr lang="en-US" i="1">
                              <a:latin typeface="Cambria Math" panose="02040503050406030204" pitchFamily="18" charset="0"/>
                            </a:rPr>
                            <m:t>𝑥</m:t>
                          </m:r>
                          <m:d>
                            <m:dPr>
                              <m:ctrlPr>
                                <a:rPr lang="en-US" i="1">
                                  <a:latin typeface="Cambria Math" panose="02040503050406030204" pitchFamily="18" charset="0"/>
                                </a:rPr>
                              </m:ctrlPr>
                            </m:dPr>
                            <m:e>
                              <m:r>
                                <a:rPr lang="en-US" i="1">
                                  <a:latin typeface="Cambria Math" panose="02040503050406030204" pitchFamily="18" charset="0"/>
                                </a:rPr>
                                <m:t>𝜏</m:t>
                              </m:r>
                            </m:e>
                          </m:d>
                          <m:r>
                            <a:rPr lang="en-US" i="1">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𝜏</m:t>
                          </m:r>
                          <m:r>
                            <a:rPr lang="en-US" i="1">
                              <a:latin typeface="Cambria Math" panose="02040503050406030204" pitchFamily="18" charset="0"/>
                            </a:rPr>
                            <m:t> </m:t>
                          </m:r>
                          <m:r>
                            <a:rPr lang="en-US">
                              <a:latin typeface="Cambria Math" panose="02040503050406030204" pitchFamily="18" charset="0"/>
                            </a:rPr>
                            <m:t>+</m:t>
                          </m:r>
                          <m:r>
                            <a:rPr lang="en-US" i="1">
                              <a:latin typeface="Cambria Math" panose="02040503050406030204" pitchFamily="18" charset="0"/>
                            </a:rPr>
                            <m:t> </m:t>
                          </m:r>
                          <m:nary>
                            <m:naryPr>
                              <m:limLoc m:val="subSup"/>
                              <m:ctrlPr>
                                <a:rPr lang="en-US" i="1">
                                  <a:latin typeface="Cambria Math" panose="02040503050406030204" pitchFamily="18" charset="0"/>
                                </a:rPr>
                              </m:ctrlPr>
                            </m:naryPr>
                            <m:sub>
                              <m:r>
                                <a:rPr lang="en-US" i="1">
                                  <a:latin typeface="Cambria Math" panose="02040503050406030204" pitchFamily="18" charset="0"/>
                                </a:rPr>
                                <m:t>𝑡</m:t>
                              </m:r>
                              <m:r>
                                <a:rPr lang="en-US" i="1">
                                  <a:latin typeface="Cambria Math" panose="02040503050406030204" pitchFamily="18" charset="0"/>
                                </a:rPr>
                                <m:t>−2</m:t>
                              </m:r>
                              <m:r>
                                <a:rPr lang="en-US" i="1">
                                  <a:latin typeface="Cambria Math" panose="02040503050406030204" pitchFamily="18" charset="0"/>
                                </a:rPr>
                                <m:t>𝑑</m:t>
                              </m:r>
                            </m:sub>
                            <m:sup>
                              <m:r>
                                <a:rPr lang="en-US" i="1">
                                  <a:latin typeface="Cambria Math" panose="02040503050406030204" pitchFamily="18" charset="0"/>
                                </a:rPr>
                                <m:t>𝑡</m:t>
                              </m:r>
                            </m:sup>
                            <m:e>
                              <m:r>
                                <a:rPr lang="en-US" i="1">
                                  <a:latin typeface="Cambria Math" panose="02040503050406030204" pitchFamily="18" charset="0"/>
                                </a:rPr>
                                <m:t>𝑥</m:t>
                              </m:r>
                            </m:e>
                          </m:nary>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1">
                                      <a:latin typeface="Cambria Math" panose="02040503050406030204" pitchFamily="18" charset="0"/>
                                    </a:rPr>
                                    <m:t>𝜏</m:t>
                                  </m:r>
                                </m:e>
                              </m:d>
                            </m:e>
                            <m:sup>
                              <m:r>
                                <a:rPr lang="en-US" i="1">
                                  <a:latin typeface="Cambria Math" panose="02040503050406030204" pitchFamily="18" charset="0"/>
                                </a:rPr>
                                <m:t>𝑇</m:t>
                              </m:r>
                            </m:sup>
                          </m:sSup>
                          <m:sSub>
                            <m:sSubPr>
                              <m:ctrlPr>
                                <a:rPr lang="en-US" i="1">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2</m:t>
                              </m:r>
                            </m:sub>
                          </m:sSub>
                          <m:r>
                            <a:rPr lang="en-US" i="1">
                              <a:latin typeface="Cambria Math" panose="02040503050406030204" pitchFamily="18" charset="0"/>
                            </a:rPr>
                            <m:t>𝑥</m:t>
                          </m:r>
                          <m:d>
                            <m:dPr>
                              <m:ctrlPr>
                                <a:rPr lang="en-US" i="1">
                                  <a:latin typeface="Cambria Math" panose="02040503050406030204" pitchFamily="18" charset="0"/>
                                </a:rPr>
                              </m:ctrlPr>
                            </m:dPr>
                            <m:e>
                              <m:r>
                                <a:rPr lang="en-US" i="1">
                                  <a:latin typeface="Cambria Math" panose="02040503050406030204" pitchFamily="18" charset="0"/>
                                </a:rPr>
                                <m:t>𝜏</m:t>
                              </m:r>
                            </m:e>
                          </m:d>
                          <m:r>
                            <a:rPr lang="en-US" i="1">
                              <a:latin typeface="Cambria Math" panose="02040503050406030204" pitchFamily="18" charset="0"/>
                            </a:rPr>
                            <m:t> </m:t>
                          </m:r>
                          <m:r>
                            <a:rPr lang="en-US" i="1">
                              <a:latin typeface="Cambria Math" panose="02040503050406030204" pitchFamily="18" charset="0"/>
                            </a:rPr>
                            <m:t>𝑑</m:t>
                          </m:r>
                          <m:r>
                            <a:rPr lang="en-US" i="1">
                              <a:latin typeface="Cambria Math" panose="02040503050406030204" pitchFamily="18" charset="0"/>
                            </a:rPr>
                            <m:t>𝜏</m:t>
                          </m:r>
                          <m:r>
                            <a:rPr lang="en-US">
                              <a:latin typeface="Cambria Math" panose="02040503050406030204" pitchFamily="18" charset="0"/>
                            </a:rPr>
                            <m:t>,</m:t>
                          </m:r>
                        </m:e>
                      </m:borderBox>
                    </m:oMath>
                  </m:oMathPara>
                </a14:m>
                <a:endParaRPr lang="en-US" sz="1800" dirty="0">
                  <a:latin typeface="Arial" panose="020B0604020202020204" pitchFamily="34" charset="0"/>
                  <a:cs typeface="Arial" panose="020B0604020202020204" pitchFamily="34" charset="0"/>
                </a:endParaRPr>
              </a:p>
              <a:p>
                <a:pPr lvl="1">
                  <a:buFont typeface="Courier New" panose="02070309020205020404" pitchFamily="49" charset="0"/>
                  <a:buChar char="o"/>
                </a:pPr>
                <a:r>
                  <a:rPr lang="en-US" sz="1800" dirty="0"/>
                  <a:t>with </a:t>
                </a:r>
                <a14:m>
                  <m:oMath xmlns:m="http://schemas.openxmlformats.org/officeDocument/2006/math">
                    <m:r>
                      <a:rPr lang="en-US" sz="1800" i="1">
                        <a:latin typeface="Cambria Math" panose="02040503050406030204" pitchFamily="18" charset="0"/>
                      </a:rPr>
                      <m:t>𝑃</m:t>
                    </m:r>
                    <m:r>
                      <a:rPr lang="en-US" sz="1800">
                        <a:latin typeface="Cambria Math" panose="02040503050406030204" pitchFamily="18" charset="0"/>
                      </a:rPr>
                      <m:t>&gt;</m:t>
                    </m:r>
                    <m:r>
                      <a:rPr lang="en-US" sz="1800" i="1">
                        <a:latin typeface="Cambria Math" panose="02040503050406030204" pitchFamily="18" charset="0"/>
                      </a:rPr>
                      <m:t>0</m:t>
                    </m:r>
                    <m:r>
                      <a:rPr lang="en-US" sz="1800">
                        <a:latin typeface="Cambria Math" panose="02040503050406030204" pitchFamily="18" charset="0"/>
                      </a:rPr>
                      <m:t>,</m:t>
                    </m:r>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𝑄</m:t>
                        </m:r>
                      </m:e>
                      <m:sub>
                        <m:r>
                          <a:rPr lang="en-US" sz="1800" i="1">
                            <a:latin typeface="Cambria Math" panose="02040503050406030204" pitchFamily="18" charset="0"/>
                          </a:rPr>
                          <m:t>1</m:t>
                        </m:r>
                      </m:sub>
                    </m:sSub>
                    <m:r>
                      <a:rPr lang="en-US" sz="1800">
                        <a:latin typeface="Cambria Math" panose="02040503050406030204" pitchFamily="18" charset="0"/>
                      </a:rPr>
                      <m:t>&gt;</m:t>
                    </m:r>
                    <m:r>
                      <a:rPr lang="en-US" sz="1800" i="1">
                        <a:latin typeface="Cambria Math" panose="02040503050406030204" pitchFamily="18" charset="0"/>
                      </a:rPr>
                      <m:t>0</m:t>
                    </m:r>
                    <m:r>
                      <a:rPr lang="en-US" sz="1800">
                        <a:latin typeface="Cambria Math" panose="02040503050406030204" pitchFamily="18" charset="0"/>
                      </a:rPr>
                      <m:t>,</m:t>
                    </m:r>
                    <m:r>
                      <a:rPr lang="en-US" sz="1800" i="1">
                        <a:latin typeface="Cambria Math" panose="02040503050406030204" pitchFamily="18" charset="0"/>
                      </a:rPr>
                      <m:t> </m:t>
                    </m:r>
                    <m:sSub>
                      <m:sSubPr>
                        <m:ctrlPr>
                          <a:rPr lang="en-US" sz="1800" i="1">
                            <a:latin typeface="Cambria Math" panose="02040503050406030204" pitchFamily="18" charset="0"/>
                          </a:rPr>
                        </m:ctrlPr>
                      </m:sSubPr>
                      <m:e>
                        <m:r>
                          <a:rPr lang="en-US" sz="1800" i="1">
                            <a:latin typeface="Cambria Math" panose="02040503050406030204" pitchFamily="18" charset="0"/>
                          </a:rPr>
                          <m:t>𝑄</m:t>
                        </m:r>
                      </m:e>
                      <m:sub>
                        <m:r>
                          <a:rPr lang="en-US" sz="1800" i="1">
                            <a:latin typeface="Cambria Math" panose="02040503050406030204" pitchFamily="18" charset="0"/>
                          </a:rPr>
                          <m:t>2</m:t>
                        </m:r>
                      </m:sub>
                    </m:sSub>
                    <m:r>
                      <a:rPr lang="en-US" sz="1800">
                        <a:latin typeface="Cambria Math" panose="02040503050406030204" pitchFamily="18" charset="0"/>
                      </a:rPr>
                      <m:t>&gt;</m:t>
                    </m:r>
                    <m:r>
                      <a:rPr lang="en-US" sz="1800" i="1">
                        <a:latin typeface="Cambria Math" panose="02040503050406030204" pitchFamily="18" charset="0"/>
                      </a:rPr>
                      <m:t>0</m:t>
                    </m:r>
                  </m:oMath>
                </a14:m>
                <a:r>
                  <a:rPr lang="en-US" sz="1800" dirty="0"/>
                  <a:t>.</a:t>
                </a:r>
              </a:p>
              <a:p>
                <a:pPr lvl="1">
                  <a:buFont typeface="Courier New" panose="02070309020205020404" pitchFamily="49" charset="0"/>
                  <a:buChar char="o"/>
                </a:pPr>
                <a:r>
                  <a:rPr lang="en-US" sz="1800" dirty="0"/>
                  <a:t>We will compute </a:t>
                </a:r>
                <a14:m>
                  <m:oMath xmlns:m="http://schemas.openxmlformats.org/officeDocument/2006/math">
                    <m:acc>
                      <m:accPr>
                        <m:chr m:val="̇"/>
                        <m:ctrlPr>
                          <a:rPr lang="en-US" sz="1800" i="1">
                            <a:latin typeface="Cambria Math" panose="02040503050406030204" pitchFamily="18" charset="0"/>
                          </a:rPr>
                        </m:ctrlPr>
                      </m:accPr>
                      <m:e>
                        <m:r>
                          <a:rPr lang="en-US" sz="1800" i="1">
                            <a:latin typeface="Cambria Math" panose="02040503050406030204" pitchFamily="18" charset="0"/>
                          </a:rPr>
                          <m:t>𝑉</m:t>
                        </m:r>
                      </m:e>
                    </m:acc>
                  </m:oMath>
                </a14:m>
                <a:r>
                  <a:rPr lang="en-US" sz="1800" dirty="0"/>
                  <a:t> along trajectories of the closed-loop system.</a:t>
                </a:r>
                <a:endParaRPr lang="en-US" sz="1800" dirty="0">
                  <a:latin typeface="Arial" panose="020B0604020202020204" pitchFamily="34" charset="0"/>
                  <a:cs typeface="Arial" panose="020B0604020202020204" pitchFamily="34" charset="0"/>
                </a:endParaRPr>
              </a:p>
              <a:p>
                <a:r>
                  <a:rPr lang="en-US" sz="2000" b="1" dirty="0">
                    <a:latin typeface="Arial" panose="020B0604020202020204" pitchFamily="34" charset="0"/>
                    <a:cs typeface="Arial" panose="020B0604020202020204" pitchFamily="34" charset="0"/>
                  </a:rPr>
                  <a:t>LMI Optimization:</a:t>
                </a:r>
              </a:p>
              <a:p>
                <a:pPr lvl="1">
                  <a:buFont typeface="Courier New" panose="02070309020205020404" pitchFamily="49" charset="0"/>
                  <a:buChar char="o"/>
                </a:pPr>
                <a:r>
                  <a:rPr lang="en-US" sz="1800" dirty="0">
                    <a:latin typeface="Arial" panose="020B0604020202020204" pitchFamily="34" charset="0"/>
                    <a:cs typeface="Arial" panose="020B0604020202020204" pitchFamily="34" charset="0"/>
                  </a:rPr>
                  <a:t>The stability condition is converted into a </a:t>
                </a:r>
                <a:r>
                  <a:rPr lang="en-US" sz="1800" b="1" dirty="0">
                    <a:latin typeface="Arial" panose="020B0604020202020204" pitchFamily="34" charset="0"/>
                    <a:cs typeface="Arial" panose="020B0604020202020204" pitchFamily="34" charset="0"/>
                  </a:rPr>
                  <a:t>Linear Matrix Inequality (LMI)</a:t>
                </a:r>
                <a:r>
                  <a:rPr lang="en-US" sz="1800" dirty="0">
                    <a:latin typeface="Arial" panose="020B0604020202020204" pitchFamily="34" charset="0"/>
                    <a:cs typeface="Arial" panose="020B0604020202020204" pitchFamily="34" charset="0"/>
                  </a:rPr>
                  <a:t>.</a:t>
                </a:r>
              </a:p>
              <a:p>
                <a:pPr lvl="1">
                  <a:buFont typeface="Courier New" panose="02070309020205020404" pitchFamily="49" charset="0"/>
                  <a:buChar char="o"/>
                </a:pPr>
                <a:r>
                  <a:rPr lang="en-US" sz="1800" dirty="0">
                    <a:latin typeface="Arial" panose="020B0604020202020204" pitchFamily="34" charset="0"/>
                    <a:cs typeface="Arial" panose="020B0604020202020204" pitchFamily="34" charset="0"/>
                  </a:rPr>
                  <a:t>Condition: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m:rPr>
                            <m:nor/>
                          </m:rPr>
                          <a:rPr lang="en-US"/>
                          <m:t>case</m:t>
                        </m:r>
                        <m:r>
                          <m:rPr>
                            <m:nor/>
                          </m:rPr>
                          <a:rPr lang="en-US"/>
                          <m:t>3</m:t>
                        </m:r>
                      </m:sub>
                    </m:sSub>
                    <m:r>
                      <a:rPr lang="en-US" i="1" smtClean="0">
                        <a:latin typeface="Cambria Math" panose="02040503050406030204" pitchFamily="18" charset="0"/>
                        <a:ea typeface="Cambria Math" panose="02040503050406030204" pitchFamily="18" charset="0"/>
                      </a:rPr>
                      <m:t>&lt;</m:t>
                    </m:r>
                    <m:r>
                      <a:rPr lang="en-US" b="0" i="1" smtClean="0">
                        <a:latin typeface="Cambria Math" panose="02040503050406030204" pitchFamily="18" charset="0"/>
                        <a:ea typeface="Cambria Math" panose="02040503050406030204" pitchFamily="18" charset="0"/>
                      </a:rPr>
                      <m:t>0</m:t>
                    </m:r>
                  </m:oMath>
                </a14:m>
                <a:r>
                  <a:rPr lang="en-US" sz="1800" dirty="0">
                    <a:latin typeface="Arial" panose="020B0604020202020204" pitchFamily="34" charset="0"/>
                    <a:cs typeface="Arial" panose="020B0604020202020204" pitchFamily="34" charset="0"/>
                  </a:rPr>
                  <a:t> ensure </a:t>
                </a:r>
                <a14:m>
                  <m:oMath xmlns:m="http://schemas.openxmlformats.org/officeDocument/2006/math">
                    <m:sSub>
                      <m:sSubPr>
                        <m:ctrlPr>
                          <a:rPr lang="en-US" sz="1800" i="1">
                            <a:latin typeface="Cambria Math" panose="02040503050406030204" pitchFamily="18" charset="0"/>
                          </a:rPr>
                        </m:ctrlPr>
                      </m:sSubPr>
                      <m:e>
                        <m:r>
                          <a:rPr lang="en-US" sz="1800" b="0" i="1" smtClean="0">
                            <a:latin typeface="Cambria Math" panose="02040503050406030204" pitchFamily="18" charset="0"/>
                          </a:rPr>
                          <m:t>𝐻</m:t>
                        </m:r>
                      </m:e>
                      <m:sub>
                        <m:r>
                          <m:rPr>
                            <m:nor/>
                          </m:rPr>
                          <a:rPr lang="en-US" sz="1800">
                            <a:ea typeface="Cambria Math" panose="02040503050406030204" pitchFamily="18" charset="0"/>
                          </a:rPr>
                          <m:t>∞</m:t>
                        </m:r>
                      </m:sub>
                    </m:sSub>
                  </m:oMath>
                </a14:m>
                <a:r>
                  <a:rPr lang="en-US" sz="1800" dirty="0">
                    <a:latin typeface="Arial" panose="020B0604020202020204" pitchFamily="34" charset="0"/>
                    <a:cs typeface="Arial" panose="020B0604020202020204" pitchFamily="34" charset="0"/>
                  </a:rPr>
                  <a:t> performance</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m:t>
                        </m:r>
                        <m:d>
                          <m:dPr>
                            <m:begChr m:val="|"/>
                            <m:endChr m:val="|"/>
                            <m:ctrlPr>
                              <a:rPr lang="en-US" sz="1800" i="1">
                                <a:latin typeface="Cambria Math" panose="02040503050406030204" pitchFamily="18" charset="0"/>
                              </a:rPr>
                            </m:ctrlPr>
                          </m:dPr>
                          <m:e>
                            <m:r>
                              <a:rPr lang="en-US" sz="1800" i="1">
                                <a:latin typeface="Cambria Math" panose="02040503050406030204" pitchFamily="18" charset="0"/>
                              </a:rPr>
                              <m:t>𝑧</m:t>
                            </m:r>
                          </m:e>
                        </m:d>
                        <m:r>
                          <a:rPr lang="en-US" sz="1800" i="1">
                            <a:latin typeface="Cambria Math" panose="02040503050406030204" pitchFamily="18" charset="0"/>
                          </a:rPr>
                          <m:t>|</m:t>
                        </m:r>
                      </m:e>
                      <m:sub>
                        <m:r>
                          <a:rPr lang="en-US" sz="1800" i="1">
                            <a:latin typeface="Cambria Math" panose="02040503050406030204" pitchFamily="18" charset="0"/>
                          </a:rPr>
                          <m:t>2</m:t>
                        </m:r>
                      </m:sub>
                    </m:sSub>
                    <m:r>
                      <a:rPr lang="en-US" sz="1800" i="1">
                        <a:latin typeface="Cambria Math" panose="02040503050406030204" pitchFamily="18" charset="0"/>
                        <a:ea typeface="Cambria Math" panose="02040503050406030204" pitchFamily="18" charset="0"/>
                      </a:rPr>
                      <m:t>&lt;</m:t>
                    </m:r>
                    <m:r>
                      <a:rPr lang="en-US" sz="1800" i="1" smtClean="0">
                        <a:latin typeface="Cambria Math" panose="02040503050406030204" pitchFamily="18" charset="0"/>
                        <a:ea typeface="Cambria Math" panose="02040503050406030204" pitchFamily="18" charset="0"/>
                      </a:rPr>
                      <m:t>𝛾</m:t>
                    </m:r>
                    <m:sSub>
                      <m:sSubPr>
                        <m:ctrlPr>
                          <a:rPr lang="en-US" sz="1800" i="1" smtClean="0">
                            <a:latin typeface="Cambria Math" panose="02040503050406030204" pitchFamily="18" charset="0"/>
                            <a:ea typeface="Cambria Math" panose="02040503050406030204" pitchFamily="18" charset="0"/>
                          </a:rPr>
                        </m:ctrlPr>
                      </m:sSubPr>
                      <m:e>
                        <m:r>
                          <a:rPr lang="en-US" sz="1800" b="0" i="1" smtClean="0">
                            <a:latin typeface="Cambria Math" panose="02040503050406030204" pitchFamily="18" charset="0"/>
                            <a:ea typeface="Cambria Math" panose="02040503050406030204" pitchFamily="18" charset="0"/>
                          </a:rPr>
                          <m:t>||</m:t>
                        </m:r>
                        <m:r>
                          <a:rPr lang="en-US" sz="1800" i="1">
                            <a:latin typeface="Cambria Math" panose="02040503050406030204" pitchFamily="18" charset="0"/>
                          </a:rPr>
                          <m:t>𝜔</m:t>
                        </m:r>
                        <m:r>
                          <a:rPr lang="en-US" sz="1800" b="0" i="1" smtClean="0">
                            <a:latin typeface="Cambria Math" panose="02040503050406030204" pitchFamily="18" charset="0"/>
                            <a:ea typeface="Cambria Math" panose="02040503050406030204" pitchFamily="18" charset="0"/>
                          </a:rPr>
                          <m:t>||</m:t>
                        </m:r>
                      </m:e>
                      <m:sub>
                        <m:r>
                          <a:rPr lang="en-US" sz="1800" b="0" i="1" smtClean="0">
                            <a:latin typeface="Cambria Math" panose="02040503050406030204" pitchFamily="18" charset="0"/>
                            <a:ea typeface="Cambria Math" panose="02040503050406030204" pitchFamily="18" charset="0"/>
                          </a:rPr>
                          <m:t>2</m:t>
                        </m:r>
                      </m:sub>
                    </m:sSub>
                  </m:oMath>
                </a14:m>
                <a:r>
                  <a:rPr lang="en-US" sz="1800" dirty="0">
                    <a:latin typeface="Arial" panose="020B0604020202020204" pitchFamily="34" charset="0"/>
                    <a:cs typeface="Arial" panose="020B0604020202020204" pitchFamily="34" charset="0"/>
                  </a:rPr>
                  <a:t>.</a:t>
                </a:r>
                <a:endParaRPr lang="en-US" sz="1800" dirty="0"/>
              </a:p>
              <a:p>
                <a:pPr lvl="1">
                  <a:buFont typeface="Courier New" panose="02070309020205020404" pitchFamily="49" charset="0"/>
                  <a:buChar char="o"/>
                </a:pPr>
                <a:r>
                  <a:rPr lang="en-US" sz="1800" dirty="0"/>
                  <a:t>We solve this LMI to find the optimal controller gains.</a:t>
                </a:r>
                <a:endParaRPr lang="en-US" sz="1800" dirty="0">
                  <a:latin typeface="Arial" panose="020B0604020202020204" pitchFamily="34" charset="0"/>
                  <a:cs typeface="Arial" panose="020B0604020202020204" pitchFamily="34" charset="0"/>
                </a:endParaRPr>
              </a:p>
              <a:p>
                <a:pPr lvl="1">
                  <a:buFont typeface="Courier New" panose="02070309020205020404" pitchFamily="49" charset="0"/>
                  <a:buChar char="o"/>
                </a:pPr>
                <a:endParaRPr lang="en-US" b="1" dirty="0"/>
              </a:p>
              <a:p>
                <a:pPr marL="457200" lvl="1" indent="0">
                  <a:buNone/>
                </a:pPr>
                <a:endParaRPr lang="en-US" dirty="0"/>
              </a:p>
              <a:p>
                <a:pPr lvl="1">
                  <a:buFont typeface="Courier New" panose="02070309020205020404" pitchFamily="49" charset="0"/>
                  <a:buChar char="o"/>
                </a:pPr>
                <a:endParaRPr lang="en-US" sz="1800" dirty="0">
                  <a:latin typeface="Arial" panose="020B0604020202020204" pitchFamily="34" charset="0"/>
                  <a:cs typeface="Arial" panose="020B0604020202020204" pitchFamily="34" charset="0"/>
                </a:endParaRPr>
              </a:p>
            </p:txBody>
          </p:sp>
        </mc:Choice>
        <mc:Fallback xmlns="">
          <p:sp>
            <p:nvSpPr>
              <p:cNvPr id="9" name="Content Placeholder 3">
                <a:extLst>
                  <a:ext uri="{FF2B5EF4-FFF2-40B4-BE49-F238E27FC236}">
                    <a16:creationId xmlns:a16="http://schemas.microsoft.com/office/drawing/2014/main" id="{0D89C9B8-EEAE-0B37-260C-1FB47319ED74}"/>
                  </a:ext>
                </a:extLst>
              </p:cNvPr>
              <p:cNvSpPr>
                <a:spLocks noGrp="1" noRot="1" noChangeAspect="1" noMove="1" noResize="1" noEditPoints="1" noAdjustHandles="1" noChangeArrowheads="1" noChangeShapeType="1" noTextEdit="1"/>
              </p:cNvSpPr>
              <p:nvPr>
                <p:ph sz="half" idx="2"/>
              </p:nvPr>
            </p:nvSpPr>
            <p:spPr>
              <a:xfrm>
                <a:off x="299581" y="1465680"/>
                <a:ext cx="10528840" cy="5392320"/>
              </a:xfrm>
              <a:blipFill>
                <a:blip r:embed="rId3"/>
                <a:stretch>
                  <a:fillRect l="-232" t="-678"/>
                </a:stretch>
              </a:blipFill>
            </p:spPr>
            <p:txBody>
              <a:bodyPr/>
              <a:lstStyle/>
              <a:p>
                <a:r>
                  <a:rPr lang="en-US">
                    <a:noFill/>
                  </a:rPr>
                  <a:t> </a:t>
                </a:r>
              </a:p>
            </p:txBody>
          </p:sp>
        </mc:Fallback>
      </mc:AlternateContent>
      <p:sp>
        <p:nvSpPr>
          <p:cNvPr id="4" name="Slide Number Placeholder 2">
            <a:extLst>
              <a:ext uri="{FF2B5EF4-FFF2-40B4-BE49-F238E27FC236}">
                <a16:creationId xmlns:a16="http://schemas.microsoft.com/office/drawing/2014/main" id="{D6077FFD-B758-82E3-9905-E207956BF2E9}"/>
              </a:ext>
            </a:extLst>
          </p:cNvPr>
          <p:cNvSpPr>
            <a:spLocks noGrp="1"/>
          </p:cNvSpPr>
          <p:nvPr>
            <p:ph type="sldNum" sz="quarter" idx="12"/>
          </p:nvPr>
        </p:nvSpPr>
        <p:spPr>
          <a:xfrm>
            <a:off x="7795578" y="6141113"/>
            <a:ext cx="1096432" cy="716887"/>
          </a:xfrm>
        </p:spPr>
        <p:txBody>
          <a:bodyPr/>
          <a:lstStyle/>
          <a:p>
            <a:r>
              <a:rPr lang="en-US" dirty="0"/>
              <a:t>8</a:t>
            </a:r>
          </a:p>
        </p:txBody>
      </p:sp>
    </p:spTree>
    <p:extLst>
      <p:ext uri="{BB962C8B-B14F-4D97-AF65-F5344CB8AC3E}">
        <p14:creationId xmlns:p14="http://schemas.microsoft.com/office/powerpoint/2010/main" val="701152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fade">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fade">
                                      <p:cBhvr>
                                        <p:cTn id="37" dur="500"/>
                                        <p:tgtEl>
                                          <p:spTgt spid="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
                                            <p:txEl>
                                              <p:pRg st="7" end="7"/>
                                            </p:txEl>
                                          </p:spTgt>
                                        </p:tgtEl>
                                        <p:attrNameLst>
                                          <p:attrName>style.visibility</p:attrName>
                                        </p:attrNameLst>
                                      </p:cBhvr>
                                      <p:to>
                                        <p:strVal val="visible"/>
                                      </p:to>
                                    </p:set>
                                    <p:animEffect transition="in" filter="fade">
                                      <p:cBhvr>
                                        <p:cTn id="42" dur="500"/>
                                        <p:tgtEl>
                                          <p:spTgt spid="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
                                            <p:txEl>
                                              <p:pRg st="8" end="8"/>
                                            </p:txEl>
                                          </p:spTgt>
                                        </p:tgtEl>
                                        <p:attrNameLst>
                                          <p:attrName>style.visibility</p:attrName>
                                        </p:attrNameLst>
                                      </p:cBhvr>
                                      <p:to>
                                        <p:strVal val="visible"/>
                                      </p:to>
                                    </p:set>
                                    <p:animEffect transition="in" filter="fade">
                                      <p:cBhvr>
                                        <p:cTn id="47"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0A3FB-8D13-322A-1A7E-712D3DF4AA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9300E7-068F-8ADF-1177-95D8DF8E50D2}"/>
              </a:ext>
            </a:extLst>
          </p:cNvPr>
          <p:cNvSpPr>
            <a:spLocks noGrp="1"/>
          </p:cNvSpPr>
          <p:nvPr>
            <p:ph type="title"/>
          </p:nvPr>
        </p:nvSpPr>
        <p:spPr>
          <a:xfrm>
            <a:off x="645877" y="624970"/>
            <a:ext cx="8596668" cy="887659"/>
          </a:xfrm>
        </p:spPr>
        <p:txBody>
          <a:bodyPr>
            <a:normAutofit/>
          </a:bodyPr>
          <a:lstStyle/>
          <a:p>
            <a:pPr algn="ctr"/>
            <a:r>
              <a:rPr lang="en-US" b="1" dirty="0">
                <a:latin typeface="Arial" panose="020B0604020202020204" pitchFamily="34" charset="0"/>
                <a:cs typeface="Arial" panose="020B0604020202020204" pitchFamily="34" charset="0"/>
              </a:rPr>
              <a:t>Case 3 (Lemmas used)</a:t>
            </a:r>
            <a:endParaRPr lang="en-US" dirty="0">
              <a:latin typeface="Arial" panose="020B0604020202020204" pitchFamily="34" charset="0"/>
              <a:cs typeface="Arial" panose="020B0604020202020204" pitchFamily="34" charset="0"/>
            </a:endParaRPr>
          </a:p>
        </p:txBody>
      </p:sp>
      <p:sp>
        <p:nvSpPr>
          <p:cNvPr id="6" name="Content Placeholder 3">
            <a:extLst>
              <a:ext uri="{FF2B5EF4-FFF2-40B4-BE49-F238E27FC236}">
                <a16:creationId xmlns:a16="http://schemas.microsoft.com/office/drawing/2014/main" id="{DAE85714-A1EF-D54A-2F63-17E8C8A73549}"/>
              </a:ext>
            </a:extLst>
          </p:cNvPr>
          <p:cNvSpPr txBox="1">
            <a:spLocks/>
          </p:cNvSpPr>
          <p:nvPr/>
        </p:nvSpPr>
        <p:spPr>
          <a:xfrm>
            <a:off x="187283" y="4207555"/>
            <a:ext cx="7047705"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9" name="Content Placeholder 3">
                <a:extLst>
                  <a:ext uri="{FF2B5EF4-FFF2-40B4-BE49-F238E27FC236}">
                    <a16:creationId xmlns:a16="http://schemas.microsoft.com/office/drawing/2014/main" id="{E94E525A-4661-A34D-F5C5-9C1CE275349A}"/>
                  </a:ext>
                </a:extLst>
              </p:cNvPr>
              <p:cNvSpPr>
                <a:spLocks noGrp="1"/>
              </p:cNvSpPr>
              <p:nvPr>
                <p:ph sz="half" idx="2"/>
              </p:nvPr>
            </p:nvSpPr>
            <p:spPr>
              <a:xfrm>
                <a:off x="299581" y="1465680"/>
                <a:ext cx="10528840" cy="5392320"/>
              </a:xfrm>
            </p:spPr>
            <p:txBody>
              <a:bodyPr>
                <a:noAutofit/>
              </a:bodyPr>
              <a:lstStyle/>
              <a:p>
                <a:r>
                  <a:rPr lang="en-US" sz="2000" dirty="0"/>
                  <a:t>Case 3: input delay equals state delay, </a:t>
                </a:r>
                <a14:m>
                  <m:oMath xmlns:m="http://schemas.openxmlformats.org/officeDocument/2006/math">
                    <m:r>
                      <a:rPr lang="en-US" sz="2000" i="1"/>
                      <m:t>h</m:t>
                    </m:r>
                    <m:r>
                      <a:rPr lang="en-US" sz="2000"/>
                      <m:t>=</m:t>
                    </m:r>
                    <m:r>
                      <a:rPr lang="en-US" sz="2000" i="1"/>
                      <m:t>𝑑</m:t>
                    </m:r>
                    <m:r>
                      <a:rPr lang="en-US" sz="2000"/>
                      <m:t>&gt;</m:t>
                    </m:r>
                    <m:r>
                      <a:rPr lang="en-US" sz="2000" i="1"/>
                      <m:t>0</m:t>
                    </m:r>
                  </m:oMath>
                </a14:m>
                <a:r>
                  <a:rPr lang="en-US" sz="2000" dirty="0"/>
                  <a:t>. (paper discussion of cases).</a:t>
                </a:r>
              </a:p>
              <a:p>
                <a:r>
                  <a:rPr lang="en-US" sz="2000" dirty="0"/>
                  <a:t>Define for convenience:</a:t>
                </a:r>
              </a:p>
              <a:p>
                <a:pPr marL="0" indent="0">
                  <a:buNone/>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2000" i="1"/>
                          </m:ctrlPr>
                        </m:mPr>
                        <m:mr>
                          <m:e/>
                          <m:e>
                            <m:r>
                              <a:rPr lang="en-US" sz="2000" i="1"/>
                              <m:t>𝒜</m:t>
                            </m:r>
                            <m:box>
                              <m:boxPr>
                                <m:ctrlPr>
                                  <a:rPr lang="en-US" sz="2000" i="1"/>
                                </m:ctrlPr>
                              </m:boxPr>
                              <m:e>
                                <m:r>
                                  <a:rPr lang="en-US" sz="2000"/>
                                  <m:t>:=</m:t>
                                </m:r>
                              </m:e>
                            </m:box>
                            <m:r>
                              <a:rPr lang="en-US" sz="2000" i="1"/>
                              <m:t>𝐴</m:t>
                            </m:r>
                            <m:r>
                              <a:rPr lang="en-US" sz="2000"/>
                              <m:t>,</m:t>
                            </m:r>
                          </m:e>
                        </m:mr>
                        <m:mr>
                          <m:e/>
                          <m:e>
                            <m:sSub>
                              <m:sSubPr>
                                <m:ctrlPr>
                                  <a:rPr lang="en-US" sz="2000" i="1"/>
                                </m:ctrlPr>
                              </m:sSubPr>
                              <m:e>
                                <m:r>
                                  <a:rPr lang="en-US" sz="2000" i="1"/>
                                  <m:t>𝒜</m:t>
                                </m:r>
                              </m:e>
                              <m:sub>
                                <m:r>
                                  <a:rPr lang="en-US" sz="2000" i="1"/>
                                  <m:t>𝑑</m:t>
                                </m:r>
                              </m:sub>
                            </m:sSub>
                            <m:box>
                              <m:boxPr>
                                <m:ctrlPr>
                                  <a:rPr lang="en-US" sz="2000" i="1"/>
                                </m:ctrlPr>
                              </m:boxPr>
                              <m:e>
                                <m:r>
                                  <a:rPr lang="en-US" sz="2000"/>
                                  <m:t>:=</m:t>
                                </m:r>
                              </m:e>
                            </m:box>
                            <m:sSub>
                              <m:sSubPr>
                                <m:ctrlPr>
                                  <a:rPr lang="en-US" sz="2000" i="1"/>
                                </m:ctrlPr>
                              </m:sSubPr>
                              <m:e>
                                <m:r>
                                  <a:rPr lang="en-US" sz="2000" i="1"/>
                                  <m:t>𝐴</m:t>
                                </m:r>
                              </m:e>
                              <m:sub>
                                <m:r>
                                  <a:rPr lang="en-US" sz="2000" i="1"/>
                                  <m:t>𝑑</m:t>
                                </m:r>
                              </m:sub>
                            </m:sSub>
                            <m:r>
                              <a:rPr lang="en-US" sz="2000"/>
                              <m:t>+</m:t>
                            </m:r>
                            <m:r>
                              <a:rPr lang="en-US" sz="2000" i="1"/>
                              <m:t>𝐵</m:t>
                            </m:r>
                            <m:sSub>
                              <m:sSubPr>
                                <m:ctrlPr>
                                  <a:rPr lang="en-US" sz="2000" i="1"/>
                                </m:ctrlPr>
                              </m:sSubPr>
                              <m:e>
                                <m:r>
                                  <a:rPr lang="en-US" sz="2000" i="1"/>
                                  <m:t>𝐹</m:t>
                                </m:r>
                              </m:e>
                              <m:sub>
                                <m:r>
                                  <a:rPr lang="en-US" sz="2000" i="1"/>
                                  <m:t>1</m:t>
                                </m:r>
                              </m:sub>
                            </m:sSub>
                            <m:r>
                              <a:rPr lang="en-US" sz="2000" i="1"/>
                              <m:t>𝐶</m:t>
                            </m:r>
                            <m:r>
                              <a:rPr lang="en-US" sz="2000" i="1"/>
                              <m:t> </m:t>
                            </m:r>
                            <m:r>
                              <m:rPr>
                                <m:nor/>
                              </m:rPr>
                              <a:rPr lang="en-US" sz="2000"/>
                              <m:t>(</m:t>
                            </m:r>
                            <m:r>
                              <m:rPr>
                                <m:nor/>
                              </m:rPr>
                              <a:rPr lang="en-US" sz="2000"/>
                              <m:t>merged</m:t>
                            </m:r>
                            <m:r>
                              <m:rPr>
                                <m:nor/>
                              </m:rPr>
                              <a:rPr lang="en-US" sz="2000"/>
                              <m:t> </m:t>
                            </m:r>
                            <m:r>
                              <m:rPr>
                                <m:nor/>
                              </m:rPr>
                              <a:rPr lang="en-US" sz="2000"/>
                              <m:t>term</m:t>
                            </m:r>
                            <m:r>
                              <m:rPr>
                                <m:nor/>
                              </m:rPr>
                              <a:rPr lang="en-US" sz="2000"/>
                              <m:t>)</m:t>
                            </m:r>
                            <m:r>
                              <a:rPr lang="en-US" sz="2000"/>
                              <m:t>,</m:t>
                            </m:r>
                          </m:e>
                        </m:mr>
                        <m:mr>
                          <m:e/>
                          <m:e>
                            <m:sSub>
                              <m:sSubPr>
                                <m:ctrlPr>
                                  <a:rPr lang="en-US" sz="2000" i="1"/>
                                </m:ctrlPr>
                              </m:sSubPr>
                              <m:e>
                                <m:r>
                                  <a:rPr lang="en-US" sz="2000" i="1"/>
                                  <m:t>ℬ</m:t>
                                </m:r>
                              </m:e>
                              <m:sub>
                                <m:r>
                                  <a:rPr lang="en-US" sz="2000" i="1"/>
                                  <m:t>2</m:t>
                                </m:r>
                              </m:sub>
                            </m:sSub>
                            <m:box>
                              <m:boxPr>
                                <m:ctrlPr>
                                  <a:rPr lang="en-US" sz="2000" i="1"/>
                                </m:ctrlPr>
                              </m:boxPr>
                              <m:e>
                                <m:r>
                                  <a:rPr lang="en-US" sz="2000"/>
                                  <m:t>:=</m:t>
                                </m:r>
                              </m:e>
                            </m:box>
                            <m:r>
                              <a:rPr lang="en-US" sz="2000" i="1"/>
                              <m:t>𝐵</m:t>
                            </m:r>
                            <m:sSub>
                              <m:sSubPr>
                                <m:ctrlPr>
                                  <a:rPr lang="en-US" sz="2000" i="1"/>
                                </m:ctrlPr>
                              </m:sSubPr>
                              <m:e>
                                <m:r>
                                  <a:rPr lang="en-US" sz="2000" i="1"/>
                                  <m:t>𝐹</m:t>
                                </m:r>
                              </m:e>
                              <m:sub>
                                <m:r>
                                  <a:rPr lang="en-US" sz="2000" i="1"/>
                                  <m:t>2</m:t>
                                </m:r>
                              </m:sub>
                            </m:sSub>
                            <m:r>
                              <a:rPr lang="en-US" sz="2000" i="1"/>
                              <m:t>𝐶</m:t>
                            </m:r>
                            <m:r>
                              <a:rPr lang="en-US" sz="2000"/>
                              <m:t>,</m:t>
                            </m:r>
                          </m:e>
                        </m:mr>
                        <m:mr>
                          <m:e/>
                          <m:e>
                            <m:r>
                              <m:rPr>
                                <m:nor/>
                              </m:rPr>
                              <a:rPr lang="en-US" sz="2000"/>
                              <m:t>and</m:t>
                            </m:r>
                            <m:r>
                              <m:rPr>
                                <m:nor/>
                              </m:rPr>
                              <a:rPr lang="en-US" sz="2000"/>
                              <m:t> </m:t>
                            </m:r>
                            <m:r>
                              <m:rPr>
                                <m:nor/>
                              </m:rPr>
                              <a:rPr lang="en-US" sz="2000"/>
                              <m:t>keep</m:t>
                            </m:r>
                            <m:r>
                              <m:rPr>
                                <m:nor/>
                              </m:rPr>
                              <a:rPr lang="en-US" sz="2000"/>
                              <m:t> </m:t>
                            </m:r>
                            <m:r>
                              <a:rPr lang="en-US" sz="2000" i="1"/>
                              <m:t>𝐷</m:t>
                            </m:r>
                            <m:r>
                              <a:rPr lang="en-US" sz="2000"/>
                              <m:t>,</m:t>
                            </m:r>
                            <m:r>
                              <a:rPr lang="en-US" sz="2000" i="1"/>
                              <m:t>𝐿</m:t>
                            </m:r>
                            <m:r>
                              <a:rPr lang="en-US" sz="2000"/>
                              <m:t>,</m:t>
                            </m:r>
                            <m:r>
                              <a:rPr lang="en-US" sz="2000" i="1"/>
                              <m:t>𝐶</m:t>
                            </m:r>
                            <m:r>
                              <a:rPr lang="en-US" sz="2000"/>
                              <m:t>,</m:t>
                            </m:r>
                            <m:r>
                              <a:rPr lang="en-US" sz="2000" i="1"/>
                              <m:t>𝐵</m:t>
                            </m:r>
                            <m:r>
                              <m:rPr>
                                <m:nor/>
                              </m:rPr>
                              <a:rPr lang="en-US" sz="2000"/>
                              <m:t> </m:t>
                            </m:r>
                            <m:r>
                              <m:rPr>
                                <m:nor/>
                              </m:rPr>
                              <a:rPr lang="en-US" sz="2000"/>
                              <m:t>as</m:t>
                            </m:r>
                            <m:r>
                              <m:rPr>
                                <m:nor/>
                              </m:rPr>
                              <a:rPr lang="en-US" sz="2000"/>
                              <m:t> </m:t>
                            </m:r>
                            <m:r>
                              <m:rPr>
                                <m:nor/>
                              </m:rPr>
                              <a:rPr lang="en-US" sz="2000"/>
                              <m:t>in</m:t>
                            </m:r>
                            <m:r>
                              <m:rPr>
                                <m:nor/>
                              </m:rPr>
                              <a:rPr lang="en-US" sz="2000"/>
                              <m:t> </m:t>
                            </m:r>
                            <m:r>
                              <m:rPr>
                                <m:nor/>
                              </m:rPr>
                              <a:rPr lang="en-US" sz="2000"/>
                              <m:t>the</m:t>
                            </m:r>
                            <m:r>
                              <m:rPr>
                                <m:nor/>
                              </m:rPr>
                              <a:rPr lang="en-US" sz="2000"/>
                              <m:t> </m:t>
                            </m:r>
                            <m:r>
                              <m:rPr>
                                <m:nor/>
                              </m:rPr>
                              <a:rPr lang="en-US" sz="2000"/>
                              <m:t>paper</m:t>
                            </m:r>
                            <m:r>
                              <m:rPr>
                                <m:nor/>
                              </m:rPr>
                              <a:rPr lang="en-US" sz="2000"/>
                              <m:t>.</m:t>
                            </m:r>
                          </m:e>
                        </m:mr>
                      </m:m>
                    </m:oMath>
                  </m:oMathPara>
                </a14:m>
                <a:endParaRPr lang="en-US" sz="2000" dirty="0"/>
              </a:p>
              <a:p>
                <a:pPr lvl="1">
                  <a:buFont typeface="Courier New" panose="02070309020205020404" pitchFamily="49" charset="0"/>
                  <a:buChar char="o"/>
                </a:pPr>
                <a:r>
                  <a:rPr lang="en-US" sz="2000" dirty="0"/>
                  <a:t>We will use symmetric positive definite matrices </a:t>
                </a:r>
                <a14:m>
                  <m:oMath xmlns:m="http://schemas.openxmlformats.org/officeDocument/2006/math">
                    <m:r>
                      <a:rPr lang="en-US" sz="2000" i="1"/>
                      <m:t>𝑃</m:t>
                    </m:r>
                    <m:r>
                      <a:rPr lang="en-US" sz="2000"/>
                      <m:t>,</m:t>
                    </m:r>
                    <m:sSub>
                      <m:sSubPr>
                        <m:ctrlPr>
                          <a:rPr lang="en-US" sz="2000" i="1"/>
                        </m:ctrlPr>
                      </m:sSubPr>
                      <m:e>
                        <m:r>
                          <a:rPr lang="en-US" sz="2000" i="1"/>
                          <m:t>𝑄</m:t>
                        </m:r>
                      </m:e>
                      <m:sub>
                        <m:r>
                          <a:rPr lang="en-US" sz="2000" i="1"/>
                          <m:t>1</m:t>
                        </m:r>
                      </m:sub>
                    </m:sSub>
                    <m:r>
                      <a:rPr lang="en-US" sz="2000"/>
                      <m:t>,</m:t>
                    </m:r>
                    <m:sSub>
                      <m:sSubPr>
                        <m:ctrlPr>
                          <a:rPr lang="en-US" sz="2000" i="1"/>
                        </m:ctrlPr>
                      </m:sSubPr>
                      <m:e>
                        <m:r>
                          <a:rPr lang="en-US" sz="2000" i="1"/>
                          <m:t>𝑄</m:t>
                        </m:r>
                      </m:e>
                      <m:sub>
                        <m:r>
                          <a:rPr lang="en-US" sz="2000" i="1"/>
                          <m:t>2</m:t>
                        </m:r>
                      </m:sub>
                    </m:sSub>
                  </m:oMath>
                </a14:m>
                <a:r>
                  <a:rPr lang="en-US" sz="2000" dirty="0"/>
                  <a:t> and scalar </a:t>
                </a:r>
                <a14:m>
                  <m:oMath xmlns:m="http://schemas.openxmlformats.org/officeDocument/2006/math">
                    <m:r>
                      <a:rPr lang="en-US" sz="2000" i="1"/>
                      <m:t>𝛾</m:t>
                    </m:r>
                    <m:r>
                      <a:rPr lang="en-US" sz="2000"/>
                      <m:t>&gt;</m:t>
                    </m:r>
                    <m:r>
                      <a:rPr lang="en-US" sz="2000" i="1"/>
                      <m:t>0</m:t>
                    </m:r>
                  </m:oMath>
                </a14:m>
                <a:r>
                  <a:rPr lang="en-US" sz="2000" dirty="0"/>
                  <a:t>. Let </a:t>
                </a:r>
                <a14:m>
                  <m:oMath xmlns:m="http://schemas.openxmlformats.org/officeDocument/2006/math">
                    <m:r>
                      <a:rPr lang="en-US" sz="2000" i="1"/>
                      <m:t>𝑋</m:t>
                    </m:r>
                    <m:box>
                      <m:boxPr>
                        <m:ctrlPr>
                          <a:rPr lang="en-US" sz="2000" i="1"/>
                        </m:ctrlPr>
                      </m:boxPr>
                      <m:e>
                        <m:r>
                          <a:rPr lang="en-US" sz="2000"/>
                          <m:t>:=</m:t>
                        </m:r>
                      </m:e>
                    </m:box>
                    <m:sSup>
                      <m:sSupPr>
                        <m:ctrlPr>
                          <a:rPr lang="en-US" sz="2000" i="1"/>
                        </m:ctrlPr>
                      </m:sSupPr>
                      <m:e>
                        <m:r>
                          <a:rPr lang="en-US" sz="2000" i="1"/>
                          <m:t>𝑃</m:t>
                        </m:r>
                      </m:e>
                      <m:sup>
                        <m:r>
                          <a:rPr lang="en-US" sz="2000" i="1"/>
                          <m:t>−1</m:t>
                        </m:r>
                      </m:sup>
                    </m:sSup>
                  </m:oMath>
                </a14:m>
                <a:r>
                  <a:rPr lang="en-US" sz="2000" dirty="0"/>
                  <a:t> be used later.</a:t>
                </a:r>
              </a:p>
              <a:p>
                <a:r>
                  <a:rPr lang="en-US" sz="2000" dirty="0"/>
                  <a:t>Two lemmas we apply (stated compactly):</a:t>
                </a:r>
              </a:p>
              <a:p>
                <a:pPr lvl="1">
                  <a:buFont typeface="Courier New" panose="02070309020205020404" pitchFamily="49" charset="0"/>
                  <a:buChar char="o"/>
                </a:pPr>
                <a:r>
                  <a:rPr lang="en-US" sz="2000" b="1" dirty="0"/>
                  <a:t>Schur complement</a:t>
                </a:r>
                <a:r>
                  <a:rPr lang="en-US" sz="2000" dirty="0"/>
                  <a:t>: </a:t>
                </a:r>
                <a14:m>
                  <m:oMath xmlns:m="http://schemas.openxmlformats.org/officeDocument/2006/math">
                    <m:d>
                      <m:dPr>
                        <m:begChr m:val="["/>
                        <m:endChr m:val="]"/>
                        <m:ctrlPr>
                          <a:rPr lang="en-US" sz="2000" i="1"/>
                        </m:ctrlPr>
                      </m:dPr>
                      <m:e>
                        <m:m>
                          <m:mPr>
                            <m:plcHide m:val="on"/>
                            <m:mcs>
                              <m:mc>
                                <m:mcPr>
                                  <m:count m:val="2"/>
                                  <m:mcJc m:val="center"/>
                                </m:mcPr>
                              </m:mc>
                            </m:mcs>
                            <m:ctrlPr>
                              <a:rPr lang="en-US" sz="2000" i="1"/>
                            </m:ctrlPr>
                          </m:mPr>
                          <m:mr>
                            <m:e>
                              <m:r>
                                <a:rPr lang="en-US" sz="2000" i="1"/>
                                <m:t>𝑆</m:t>
                              </m:r>
                            </m:e>
                            <m:e>
                              <m:r>
                                <a:rPr lang="en-US" sz="2000" i="1"/>
                                <m:t>𝑅</m:t>
                              </m:r>
                            </m:e>
                          </m:mr>
                          <m:mr>
                            <m:e>
                              <m:sSup>
                                <m:sSupPr>
                                  <m:ctrlPr>
                                    <a:rPr lang="en-US" sz="2000" i="1"/>
                                  </m:ctrlPr>
                                </m:sSupPr>
                                <m:e>
                                  <m:r>
                                    <a:rPr lang="en-US" sz="2000" i="1"/>
                                    <m:t>𝑅</m:t>
                                  </m:r>
                                </m:e>
                                <m:sup>
                                  <m:r>
                                    <a:rPr lang="en-US" sz="2000" i="1"/>
                                    <m:t>𝑇</m:t>
                                  </m:r>
                                </m:sup>
                              </m:sSup>
                            </m:e>
                            <m:e>
                              <m:r>
                                <a:rPr lang="en-US" sz="2000" i="1"/>
                                <m:t>𝑇</m:t>
                              </m:r>
                            </m:e>
                          </m:mr>
                        </m:m>
                      </m:e>
                    </m:d>
                    <m:r>
                      <a:rPr lang="en-US" sz="2000"/>
                      <m:t>&lt;</m:t>
                    </m:r>
                    <m:r>
                      <a:rPr lang="en-US" sz="2000" i="1"/>
                      <m:t>0</m:t>
                    </m:r>
                    <m:r>
                      <a:rPr lang="en-US" sz="2000"/>
                      <m:t>,</m:t>
                    </m:r>
                    <m:r>
                      <a:rPr lang="en-US" sz="2000" i="1"/>
                      <m:t> </m:t>
                    </m:r>
                    <m:r>
                      <a:rPr lang="en-US" sz="2000" i="1"/>
                      <m:t>𝑇</m:t>
                    </m:r>
                    <m:r>
                      <a:rPr lang="en-US" sz="2000"/>
                      <m:t>&lt;</m:t>
                    </m:r>
                    <m:r>
                      <a:rPr lang="en-US" sz="2000" i="1"/>
                      <m:t>0</m:t>
                    </m:r>
                    <m:r>
                      <a:rPr lang="en-US" sz="2000"/>
                      <m:t>⇔</m:t>
                    </m:r>
                    <m:r>
                      <a:rPr lang="en-US" sz="2000" i="1"/>
                      <m:t>𝑆</m:t>
                    </m:r>
                    <m:r>
                      <a:rPr lang="en-US" sz="2000" i="1"/>
                      <m:t>−</m:t>
                    </m:r>
                    <m:r>
                      <a:rPr lang="en-US" sz="2000" i="1"/>
                      <m:t>𝑅</m:t>
                    </m:r>
                    <m:sSup>
                      <m:sSupPr>
                        <m:ctrlPr>
                          <a:rPr lang="en-US" sz="2000" i="1"/>
                        </m:ctrlPr>
                      </m:sSupPr>
                      <m:e>
                        <m:r>
                          <a:rPr lang="en-US" sz="2000" i="1"/>
                          <m:t>𝑇</m:t>
                        </m:r>
                      </m:e>
                      <m:sup>
                        <m:r>
                          <a:rPr lang="en-US" sz="2000" i="1"/>
                          <m:t>−1</m:t>
                        </m:r>
                      </m:sup>
                    </m:sSup>
                    <m:sSup>
                      <m:sSupPr>
                        <m:ctrlPr>
                          <a:rPr lang="en-US" sz="2000" i="1"/>
                        </m:ctrlPr>
                      </m:sSupPr>
                      <m:e>
                        <m:r>
                          <a:rPr lang="en-US" sz="2000" i="1"/>
                          <m:t>𝑅</m:t>
                        </m:r>
                      </m:e>
                      <m:sup>
                        <m:r>
                          <a:rPr lang="en-US" sz="2000" i="1"/>
                          <m:t>𝑇</m:t>
                        </m:r>
                      </m:sup>
                    </m:sSup>
                    <m:r>
                      <a:rPr lang="en-US" sz="2000"/>
                      <m:t>&lt;</m:t>
                    </m:r>
                    <m:r>
                      <a:rPr lang="en-US" sz="2000" i="1"/>
                      <m:t>0</m:t>
                    </m:r>
                    <m:r>
                      <a:rPr lang="en-US" sz="2000"/>
                      <m:t>.</m:t>
                    </m:r>
                  </m:oMath>
                </a14:m>
                <a:endParaRPr lang="en-US" sz="2000" dirty="0"/>
              </a:p>
              <a:p>
                <a:pPr lvl="1">
                  <a:buFont typeface="Courier New" panose="02070309020205020404" pitchFamily="49" charset="0"/>
                  <a:buChar char="o"/>
                </a:pPr>
                <a:r>
                  <a:rPr lang="en-US" sz="2000" b="1" dirty="0"/>
                  <a:t>Reverse Schur (lifting)</a:t>
                </a:r>
                <a:r>
                  <a:rPr lang="en-US" sz="2000" dirty="0"/>
                  <a:t>: to represent a quadratic term </a:t>
                </a:r>
                <a14:m>
                  <m:oMath xmlns:m="http://schemas.openxmlformats.org/officeDocument/2006/math">
                    <m:r>
                      <a:rPr lang="en-US" sz="2000" i="1"/>
                      <m:t>𝑌</m:t>
                    </m:r>
                    <m:sSup>
                      <m:sSupPr>
                        <m:ctrlPr>
                          <a:rPr lang="en-US" sz="2000" i="1"/>
                        </m:ctrlPr>
                      </m:sSupPr>
                      <m:e>
                        <m:r>
                          <a:rPr lang="en-US" sz="2000" i="1"/>
                          <m:t>𝑀</m:t>
                        </m:r>
                      </m:e>
                      <m:sup>
                        <m:r>
                          <a:rPr lang="en-US" sz="2000" i="1"/>
                          <m:t>−1</m:t>
                        </m:r>
                      </m:sup>
                    </m:sSup>
                    <m:sSup>
                      <m:sSupPr>
                        <m:ctrlPr>
                          <a:rPr lang="en-US" sz="2000" i="1"/>
                        </m:ctrlPr>
                      </m:sSupPr>
                      <m:e>
                        <m:r>
                          <a:rPr lang="en-US" sz="2000" i="1"/>
                          <m:t>𝑌</m:t>
                        </m:r>
                      </m:e>
                      <m:sup>
                        <m:r>
                          <a:rPr lang="en-US" sz="2000" i="1"/>
                          <m:t>𝑇</m:t>
                        </m:r>
                      </m:sup>
                    </m:sSup>
                  </m:oMath>
                </a14:m>
                <a:r>
                  <a:rPr lang="en-US" sz="2000" dirty="0"/>
                  <a:t> as Schur complement of a block with </a:t>
                </a:r>
                <a14:m>
                  <m:oMath xmlns:m="http://schemas.openxmlformats.org/officeDocument/2006/math">
                    <m:r>
                      <a:rPr lang="en-US" sz="2000" i="1"/>
                      <m:t>−</m:t>
                    </m:r>
                    <m:r>
                      <a:rPr lang="en-US" sz="2000" i="1"/>
                      <m:t>𝑀</m:t>
                    </m:r>
                  </m:oMath>
                </a14:m>
                <a:r>
                  <a:rPr lang="en-US" sz="2000" dirty="0"/>
                  <a:t> on the diagonal and </a:t>
                </a:r>
                <a14:m>
                  <m:oMath xmlns:m="http://schemas.openxmlformats.org/officeDocument/2006/math">
                    <m:r>
                      <a:rPr lang="en-US" sz="2000" i="1"/>
                      <m:t>𝑌</m:t>
                    </m:r>
                  </m:oMath>
                </a14:m>
                <a:r>
                  <a:rPr lang="en-US" sz="2000" dirty="0"/>
                  <a:t> in off-diagonals.</a:t>
                </a:r>
              </a:p>
              <a:p>
                <a:pPr lvl="1"/>
                <a:endParaRPr lang="en-US" sz="2000" b="1" dirty="0"/>
              </a:p>
              <a:p>
                <a:pPr marL="457200" lvl="1" indent="0">
                  <a:buNone/>
                </a:pPr>
                <a:endParaRPr lang="en-US" sz="2000" dirty="0"/>
              </a:p>
              <a:p>
                <a:pPr lvl="1">
                  <a:buFont typeface="Courier New" panose="02070309020205020404" pitchFamily="49" charset="0"/>
                  <a:buChar char="o"/>
                </a:pPr>
                <a:endParaRPr lang="en-US" sz="2000" dirty="0">
                  <a:latin typeface="Arial" panose="020B0604020202020204" pitchFamily="34" charset="0"/>
                  <a:cs typeface="Arial" panose="020B0604020202020204" pitchFamily="34" charset="0"/>
                </a:endParaRPr>
              </a:p>
            </p:txBody>
          </p:sp>
        </mc:Choice>
        <mc:Fallback>
          <p:sp>
            <p:nvSpPr>
              <p:cNvPr id="9" name="Content Placeholder 3">
                <a:extLst>
                  <a:ext uri="{FF2B5EF4-FFF2-40B4-BE49-F238E27FC236}">
                    <a16:creationId xmlns:a16="http://schemas.microsoft.com/office/drawing/2014/main" id="{E94E525A-4661-A34D-F5C5-9C1CE275349A}"/>
                  </a:ext>
                </a:extLst>
              </p:cNvPr>
              <p:cNvSpPr>
                <a:spLocks noGrp="1" noRot="1" noChangeAspect="1" noMove="1" noResize="1" noEditPoints="1" noAdjustHandles="1" noChangeArrowheads="1" noChangeShapeType="1" noTextEdit="1"/>
              </p:cNvSpPr>
              <p:nvPr>
                <p:ph sz="half" idx="2"/>
              </p:nvPr>
            </p:nvSpPr>
            <p:spPr>
              <a:xfrm>
                <a:off x="299581" y="1465680"/>
                <a:ext cx="10528840" cy="5392320"/>
              </a:xfrm>
              <a:blipFill>
                <a:blip r:embed="rId3"/>
                <a:stretch>
                  <a:fillRect l="-232" t="-678"/>
                </a:stretch>
              </a:blipFill>
            </p:spPr>
            <p:txBody>
              <a:bodyPr/>
              <a:lstStyle/>
              <a:p>
                <a:r>
                  <a:rPr lang="en-US">
                    <a:noFill/>
                  </a:rPr>
                  <a:t> </a:t>
                </a:r>
              </a:p>
            </p:txBody>
          </p:sp>
        </mc:Fallback>
      </mc:AlternateContent>
      <p:sp>
        <p:nvSpPr>
          <p:cNvPr id="4" name="Slide Number Placeholder 2">
            <a:extLst>
              <a:ext uri="{FF2B5EF4-FFF2-40B4-BE49-F238E27FC236}">
                <a16:creationId xmlns:a16="http://schemas.microsoft.com/office/drawing/2014/main" id="{6B8568E3-A4F6-2E64-3847-6AA15A584CA8}"/>
              </a:ext>
            </a:extLst>
          </p:cNvPr>
          <p:cNvSpPr>
            <a:spLocks noGrp="1"/>
          </p:cNvSpPr>
          <p:nvPr>
            <p:ph type="sldNum" sz="quarter" idx="12"/>
          </p:nvPr>
        </p:nvSpPr>
        <p:spPr>
          <a:xfrm>
            <a:off x="7795578" y="6141113"/>
            <a:ext cx="1096432" cy="716887"/>
          </a:xfrm>
        </p:spPr>
        <p:txBody>
          <a:bodyPr/>
          <a:lstStyle/>
          <a:p>
            <a:r>
              <a:rPr lang="en-US" dirty="0"/>
              <a:t>9</a:t>
            </a:r>
          </a:p>
        </p:txBody>
      </p:sp>
    </p:spTree>
    <p:extLst>
      <p:ext uri="{BB962C8B-B14F-4D97-AF65-F5344CB8AC3E}">
        <p14:creationId xmlns:p14="http://schemas.microsoft.com/office/powerpoint/2010/main" val="10922666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2E012-323A-6AA8-AAA7-DD51F04AF459}"/>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51DB2722-8620-A5E4-D8EE-7296EA24AAE1}"/>
                  </a:ext>
                </a:extLst>
              </p:cNvPr>
              <p:cNvSpPr>
                <a:spLocks noGrp="1"/>
              </p:cNvSpPr>
              <p:nvPr>
                <p:ph type="title"/>
              </p:nvPr>
            </p:nvSpPr>
            <p:spPr>
              <a:xfrm>
                <a:off x="299581" y="476421"/>
                <a:ext cx="9642440" cy="887659"/>
              </a:xfrm>
            </p:spPr>
            <p:txBody>
              <a:bodyPr>
                <a:normAutofit fontScale="90000"/>
              </a:bodyPr>
              <a:lstStyle/>
              <a:p>
                <a:pPr algn="ctr"/>
                <a:r>
                  <a:rPr lang="en-US" b="1" dirty="0">
                    <a:latin typeface="Arial" panose="020B0604020202020204" pitchFamily="34" charset="0"/>
                    <a:cs typeface="Arial" panose="020B0604020202020204" pitchFamily="34" charset="0"/>
                  </a:rPr>
                  <a:t>Computing </a:t>
                </a:r>
                <a14:m>
                  <m:oMath xmlns:m="http://schemas.openxmlformats.org/officeDocument/2006/math">
                    <m:acc>
                      <m:accPr>
                        <m:chr m:val="̇"/>
                        <m:ctrlPr>
                          <a:rPr lang="en-US" b="1" i="1">
                            <a:latin typeface="Cambria Math" panose="02040503050406030204" pitchFamily="18" charset="0"/>
                          </a:rPr>
                        </m:ctrlPr>
                      </m:accPr>
                      <m:e>
                        <m:r>
                          <a:rPr lang="en-US" b="1" i="1">
                            <a:latin typeface="Cambria Math" panose="02040503050406030204" pitchFamily="18" charset="0"/>
                          </a:rPr>
                          <m:t>𝑽</m:t>
                        </m:r>
                      </m:e>
                    </m:acc>
                  </m:oMath>
                </a14:m>
                <a:r>
                  <a:rPr lang="en-US" b="1" dirty="0">
                    <a:latin typeface="Arial" panose="020B0604020202020204" pitchFamily="34" charset="0"/>
                    <a:cs typeface="Arial" panose="020B0604020202020204" pitchFamily="34" charset="0"/>
                  </a:rPr>
                  <a:t> along trajectories of the closed-loop system</a:t>
                </a:r>
              </a:p>
            </p:txBody>
          </p:sp>
        </mc:Choice>
        <mc:Fallback>
          <p:sp>
            <p:nvSpPr>
              <p:cNvPr id="2" name="Title 1">
                <a:extLst>
                  <a:ext uri="{FF2B5EF4-FFF2-40B4-BE49-F238E27FC236}">
                    <a16:creationId xmlns:a16="http://schemas.microsoft.com/office/drawing/2014/main" id="{51DB2722-8620-A5E4-D8EE-7296EA24AAE1}"/>
                  </a:ext>
                </a:extLst>
              </p:cNvPr>
              <p:cNvSpPr>
                <a:spLocks noGrp="1" noRot="1" noChangeAspect="1" noMove="1" noResize="1" noEditPoints="1" noAdjustHandles="1" noChangeArrowheads="1" noChangeShapeType="1" noTextEdit="1"/>
              </p:cNvSpPr>
              <p:nvPr>
                <p:ph type="title"/>
              </p:nvPr>
            </p:nvSpPr>
            <p:spPr>
              <a:xfrm>
                <a:off x="299581" y="476421"/>
                <a:ext cx="9642440" cy="887659"/>
              </a:xfrm>
              <a:blipFill>
                <a:blip r:embed="rId3"/>
                <a:stretch>
                  <a:fillRect t="-7534" b="-43836"/>
                </a:stretch>
              </a:blipFill>
            </p:spPr>
            <p:txBody>
              <a:bodyPr/>
              <a:lstStyle/>
              <a:p>
                <a:r>
                  <a:rPr lang="en-US">
                    <a:noFill/>
                  </a:rPr>
                  <a:t> </a:t>
                </a:r>
              </a:p>
            </p:txBody>
          </p:sp>
        </mc:Fallback>
      </mc:AlternateContent>
      <p:sp>
        <p:nvSpPr>
          <p:cNvPr id="6" name="Content Placeholder 3">
            <a:extLst>
              <a:ext uri="{FF2B5EF4-FFF2-40B4-BE49-F238E27FC236}">
                <a16:creationId xmlns:a16="http://schemas.microsoft.com/office/drawing/2014/main" id="{6C9E2D63-C310-4FDD-BE64-AAAB619D8942}"/>
              </a:ext>
            </a:extLst>
          </p:cNvPr>
          <p:cNvSpPr txBox="1">
            <a:spLocks/>
          </p:cNvSpPr>
          <p:nvPr/>
        </p:nvSpPr>
        <p:spPr>
          <a:xfrm>
            <a:off x="187283" y="4207555"/>
            <a:ext cx="7047705"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9" name="Content Placeholder 3">
                <a:extLst>
                  <a:ext uri="{FF2B5EF4-FFF2-40B4-BE49-F238E27FC236}">
                    <a16:creationId xmlns:a16="http://schemas.microsoft.com/office/drawing/2014/main" id="{F6234739-CB7A-F12E-2FB3-80FDEA8DED96}"/>
                  </a:ext>
                </a:extLst>
              </p:cNvPr>
              <p:cNvSpPr>
                <a:spLocks noGrp="1"/>
              </p:cNvSpPr>
              <p:nvPr>
                <p:ph sz="half" idx="2"/>
              </p:nvPr>
            </p:nvSpPr>
            <p:spPr>
              <a:xfrm>
                <a:off x="299581" y="1465680"/>
                <a:ext cx="10528840" cy="5392320"/>
              </a:xfrm>
            </p:spPr>
            <p:txBody>
              <a:bodyPr>
                <a:noAutofit/>
              </a:bodyPr>
              <a:lstStyle/>
              <a:p>
                <a:r>
                  <a:rPr lang="en-US" sz="2000" dirty="0">
                    <a:latin typeface="Arial" panose="020B0604020202020204" pitchFamily="34" charset="0"/>
                    <a:cs typeface="Arial" panose="020B0604020202020204" pitchFamily="34" charset="0"/>
                  </a:rPr>
                  <a:t>After Differentiating each term we get:</a:t>
                </a:r>
              </a:p>
              <a:p>
                <a:pPr marL="0" indent="0">
                  <a:buNone/>
                </a:pPr>
                <a14:m>
                  <m:oMathPara xmlns:m="http://schemas.openxmlformats.org/officeDocument/2006/math">
                    <m:oMathParaPr>
                      <m:jc m:val="center"/>
                    </m:oMathParaPr>
                    <m:oMath xmlns:m="http://schemas.openxmlformats.org/officeDocument/2006/math">
                      <m:m>
                        <m:mPr>
                          <m:plcHide m:val="on"/>
                          <m:mcs>
                            <m:mc>
                              <m:mcPr>
                                <m:count m:val="2"/>
                                <m:mcJc m:val="center"/>
                              </m:mcPr>
                            </m:mc>
                          </m:mcs>
                          <m:ctrlPr>
                            <a:rPr lang="en-US" i="1"/>
                          </m:ctrlPr>
                        </m:mPr>
                        <m:mr>
                          <m:e/>
                          <m:e>
                            <m:acc>
                              <m:accPr>
                                <m:chr m:val="̇"/>
                                <m:ctrlPr>
                                  <a:rPr lang="en-US" i="1">
                                    <a:latin typeface="Cambria Math" panose="02040503050406030204" pitchFamily="18" charset="0"/>
                                  </a:rPr>
                                </m:ctrlPr>
                              </m:accPr>
                              <m:e>
                                <m:r>
                                  <a:rPr lang="en-US" i="1">
                                    <a:latin typeface="Cambria Math" panose="02040503050406030204" pitchFamily="18" charset="0"/>
                                  </a:rPr>
                                  <m:t>𝑉</m:t>
                                </m:r>
                              </m:e>
                            </m:acc>
                            <m:r>
                              <a:rPr lang="en-US" b="0" i="1" smtClean="0">
                                <a:latin typeface="Cambria Math" panose="02040503050406030204" pitchFamily="18" charset="0"/>
                              </a:rPr>
                              <m:t> </m:t>
                            </m:r>
                            <m:r>
                              <a:rPr lang="en-US"/>
                              <m:t>=</m:t>
                            </m:r>
                            <m:sSup>
                              <m:sSupPr>
                                <m:ctrlPr>
                                  <a:rPr lang="en-US" i="1"/>
                                </m:ctrlPr>
                              </m:sSupPr>
                              <m:e>
                                <m:r>
                                  <a:rPr lang="en-US" i="1"/>
                                  <m:t>𝑥</m:t>
                                </m:r>
                              </m:e>
                              <m:sup>
                                <m:r>
                                  <a:rPr lang="en-US" i="1"/>
                                  <m:t>𝑇</m:t>
                                </m:r>
                              </m:sup>
                            </m:sSup>
                            <m:d>
                              <m:dPr>
                                <m:ctrlPr>
                                  <a:rPr lang="en-US" i="1"/>
                                </m:ctrlPr>
                              </m:dPr>
                              <m:e>
                                <m:r>
                                  <a:rPr lang="en-US" i="1"/>
                                  <m:t>𝑃𝐴</m:t>
                                </m:r>
                                <m:r>
                                  <a:rPr lang="en-US"/>
                                  <m:t>+</m:t>
                                </m:r>
                                <m:sSup>
                                  <m:sSupPr>
                                    <m:ctrlPr>
                                      <a:rPr lang="en-US" i="1"/>
                                    </m:ctrlPr>
                                  </m:sSupPr>
                                  <m:e>
                                    <m:r>
                                      <a:rPr lang="en-US" i="1"/>
                                      <m:t>𝐴</m:t>
                                    </m:r>
                                  </m:e>
                                  <m:sup>
                                    <m:r>
                                      <a:rPr lang="en-US" i="1"/>
                                      <m:t>𝑇</m:t>
                                    </m:r>
                                  </m:sup>
                                </m:sSup>
                                <m:r>
                                  <a:rPr lang="en-US" i="1"/>
                                  <m:t>𝑃</m:t>
                                </m:r>
                                <m:r>
                                  <a:rPr lang="en-US"/>
                                  <m:t>+</m:t>
                                </m:r>
                                <m:sSub>
                                  <m:sSubPr>
                                    <m:ctrlPr>
                                      <a:rPr lang="en-US" i="1"/>
                                    </m:ctrlPr>
                                  </m:sSubPr>
                                  <m:e>
                                    <m:r>
                                      <a:rPr lang="en-US" i="1"/>
                                      <m:t>𝑄</m:t>
                                    </m:r>
                                  </m:e>
                                  <m:sub>
                                    <m:r>
                                      <a:rPr lang="en-US" i="1"/>
                                      <m:t>1</m:t>
                                    </m:r>
                                  </m:sub>
                                </m:sSub>
                                <m:r>
                                  <a:rPr lang="en-US"/>
                                  <m:t>+</m:t>
                                </m:r>
                                <m:sSub>
                                  <m:sSubPr>
                                    <m:ctrlPr>
                                      <a:rPr lang="en-US" i="1"/>
                                    </m:ctrlPr>
                                  </m:sSubPr>
                                  <m:e>
                                    <m:r>
                                      <a:rPr lang="en-US" i="1"/>
                                      <m:t>𝑄</m:t>
                                    </m:r>
                                  </m:e>
                                  <m:sub>
                                    <m:r>
                                      <a:rPr lang="en-US" i="1"/>
                                      <m:t>2</m:t>
                                    </m:r>
                                  </m:sub>
                                </m:sSub>
                              </m:e>
                            </m:d>
                            <m:r>
                              <a:rPr lang="en-US" i="1"/>
                              <m:t>𝑥</m:t>
                            </m:r>
                          </m:e>
                        </m:mr>
                        <m:mr>
                          <m:e/>
                          <m:e>
                            <m:r>
                              <a:rPr lang="en-US"/>
                              <m:t>+</m:t>
                            </m:r>
                            <m:sSup>
                              <m:sSupPr>
                                <m:ctrlPr>
                                  <a:rPr lang="en-US" i="1"/>
                                </m:ctrlPr>
                              </m:sSupPr>
                              <m:e>
                                <m:r>
                                  <a:rPr lang="en-US" i="1"/>
                                  <m:t>𝑥</m:t>
                                </m:r>
                              </m:e>
                              <m:sup>
                                <m:r>
                                  <a:rPr lang="en-US" i="1"/>
                                  <m:t>𝑇</m:t>
                                </m:r>
                              </m:sup>
                            </m:sSup>
                            <m:r>
                              <a:rPr lang="en-US" i="1"/>
                              <m:t>𝑃</m:t>
                            </m:r>
                            <m:sSub>
                              <m:sSubPr>
                                <m:ctrlPr>
                                  <a:rPr lang="en-US" i="1"/>
                                </m:ctrlPr>
                              </m:sSubPr>
                              <m:e>
                                <m:r>
                                  <a:rPr lang="en-US" i="1"/>
                                  <m:t>𝒜</m:t>
                                </m:r>
                              </m:e>
                              <m:sub>
                                <m:r>
                                  <a:rPr lang="en-US" i="1"/>
                                  <m:t>𝑑</m:t>
                                </m:r>
                              </m:sub>
                            </m:sSub>
                            <m:r>
                              <a:rPr lang="en-US" i="1"/>
                              <m:t>𝑥</m:t>
                            </m:r>
                            <m:d>
                              <m:dPr>
                                <m:ctrlPr>
                                  <a:rPr lang="en-US" i="1"/>
                                </m:ctrlPr>
                              </m:dPr>
                              <m:e>
                                <m:r>
                                  <a:rPr lang="en-US" i="1"/>
                                  <m:t>𝑡</m:t>
                                </m:r>
                                <m:r>
                                  <a:rPr lang="en-US" i="1"/>
                                  <m:t>−</m:t>
                                </m:r>
                                <m:r>
                                  <a:rPr lang="en-US" i="1"/>
                                  <m:t>𝑑</m:t>
                                </m:r>
                              </m:e>
                            </m:d>
                            <m:r>
                              <a:rPr lang="en-US"/>
                              <m:t>+</m:t>
                            </m:r>
                            <m:r>
                              <a:rPr lang="en-US" i="1"/>
                              <m:t>𝑥</m:t>
                            </m:r>
                            <m:sSup>
                              <m:sSupPr>
                                <m:ctrlPr>
                                  <a:rPr lang="en-US" i="1"/>
                                </m:ctrlPr>
                              </m:sSupPr>
                              <m:e>
                                <m:d>
                                  <m:dPr>
                                    <m:ctrlPr>
                                      <a:rPr lang="en-US" i="1"/>
                                    </m:ctrlPr>
                                  </m:dPr>
                                  <m:e>
                                    <m:r>
                                      <a:rPr lang="en-US" i="1"/>
                                      <m:t>𝑡</m:t>
                                    </m:r>
                                    <m:r>
                                      <a:rPr lang="en-US" i="1"/>
                                      <m:t>−</m:t>
                                    </m:r>
                                    <m:r>
                                      <a:rPr lang="en-US" i="1"/>
                                      <m:t>𝑑</m:t>
                                    </m:r>
                                  </m:e>
                                </m:d>
                              </m:e>
                              <m:sup>
                                <m:r>
                                  <a:rPr lang="en-US" i="1"/>
                                  <m:t>𝑇</m:t>
                                </m:r>
                              </m:sup>
                            </m:sSup>
                            <m:sSubSup>
                              <m:sSubSupPr>
                                <m:ctrlPr>
                                  <a:rPr lang="en-US" i="1"/>
                                </m:ctrlPr>
                              </m:sSubSupPr>
                              <m:e>
                                <m:r>
                                  <a:rPr lang="en-US" i="1"/>
                                  <m:t>𝒜</m:t>
                                </m:r>
                              </m:e>
                              <m:sub>
                                <m:r>
                                  <a:rPr lang="en-US" i="1"/>
                                  <m:t>𝑑</m:t>
                                </m:r>
                              </m:sub>
                              <m:sup>
                                <m:r>
                                  <a:rPr lang="en-US" i="1"/>
                                  <m:t>𝑇</m:t>
                                </m:r>
                              </m:sup>
                            </m:sSubSup>
                            <m:r>
                              <a:rPr lang="en-US" i="1"/>
                              <m:t>𝑃𝑥</m:t>
                            </m:r>
                            <m:r>
                              <a:rPr lang="en-US" i="1"/>
                              <m:t>−</m:t>
                            </m:r>
                            <m:r>
                              <a:rPr lang="en-US" i="1"/>
                              <m:t>𝑥</m:t>
                            </m:r>
                            <m:sSup>
                              <m:sSupPr>
                                <m:ctrlPr>
                                  <a:rPr lang="en-US" i="1"/>
                                </m:ctrlPr>
                              </m:sSupPr>
                              <m:e>
                                <m:d>
                                  <m:dPr>
                                    <m:ctrlPr>
                                      <a:rPr lang="en-US" i="1"/>
                                    </m:ctrlPr>
                                  </m:dPr>
                                  <m:e>
                                    <m:r>
                                      <a:rPr lang="en-US" i="1"/>
                                      <m:t>𝑡</m:t>
                                    </m:r>
                                    <m:r>
                                      <a:rPr lang="en-US" i="1"/>
                                      <m:t>−</m:t>
                                    </m:r>
                                    <m:r>
                                      <a:rPr lang="en-US" i="1"/>
                                      <m:t>𝑑</m:t>
                                    </m:r>
                                  </m:e>
                                </m:d>
                              </m:e>
                              <m:sup>
                                <m:r>
                                  <a:rPr lang="en-US" i="1"/>
                                  <m:t>𝑇</m:t>
                                </m:r>
                              </m:sup>
                            </m:sSup>
                            <m:sSub>
                              <m:sSubPr>
                                <m:ctrlPr>
                                  <a:rPr lang="en-US" i="1"/>
                                </m:ctrlPr>
                              </m:sSubPr>
                              <m:e>
                                <m:r>
                                  <a:rPr lang="en-US" i="1"/>
                                  <m:t>𝑄</m:t>
                                </m:r>
                              </m:e>
                              <m:sub>
                                <m:r>
                                  <a:rPr lang="en-US" i="1"/>
                                  <m:t>1</m:t>
                                </m:r>
                              </m:sub>
                            </m:sSub>
                            <m:r>
                              <a:rPr lang="en-US" i="1"/>
                              <m:t>𝑥</m:t>
                            </m:r>
                            <m:d>
                              <m:dPr>
                                <m:ctrlPr>
                                  <a:rPr lang="en-US" i="1"/>
                                </m:ctrlPr>
                              </m:dPr>
                              <m:e>
                                <m:r>
                                  <a:rPr lang="en-US" i="1"/>
                                  <m:t>𝑡</m:t>
                                </m:r>
                                <m:r>
                                  <a:rPr lang="en-US" i="1"/>
                                  <m:t>−</m:t>
                                </m:r>
                                <m:r>
                                  <a:rPr lang="en-US" i="1"/>
                                  <m:t>𝑑</m:t>
                                </m:r>
                              </m:e>
                            </m:d>
                          </m:e>
                        </m:mr>
                        <m:mr>
                          <m:e/>
                          <m:e>
                            <m:r>
                              <a:rPr lang="en-US" i="1"/>
                              <m:t> </m:t>
                            </m:r>
                            <m:r>
                              <a:rPr lang="en-US"/>
                              <m:t>+</m:t>
                            </m:r>
                            <m:sSup>
                              <m:sSupPr>
                                <m:ctrlPr>
                                  <a:rPr lang="en-US" i="1"/>
                                </m:ctrlPr>
                              </m:sSupPr>
                              <m:e>
                                <m:r>
                                  <a:rPr lang="en-US" i="1"/>
                                  <m:t>𝑥</m:t>
                                </m:r>
                              </m:e>
                              <m:sup>
                                <m:r>
                                  <a:rPr lang="en-US" i="1"/>
                                  <m:t>𝑇</m:t>
                                </m:r>
                              </m:sup>
                            </m:sSup>
                            <m:r>
                              <a:rPr lang="en-US" i="1"/>
                              <m:t>𝑃</m:t>
                            </m:r>
                            <m:sSub>
                              <m:sSubPr>
                                <m:ctrlPr>
                                  <a:rPr lang="en-US" i="1"/>
                                </m:ctrlPr>
                              </m:sSubPr>
                              <m:e>
                                <m:r>
                                  <a:rPr lang="en-US" i="1"/>
                                  <m:t>ℬ</m:t>
                                </m:r>
                              </m:e>
                              <m:sub>
                                <m:r>
                                  <a:rPr lang="en-US" i="1"/>
                                  <m:t>2</m:t>
                                </m:r>
                              </m:sub>
                            </m:sSub>
                            <m:r>
                              <a:rPr lang="en-US" i="1"/>
                              <m:t>𝑥</m:t>
                            </m:r>
                            <m:d>
                              <m:dPr>
                                <m:ctrlPr>
                                  <a:rPr lang="en-US" i="1"/>
                                </m:ctrlPr>
                              </m:dPr>
                              <m:e>
                                <m:r>
                                  <a:rPr lang="en-US" i="1"/>
                                  <m:t>𝑡</m:t>
                                </m:r>
                                <m:r>
                                  <a:rPr lang="en-US" i="1"/>
                                  <m:t>−2</m:t>
                                </m:r>
                                <m:r>
                                  <a:rPr lang="en-US" i="1"/>
                                  <m:t>𝑑</m:t>
                                </m:r>
                              </m:e>
                            </m:d>
                            <m:r>
                              <a:rPr lang="en-US"/>
                              <m:t>+</m:t>
                            </m:r>
                            <m:r>
                              <a:rPr lang="en-US" i="1"/>
                              <m:t>𝑥</m:t>
                            </m:r>
                            <m:sSup>
                              <m:sSupPr>
                                <m:ctrlPr>
                                  <a:rPr lang="en-US" i="1"/>
                                </m:ctrlPr>
                              </m:sSupPr>
                              <m:e>
                                <m:d>
                                  <m:dPr>
                                    <m:ctrlPr>
                                      <a:rPr lang="en-US" i="1"/>
                                    </m:ctrlPr>
                                  </m:dPr>
                                  <m:e>
                                    <m:r>
                                      <a:rPr lang="en-US" i="1"/>
                                      <m:t>𝑡</m:t>
                                    </m:r>
                                    <m:r>
                                      <a:rPr lang="en-US" i="1"/>
                                      <m:t>−2</m:t>
                                    </m:r>
                                    <m:r>
                                      <a:rPr lang="en-US" i="1"/>
                                      <m:t>𝑑</m:t>
                                    </m:r>
                                  </m:e>
                                </m:d>
                              </m:e>
                              <m:sup>
                                <m:r>
                                  <a:rPr lang="en-US" i="1"/>
                                  <m:t>𝑇</m:t>
                                </m:r>
                              </m:sup>
                            </m:sSup>
                            <m:sSubSup>
                              <m:sSubSupPr>
                                <m:ctrlPr>
                                  <a:rPr lang="en-US" i="1"/>
                                </m:ctrlPr>
                              </m:sSubSupPr>
                              <m:e>
                                <m:r>
                                  <a:rPr lang="en-US" i="1"/>
                                  <m:t>ℬ</m:t>
                                </m:r>
                              </m:e>
                              <m:sub>
                                <m:r>
                                  <a:rPr lang="en-US" i="1"/>
                                  <m:t>2</m:t>
                                </m:r>
                              </m:sub>
                              <m:sup>
                                <m:r>
                                  <a:rPr lang="en-US" i="1"/>
                                  <m:t>𝑇</m:t>
                                </m:r>
                              </m:sup>
                            </m:sSubSup>
                            <m:r>
                              <a:rPr lang="en-US" i="1"/>
                              <m:t>𝑃𝑥</m:t>
                            </m:r>
                            <m:r>
                              <a:rPr lang="en-US" i="1"/>
                              <m:t>−</m:t>
                            </m:r>
                            <m:r>
                              <a:rPr lang="en-US" i="1"/>
                              <m:t>𝑥</m:t>
                            </m:r>
                            <m:sSup>
                              <m:sSupPr>
                                <m:ctrlPr>
                                  <a:rPr lang="en-US" i="1"/>
                                </m:ctrlPr>
                              </m:sSupPr>
                              <m:e>
                                <m:d>
                                  <m:dPr>
                                    <m:ctrlPr>
                                      <a:rPr lang="en-US" i="1"/>
                                    </m:ctrlPr>
                                  </m:dPr>
                                  <m:e>
                                    <m:r>
                                      <a:rPr lang="en-US" i="1"/>
                                      <m:t>𝑡</m:t>
                                    </m:r>
                                    <m:r>
                                      <a:rPr lang="en-US" i="1"/>
                                      <m:t>−2</m:t>
                                    </m:r>
                                    <m:r>
                                      <a:rPr lang="en-US" i="1"/>
                                      <m:t>𝑑</m:t>
                                    </m:r>
                                  </m:e>
                                </m:d>
                              </m:e>
                              <m:sup>
                                <m:r>
                                  <a:rPr lang="en-US" i="1"/>
                                  <m:t>𝑇</m:t>
                                </m:r>
                              </m:sup>
                            </m:sSup>
                            <m:sSub>
                              <m:sSubPr>
                                <m:ctrlPr>
                                  <a:rPr lang="en-US" i="1"/>
                                </m:ctrlPr>
                              </m:sSubPr>
                              <m:e>
                                <m:r>
                                  <a:rPr lang="en-US" i="1"/>
                                  <m:t>𝑄</m:t>
                                </m:r>
                              </m:e>
                              <m:sub>
                                <m:r>
                                  <a:rPr lang="en-US" i="1"/>
                                  <m:t>2</m:t>
                                </m:r>
                              </m:sub>
                            </m:sSub>
                            <m:r>
                              <a:rPr lang="en-US" i="1"/>
                              <m:t>𝑥</m:t>
                            </m:r>
                            <m:d>
                              <m:dPr>
                                <m:ctrlPr>
                                  <a:rPr lang="en-US" i="1"/>
                                </m:ctrlPr>
                              </m:dPr>
                              <m:e>
                                <m:r>
                                  <a:rPr lang="en-US" i="1"/>
                                  <m:t>𝑡</m:t>
                                </m:r>
                                <m:r>
                                  <a:rPr lang="en-US" i="1"/>
                                  <m:t>−2</m:t>
                                </m:r>
                                <m:r>
                                  <a:rPr lang="en-US" i="1"/>
                                  <m:t>𝑑</m:t>
                                </m:r>
                              </m:e>
                            </m:d>
                          </m:e>
                        </m:mr>
                        <m:mr>
                          <m:e/>
                          <m:e>
                            <m:r>
                              <a:rPr lang="en-US" i="1"/>
                              <m:t> </m:t>
                            </m:r>
                            <m:r>
                              <a:rPr lang="en-US"/>
                              <m:t>+</m:t>
                            </m:r>
                            <m:r>
                              <a:rPr lang="en-US" i="1"/>
                              <m:t>2</m:t>
                            </m:r>
                            <m:sSup>
                              <m:sSupPr>
                                <m:ctrlPr>
                                  <a:rPr lang="en-US" i="1"/>
                                </m:ctrlPr>
                              </m:sSupPr>
                              <m:e>
                                <m:r>
                                  <a:rPr lang="en-US" i="1"/>
                                  <m:t>𝑥</m:t>
                                </m:r>
                              </m:e>
                              <m:sup>
                                <m:r>
                                  <a:rPr lang="en-US" i="1"/>
                                  <m:t>𝑇</m:t>
                                </m:r>
                              </m:sup>
                            </m:sSup>
                            <m:r>
                              <a:rPr lang="en-US" i="1"/>
                              <m:t>𝑃𝐷</m:t>
                            </m:r>
                            <m:r>
                              <a:rPr lang="en-US" i="1"/>
                              <m:t>𝜔</m:t>
                            </m:r>
                            <m:r>
                              <a:rPr lang="en-US"/>
                              <m:t>.</m:t>
                            </m:r>
                            <m:r>
                              <a:rPr lang="en-US" b="0" i="1" smtClean="0">
                                <a:latin typeface="Cambria Math" panose="02040503050406030204" pitchFamily="18" charset="0"/>
                              </a:rPr>
                              <m:t>   </m:t>
                            </m:r>
                            <m:r>
                              <a:rPr lang="en-US" b="1" i="1" smtClean="0">
                                <a:latin typeface="Cambria Math" panose="02040503050406030204" pitchFamily="18" charset="0"/>
                              </a:rPr>
                              <m:t>……………………(</m:t>
                            </m:r>
                            <m:r>
                              <a:rPr lang="en-US" b="1" i="1" smtClean="0">
                                <a:latin typeface="Cambria Math" panose="02040503050406030204" pitchFamily="18" charset="0"/>
                              </a:rPr>
                              <m:t>𝒆𝒒</m:t>
                            </m:r>
                            <m:r>
                              <a:rPr lang="en-US" b="1" i="1" smtClean="0">
                                <a:latin typeface="Cambria Math" panose="02040503050406030204" pitchFamily="18" charset="0"/>
                              </a:rPr>
                              <m:t> </m:t>
                            </m:r>
                            <m:r>
                              <a:rPr lang="en-US" b="1" i="1" smtClean="0">
                                <a:latin typeface="Cambria Math" panose="02040503050406030204" pitchFamily="18" charset="0"/>
                              </a:rPr>
                              <m:t>𝟑</m:t>
                            </m:r>
                            <m:r>
                              <a:rPr lang="en-US" b="1" i="1" smtClean="0">
                                <a:latin typeface="Cambria Math" panose="02040503050406030204" pitchFamily="18" charset="0"/>
                              </a:rPr>
                              <m:t>.</m:t>
                            </m:r>
                            <m:r>
                              <a:rPr lang="en-US" b="1" i="1" smtClean="0">
                                <a:latin typeface="Cambria Math" panose="02040503050406030204" pitchFamily="18" charset="0"/>
                              </a:rPr>
                              <m:t>𝟐</m:t>
                            </m:r>
                            <m:r>
                              <a:rPr lang="en-US" b="1" i="1" smtClean="0">
                                <a:latin typeface="Cambria Math" panose="02040503050406030204" pitchFamily="18" charset="0"/>
                              </a:rPr>
                              <m:t>)</m:t>
                            </m:r>
                          </m:e>
                        </m:mr>
                      </m:m>
                    </m:oMath>
                  </m:oMathPara>
                </a14:m>
                <a:endParaRPr lang="en-US" dirty="0">
                  <a:latin typeface="Arial" panose="020B0604020202020204" pitchFamily="34" charset="0"/>
                </a:endParaRPr>
              </a:p>
              <a:p>
                <a:pPr/>
                <a:r>
                  <a:rPr lang="en-US" dirty="0"/>
                  <a:t>Now add the performance term </a:t>
                </a:r>
                <a14:m>
                  <m:oMath xmlns:m="http://schemas.openxmlformats.org/officeDocument/2006/math">
                    <m:sSup>
                      <m:sSupPr>
                        <m:ctrlPr>
                          <a:rPr lang="en-US" i="1"/>
                        </m:ctrlPr>
                      </m:sSupPr>
                      <m:e>
                        <m:r>
                          <a:rPr lang="en-US" i="1"/>
                          <m:t>𝑧</m:t>
                        </m:r>
                      </m:e>
                      <m:sup>
                        <m:r>
                          <a:rPr lang="en-US" i="1"/>
                          <m:t>𝑇</m:t>
                        </m:r>
                      </m:sup>
                    </m:sSup>
                    <m:r>
                      <a:rPr lang="en-US" i="1"/>
                      <m:t>𝑧</m:t>
                    </m:r>
                    <m:r>
                      <a:rPr lang="en-US" i="1"/>
                      <m:t>−</m:t>
                    </m:r>
                    <m:sSup>
                      <m:sSupPr>
                        <m:ctrlPr>
                          <a:rPr lang="en-US" i="1"/>
                        </m:ctrlPr>
                      </m:sSupPr>
                      <m:e>
                        <m:r>
                          <a:rPr lang="en-US" i="1"/>
                          <m:t>𝛾</m:t>
                        </m:r>
                      </m:e>
                      <m:sup>
                        <m:r>
                          <a:rPr lang="en-US" i="1"/>
                          <m:t>2</m:t>
                        </m:r>
                      </m:sup>
                    </m:sSup>
                    <m:sSup>
                      <m:sSupPr>
                        <m:ctrlPr>
                          <a:rPr lang="en-US" i="1"/>
                        </m:ctrlPr>
                      </m:sSupPr>
                      <m:e>
                        <m:r>
                          <a:rPr lang="en-US" i="1"/>
                          <m:t>𝜔</m:t>
                        </m:r>
                      </m:e>
                      <m:sup>
                        <m:r>
                          <a:rPr lang="en-US" i="1"/>
                          <m:t>𝑇</m:t>
                        </m:r>
                      </m:sup>
                    </m:sSup>
                    <m:r>
                      <a:rPr lang="en-US" i="1"/>
                      <m:t>𝜔</m:t>
                    </m:r>
                  </m:oMath>
                </a14:m>
                <a:r>
                  <a:rPr lang="en-US" dirty="0"/>
                  <a:t> with </a:t>
                </a:r>
                <a14:m>
                  <m:oMath xmlns:m="http://schemas.openxmlformats.org/officeDocument/2006/math">
                    <m:r>
                      <a:rPr lang="en-US" i="1"/>
                      <m:t>𝑧</m:t>
                    </m:r>
                    <m:r>
                      <a:rPr lang="en-US"/>
                      <m:t>=</m:t>
                    </m:r>
                    <m:r>
                      <a:rPr lang="en-US" i="1"/>
                      <m:t>𝐿𝑥</m:t>
                    </m:r>
                  </m:oMath>
                </a14:m>
                <a:r>
                  <a:rPr lang="en-US" dirty="0"/>
                  <a:t>. So</a:t>
                </a:r>
              </a:p>
              <a:p>
                <a:r>
                  <a:rPr lang="en-US" dirty="0"/>
                  <a:t>Thus</a:t>
                </a:r>
              </a:p>
              <a:p>
                <a:pPr marL="0" indent="0">
                  <a:buNone/>
                </a:pPr>
                <a14:m>
                  <m:oMathPara xmlns:m="http://schemas.openxmlformats.org/officeDocument/2006/math">
                    <m:oMathParaPr>
                      <m:jc m:val="centerGroup"/>
                    </m:oMathParaPr>
                    <m:oMath xmlns:m="http://schemas.openxmlformats.org/officeDocument/2006/math">
                      <m:acc>
                        <m:accPr>
                          <m:chr m:val="̇"/>
                          <m:ctrlPr>
                            <a:rPr lang="en-US" i="1"/>
                          </m:ctrlPr>
                        </m:accPr>
                        <m:e>
                          <m:r>
                            <a:rPr lang="en-US" i="1"/>
                            <m:t>𝑉</m:t>
                          </m:r>
                        </m:e>
                      </m:acc>
                      <m:r>
                        <a:rPr lang="en-US"/>
                        <m:t>+</m:t>
                      </m:r>
                      <m:sSup>
                        <m:sSupPr>
                          <m:ctrlPr>
                            <a:rPr lang="en-US" i="1"/>
                          </m:ctrlPr>
                        </m:sSupPr>
                        <m:e>
                          <m:r>
                            <a:rPr lang="en-US" i="1"/>
                            <m:t>𝑧</m:t>
                          </m:r>
                        </m:e>
                        <m:sup>
                          <m:r>
                            <a:rPr lang="en-US" i="1"/>
                            <m:t>𝑇</m:t>
                          </m:r>
                        </m:sup>
                      </m:sSup>
                      <m:r>
                        <a:rPr lang="en-US" i="1"/>
                        <m:t>𝑧</m:t>
                      </m:r>
                      <m:r>
                        <a:rPr lang="en-US" i="1"/>
                        <m:t>−</m:t>
                      </m:r>
                      <m:sSup>
                        <m:sSupPr>
                          <m:ctrlPr>
                            <a:rPr lang="en-US" i="1"/>
                          </m:ctrlPr>
                        </m:sSupPr>
                        <m:e>
                          <m:r>
                            <a:rPr lang="en-US" i="1"/>
                            <m:t>𝛾</m:t>
                          </m:r>
                        </m:e>
                        <m:sup>
                          <m:r>
                            <a:rPr lang="en-US" i="1"/>
                            <m:t>2</m:t>
                          </m:r>
                        </m:sup>
                      </m:sSup>
                      <m:sSup>
                        <m:sSupPr>
                          <m:ctrlPr>
                            <a:rPr lang="en-US" i="1"/>
                          </m:ctrlPr>
                        </m:sSupPr>
                        <m:e>
                          <m:r>
                            <a:rPr lang="en-US" i="1"/>
                            <m:t>𝜔</m:t>
                          </m:r>
                        </m:e>
                        <m:sup>
                          <m:r>
                            <a:rPr lang="en-US" i="1"/>
                            <m:t>𝑇</m:t>
                          </m:r>
                        </m:sup>
                      </m:sSup>
                      <m:r>
                        <a:rPr lang="en-US" i="1"/>
                        <m:t>𝜔</m:t>
                      </m:r>
                      <m:r>
                        <a:rPr lang="en-US"/>
                        <m:t>=</m:t>
                      </m:r>
                      <m:r>
                        <m:rPr>
                          <m:nor/>
                        </m:rPr>
                        <a:rPr lang="en-US"/>
                        <m:t>(</m:t>
                      </m:r>
                      <m:r>
                        <m:rPr>
                          <m:nor/>
                        </m:rPr>
                        <a:rPr lang="en-US" b="0" i="0" smtClean="0"/>
                        <m:t>Terms</m:t>
                      </m:r>
                      <m:r>
                        <m:rPr>
                          <m:nor/>
                        </m:rPr>
                        <a:rPr lang="en-US" b="0" i="0" smtClean="0"/>
                        <m:t> </m:t>
                      </m:r>
                      <m:r>
                        <m:rPr>
                          <m:nor/>
                        </m:rPr>
                        <a:rPr lang="en-US" b="0" i="0" smtClean="0"/>
                        <m:t>in</m:t>
                      </m:r>
                      <m:r>
                        <m:rPr>
                          <m:nor/>
                        </m:rPr>
                        <a:rPr lang="en-US" b="0" i="0" smtClean="0"/>
                        <m:t> </m:t>
                      </m:r>
                      <m:r>
                        <m:rPr>
                          <m:nor/>
                        </m:rPr>
                        <a:rPr lang="en-US" b="0" i="0" smtClean="0"/>
                        <m:t>equation</m:t>
                      </m:r>
                      <m:r>
                        <m:rPr>
                          <m:nor/>
                        </m:rPr>
                        <a:rPr lang="en-US" b="0" i="0" smtClean="0"/>
                        <m:t> 3.2)</m:t>
                      </m:r>
                      <m:r>
                        <a:rPr lang="en-US"/>
                        <m:t>+</m:t>
                      </m:r>
                      <m:sSup>
                        <m:sSupPr>
                          <m:ctrlPr>
                            <a:rPr lang="en-US" i="1"/>
                          </m:ctrlPr>
                        </m:sSupPr>
                        <m:e>
                          <m:r>
                            <a:rPr lang="en-US" i="1"/>
                            <m:t>𝑥</m:t>
                          </m:r>
                        </m:e>
                        <m:sup>
                          <m:r>
                            <a:rPr lang="en-US" i="1"/>
                            <m:t>𝑇</m:t>
                          </m:r>
                        </m:sup>
                      </m:sSup>
                      <m:sSup>
                        <m:sSupPr>
                          <m:ctrlPr>
                            <a:rPr lang="en-US" i="1"/>
                          </m:ctrlPr>
                        </m:sSupPr>
                        <m:e>
                          <m:r>
                            <a:rPr lang="en-US" i="1"/>
                            <m:t>𝐿</m:t>
                          </m:r>
                        </m:e>
                        <m:sup>
                          <m:r>
                            <a:rPr lang="en-US" i="1"/>
                            <m:t>𝑇</m:t>
                          </m:r>
                        </m:sup>
                      </m:sSup>
                      <m:r>
                        <a:rPr lang="en-US" i="1"/>
                        <m:t>𝐿𝑥</m:t>
                      </m:r>
                      <m:r>
                        <a:rPr lang="en-US" i="1"/>
                        <m:t>−</m:t>
                      </m:r>
                      <m:sSup>
                        <m:sSupPr>
                          <m:ctrlPr>
                            <a:rPr lang="en-US" i="1"/>
                          </m:ctrlPr>
                        </m:sSupPr>
                        <m:e>
                          <m:r>
                            <a:rPr lang="en-US" i="1"/>
                            <m:t>𝛾</m:t>
                          </m:r>
                        </m:e>
                        <m:sup>
                          <m:r>
                            <a:rPr lang="en-US" i="1"/>
                            <m:t>2</m:t>
                          </m:r>
                        </m:sup>
                      </m:sSup>
                      <m:sSup>
                        <m:sSupPr>
                          <m:ctrlPr>
                            <a:rPr lang="en-US" i="1"/>
                          </m:ctrlPr>
                        </m:sSupPr>
                        <m:e>
                          <m:r>
                            <a:rPr lang="en-US" i="1"/>
                            <m:t>𝜔</m:t>
                          </m:r>
                        </m:e>
                        <m:sup>
                          <m:r>
                            <a:rPr lang="en-US" i="1"/>
                            <m:t>𝑇</m:t>
                          </m:r>
                        </m:sup>
                      </m:sSup>
                      <m:r>
                        <a:rPr lang="en-US" i="1"/>
                        <m:t>𝜔</m:t>
                      </m:r>
                      <m:r>
                        <a:rPr lang="en-US"/>
                        <m:t>.</m:t>
                      </m:r>
                    </m:oMath>
                  </m:oMathPara>
                </a14:m>
                <a:endParaRPr lang="en-US" dirty="0"/>
              </a:p>
              <a:p>
                <a:r>
                  <a:rPr lang="en-US" dirty="0"/>
                  <a:t>Collect all quadratic forms into a single quadratic form in the augmented vector</a:t>
                </a:r>
              </a:p>
              <a:p>
                <a:pPr marL="0" indent="0">
                  <a:buNone/>
                </a:pPr>
                <a14:m>
                  <m:oMathPara xmlns:m="http://schemas.openxmlformats.org/officeDocument/2006/math">
                    <m:oMathParaPr>
                      <m:jc m:val="centerGroup"/>
                    </m:oMathParaPr>
                    <m:oMath xmlns:m="http://schemas.openxmlformats.org/officeDocument/2006/math">
                      <m:r>
                        <a:rPr lang="en-US" i="1"/>
                        <m:t>𝛯</m:t>
                      </m:r>
                      <m:d>
                        <m:dPr>
                          <m:ctrlPr>
                            <a:rPr lang="en-US" i="1"/>
                          </m:ctrlPr>
                        </m:dPr>
                        <m:e>
                          <m:r>
                            <a:rPr lang="en-US" i="1"/>
                            <m:t>𝑡</m:t>
                          </m:r>
                        </m:e>
                      </m:d>
                      <m:box>
                        <m:boxPr>
                          <m:ctrlPr>
                            <a:rPr lang="en-US" i="1"/>
                          </m:ctrlPr>
                        </m:boxPr>
                        <m:e>
                          <m:r>
                            <a:rPr lang="en-US"/>
                            <m:t>:=</m:t>
                          </m:r>
                        </m:e>
                      </m:box>
                      <m:d>
                        <m:dPr>
                          <m:begChr m:val="["/>
                          <m:endChr m:val="]"/>
                          <m:ctrlPr>
                            <a:rPr lang="en-US" i="1"/>
                          </m:ctrlPr>
                        </m:dPr>
                        <m:e>
                          <m:m>
                            <m:mPr>
                              <m:plcHide m:val="on"/>
                              <m:mcs>
                                <m:mc>
                                  <m:mcPr>
                                    <m:count m:val="1"/>
                                    <m:mcJc m:val="center"/>
                                  </m:mcPr>
                                </m:mc>
                              </m:mcs>
                              <m:ctrlPr>
                                <a:rPr lang="en-US" i="1"/>
                              </m:ctrlPr>
                            </m:mPr>
                            <m:mr>
                              <m:e>
                                <m:r>
                                  <a:rPr lang="en-US" i="1"/>
                                  <m:t>𝑥</m:t>
                                </m:r>
                                <m:d>
                                  <m:dPr>
                                    <m:ctrlPr>
                                      <a:rPr lang="en-US" i="1"/>
                                    </m:ctrlPr>
                                  </m:dPr>
                                  <m:e>
                                    <m:r>
                                      <a:rPr lang="en-US" i="1"/>
                                      <m:t>𝑡</m:t>
                                    </m:r>
                                  </m:e>
                                </m:d>
                              </m:e>
                            </m:mr>
                            <m:mr>
                              <m:e>
                                <m:r>
                                  <a:rPr lang="en-US" i="1"/>
                                  <m:t>𝑥</m:t>
                                </m:r>
                                <m:d>
                                  <m:dPr>
                                    <m:ctrlPr>
                                      <a:rPr lang="en-US" i="1"/>
                                    </m:ctrlPr>
                                  </m:dPr>
                                  <m:e>
                                    <m:r>
                                      <a:rPr lang="en-US" i="1"/>
                                      <m:t>𝑡</m:t>
                                    </m:r>
                                    <m:r>
                                      <a:rPr lang="en-US" i="1"/>
                                      <m:t>−</m:t>
                                    </m:r>
                                    <m:r>
                                      <a:rPr lang="en-US" i="1"/>
                                      <m:t>𝑑</m:t>
                                    </m:r>
                                  </m:e>
                                </m:d>
                              </m:e>
                            </m:mr>
                            <m:mr>
                              <m:e>
                                <m:r>
                                  <a:rPr lang="en-US" i="1"/>
                                  <m:t>𝑥</m:t>
                                </m:r>
                                <m:d>
                                  <m:dPr>
                                    <m:ctrlPr>
                                      <a:rPr lang="en-US" i="1"/>
                                    </m:ctrlPr>
                                  </m:dPr>
                                  <m:e>
                                    <m:r>
                                      <a:rPr lang="en-US" i="1"/>
                                      <m:t>𝑡</m:t>
                                    </m:r>
                                    <m:r>
                                      <a:rPr lang="en-US" i="1"/>
                                      <m:t>−2</m:t>
                                    </m:r>
                                    <m:r>
                                      <a:rPr lang="en-US" i="1"/>
                                      <m:t>𝑑</m:t>
                                    </m:r>
                                  </m:e>
                                </m:d>
                              </m:e>
                            </m:mr>
                            <m:mr>
                              <m:e>
                                <m:r>
                                  <a:rPr lang="en-US" i="1"/>
                                  <m:t>𝜔</m:t>
                                </m:r>
                                <m:d>
                                  <m:dPr>
                                    <m:ctrlPr>
                                      <a:rPr lang="en-US" i="1"/>
                                    </m:ctrlPr>
                                  </m:dPr>
                                  <m:e>
                                    <m:r>
                                      <a:rPr lang="en-US" i="1"/>
                                      <m:t>𝑡</m:t>
                                    </m:r>
                                  </m:e>
                                </m:d>
                              </m:e>
                            </m:mr>
                          </m:m>
                        </m:e>
                      </m:d>
                      <m:r>
                        <a:rPr lang="en-US"/>
                        <m:t>.</m:t>
                      </m:r>
                    </m:oMath>
                  </m:oMathPara>
                </a14:m>
                <a:endParaRPr lang="en-US" dirty="0"/>
              </a:p>
              <a:p>
                <a:r>
                  <a:rPr lang="en-US" dirty="0"/>
                  <a:t>We will now write the block matrix </a:t>
                </a:r>
                <a14:m>
                  <m:oMath xmlns:m="http://schemas.openxmlformats.org/officeDocument/2006/math">
                    <m:sSub>
                      <m:sSubPr>
                        <m:ctrlPr>
                          <a:rPr lang="en-US" i="1"/>
                        </m:ctrlPr>
                      </m:sSubPr>
                      <m:e>
                        <m:r>
                          <a:rPr lang="en-US" i="1"/>
                          <m:t>𝑀</m:t>
                        </m:r>
                      </m:e>
                      <m:sub>
                        <m:r>
                          <m:rPr>
                            <m:nor/>
                          </m:rPr>
                          <a:rPr lang="en-US"/>
                          <m:t>case</m:t>
                        </m:r>
                        <m:r>
                          <m:rPr>
                            <m:nor/>
                          </m:rPr>
                          <a:rPr lang="en-US"/>
                          <m:t>3</m:t>
                        </m:r>
                      </m:sub>
                    </m:sSub>
                  </m:oMath>
                </a14:m>
                <a:r>
                  <a:rPr lang="en-US" dirty="0"/>
                  <a:t> such that</a:t>
                </a:r>
              </a:p>
              <a:p>
                <a:pPr marL="0" indent="0">
                  <a:buNone/>
                </a:pPr>
                <a14:m>
                  <m:oMathPara xmlns:m="http://schemas.openxmlformats.org/officeDocument/2006/math">
                    <m:oMathParaPr>
                      <m:jc m:val="centerGroup"/>
                    </m:oMathParaPr>
                    <m:oMath xmlns:m="http://schemas.openxmlformats.org/officeDocument/2006/math">
                      <m:acc>
                        <m:accPr>
                          <m:chr m:val="̇"/>
                          <m:ctrlPr>
                            <a:rPr lang="en-US" i="1"/>
                          </m:ctrlPr>
                        </m:accPr>
                        <m:e>
                          <m:r>
                            <a:rPr lang="en-US" i="1"/>
                            <m:t>𝑉</m:t>
                          </m:r>
                        </m:e>
                      </m:acc>
                      <m:r>
                        <a:rPr lang="en-US"/>
                        <m:t>+</m:t>
                      </m:r>
                      <m:sSup>
                        <m:sSupPr>
                          <m:ctrlPr>
                            <a:rPr lang="en-US" i="1"/>
                          </m:ctrlPr>
                        </m:sSupPr>
                        <m:e>
                          <m:r>
                            <a:rPr lang="en-US" i="1"/>
                            <m:t>𝑧</m:t>
                          </m:r>
                        </m:e>
                        <m:sup>
                          <m:r>
                            <a:rPr lang="en-US" i="1"/>
                            <m:t>𝑇</m:t>
                          </m:r>
                        </m:sup>
                      </m:sSup>
                      <m:r>
                        <a:rPr lang="en-US" i="1"/>
                        <m:t>𝑧</m:t>
                      </m:r>
                      <m:r>
                        <a:rPr lang="en-US" i="1"/>
                        <m:t>−</m:t>
                      </m:r>
                      <m:sSup>
                        <m:sSupPr>
                          <m:ctrlPr>
                            <a:rPr lang="en-US" i="1"/>
                          </m:ctrlPr>
                        </m:sSupPr>
                        <m:e>
                          <m:r>
                            <a:rPr lang="en-US" i="1"/>
                            <m:t>𝛾</m:t>
                          </m:r>
                        </m:e>
                        <m:sup>
                          <m:r>
                            <a:rPr lang="en-US" i="1"/>
                            <m:t>2</m:t>
                          </m:r>
                        </m:sup>
                      </m:sSup>
                      <m:sSup>
                        <m:sSupPr>
                          <m:ctrlPr>
                            <a:rPr lang="en-US" i="1"/>
                          </m:ctrlPr>
                        </m:sSupPr>
                        <m:e>
                          <m:r>
                            <a:rPr lang="en-US" i="1"/>
                            <m:t>𝜔</m:t>
                          </m:r>
                        </m:e>
                        <m:sup>
                          <m:r>
                            <a:rPr lang="en-US" i="1"/>
                            <m:t>𝑇</m:t>
                          </m:r>
                        </m:sup>
                      </m:sSup>
                      <m:r>
                        <a:rPr lang="en-US" i="1"/>
                        <m:t>𝜔</m:t>
                      </m:r>
                      <m:r>
                        <a:rPr lang="en-US"/>
                        <m:t>=</m:t>
                      </m:r>
                      <m:r>
                        <a:rPr lang="en-US" i="1"/>
                        <m:t>𝛯</m:t>
                      </m:r>
                      <m:sSup>
                        <m:sSupPr>
                          <m:ctrlPr>
                            <a:rPr lang="en-US" i="1"/>
                          </m:ctrlPr>
                        </m:sSupPr>
                        <m:e>
                          <m:d>
                            <m:dPr>
                              <m:ctrlPr>
                                <a:rPr lang="en-US" i="1"/>
                              </m:ctrlPr>
                            </m:dPr>
                            <m:e>
                              <m:r>
                                <a:rPr lang="en-US" i="1"/>
                                <m:t>𝑡</m:t>
                              </m:r>
                            </m:e>
                          </m:d>
                        </m:e>
                        <m:sup>
                          <m:r>
                            <a:rPr lang="en-US" i="1"/>
                            <m:t>𝑇</m:t>
                          </m:r>
                        </m:sup>
                      </m:sSup>
                      <m:sSub>
                        <m:sSubPr>
                          <m:ctrlPr>
                            <a:rPr lang="en-US" i="1"/>
                          </m:ctrlPr>
                        </m:sSubPr>
                        <m:e>
                          <m:r>
                            <a:rPr lang="en-US" i="1"/>
                            <m:t>𝑀</m:t>
                          </m:r>
                        </m:e>
                        <m:sub>
                          <m:r>
                            <m:rPr>
                              <m:nor/>
                            </m:rPr>
                            <a:rPr lang="en-US"/>
                            <m:t>case</m:t>
                          </m:r>
                          <m:r>
                            <m:rPr>
                              <m:nor/>
                            </m:rPr>
                            <a:rPr lang="en-US"/>
                            <m:t>3</m:t>
                          </m:r>
                        </m:sub>
                      </m:sSub>
                      <m:r>
                        <a:rPr lang="en-US" i="1"/>
                        <m:t> </m:t>
                      </m:r>
                      <m:r>
                        <a:rPr lang="en-US" i="1"/>
                        <m:t>𝛯</m:t>
                      </m:r>
                      <m:d>
                        <m:dPr>
                          <m:ctrlPr>
                            <a:rPr lang="en-US" i="1"/>
                          </m:ctrlPr>
                        </m:dPr>
                        <m:e>
                          <m:r>
                            <a:rPr lang="en-US" i="1"/>
                            <m:t>𝑡</m:t>
                          </m:r>
                        </m:e>
                      </m:d>
                      <m:r>
                        <a:rPr lang="en-US"/>
                        <m:t>.</m:t>
                      </m:r>
                    </m:oMath>
                  </m:oMathPara>
                </a14:m>
                <a:endParaRPr lang="en-US" dirty="0"/>
              </a:p>
              <a:p>
                <a:pPr/>
                <a:endParaRPr lang="en-US" dirty="0">
                  <a:latin typeface="Arial" panose="020B0604020202020204" pitchFamily="34" charset="0"/>
                  <a:cs typeface="Arial" panose="020B0604020202020204" pitchFamily="34" charset="0"/>
                </a:endParaRPr>
              </a:p>
            </p:txBody>
          </p:sp>
        </mc:Choice>
        <mc:Fallback>
          <p:sp>
            <p:nvSpPr>
              <p:cNvPr id="9" name="Content Placeholder 3">
                <a:extLst>
                  <a:ext uri="{FF2B5EF4-FFF2-40B4-BE49-F238E27FC236}">
                    <a16:creationId xmlns:a16="http://schemas.microsoft.com/office/drawing/2014/main" id="{F6234739-CB7A-F12E-2FB3-80FDEA8DED96}"/>
                  </a:ext>
                </a:extLst>
              </p:cNvPr>
              <p:cNvSpPr>
                <a:spLocks noGrp="1" noRot="1" noChangeAspect="1" noMove="1" noResize="1" noEditPoints="1" noAdjustHandles="1" noChangeArrowheads="1" noChangeShapeType="1" noTextEdit="1"/>
              </p:cNvSpPr>
              <p:nvPr>
                <p:ph sz="half" idx="2"/>
              </p:nvPr>
            </p:nvSpPr>
            <p:spPr>
              <a:xfrm>
                <a:off x="299581" y="1465680"/>
                <a:ext cx="10528840" cy="5392320"/>
              </a:xfrm>
              <a:blipFill>
                <a:blip r:embed="rId4"/>
                <a:stretch>
                  <a:fillRect l="-232" t="-452"/>
                </a:stretch>
              </a:blipFill>
            </p:spPr>
            <p:txBody>
              <a:bodyPr/>
              <a:lstStyle/>
              <a:p>
                <a:r>
                  <a:rPr lang="en-US">
                    <a:noFill/>
                  </a:rPr>
                  <a:t> </a:t>
                </a:r>
              </a:p>
            </p:txBody>
          </p:sp>
        </mc:Fallback>
      </mc:AlternateContent>
      <p:sp>
        <p:nvSpPr>
          <p:cNvPr id="10" name="Slide Number Placeholder 2">
            <a:extLst>
              <a:ext uri="{FF2B5EF4-FFF2-40B4-BE49-F238E27FC236}">
                <a16:creationId xmlns:a16="http://schemas.microsoft.com/office/drawing/2014/main" id="{3661023F-2AB8-EF6A-2B6D-C7C158AA13C2}"/>
              </a:ext>
            </a:extLst>
          </p:cNvPr>
          <p:cNvSpPr>
            <a:spLocks noGrp="1"/>
          </p:cNvSpPr>
          <p:nvPr>
            <p:ph type="sldNum" sz="quarter" idx="12"/>
          </p:nvPr>
        </p:nvSpPr>
        <p:spPr>
          <a:xfrm>
            <a:off x="7795578" y="6141113"/>
            <a:ext cx="1096432" cy="716887"/>
          </a:xfrm>
        </p:spPr>
        <p:txBody>
          <a:bodyPr/>
          <a:lstStyle/>
          <a:p>
            <a:r>
              <a:rPr lang="en-US" dirty="0"/>
              <a:t>10</a:t>
            </a:r>
          </a:p>
        </p:txBody>
      </p:sp>
    </p:spTree>
    <p:extLst>
      <p:ext uri="{BB962C8B-B14F-4D97-AF65-F5344CB8AC3E}">
        <p14:creationId xmlns:p14="http://schemas.microsoft.com/office/powerpoint/2010/main" val="655256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fade">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fade">
                                      <p:cBhvr>
                                        <p:cTn id="37" dur="500"/>
                                        <p:tgtEl>
                                          <p:spTgt spid="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
                                            <p:txEl>
                                              <p:pRg st="7" end="7"/>
                                            </p:txEl>
                                          </p:spTgt>
                                        </p:tgtEl>
                                        <p:attrNameLst>
                                          <p:attrName>style.visibility</p:attrName>
                                        </p:attrNameLst>
                                      </p:cBhvr>
                                      <p:to>
                                        <p:strVal val="visible"/>
                                      </p:to>
                                    </p:set>
                                    <p:animEffect transition="in" filter="fade">
                                      <p:cBhvr>
                                        <p:cTn id="42" dur="500"/>
                                        <p:tgtEl>
                                          <p:spTgt spid="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
                                            <p:txEl>
                                              <p:pRg st="8" end="8"/>
                                            </p:txEl>
                                          </p:spTgt>
                                        </p:tgtEl>
                                        <p:attrNameLst>
                                          <p:attrName>style.visibility</p:attrName>
                                        </p:attrNameLst>
                                      </p:cBhvr>
                                      <p:to>
                                        <p:strVal val="visible"/>
                                      </p:to>
                                    </p:set>
                                    <p:animEffect transition="in" filter="fade">
                                      <p:cBhvr>
                                        <p:cTn id="47"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A5FF4B-62EB-0448-30E8-882ACC4D635C}"/>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DBBAFF6C-E8F7-E915-70D2-2AD0BAB73B5A}"/>
                  </a:ext>
                </a:extLst>
              </p:cNvPr>
              <p:cNvSpPr>
                <a:spLocks noGrp="1"/>
              </p:cNvSpPr>
              <p:nvPr>
                <p:ph type="title"/>
              </p:nvPr>
            </p:nvSpPr>
            <p:spPr>
              <a:xfrm>
                <a:off x="299581" y="476421"/>
                <a:ext cx="9642440" cy="887659"/>
              </a:xfrm>
            </p:spPr>
            <p:txBody>
              <a:bodyPr>
                <a:normAutofit/>
              </a:bodyPr>
              <a:lstStyle/>
              <a:p>
                <a:pPr algn="ctr"/>
                <a:r>
                  <a:rPr lang="en-US" b="1" dirty="0">
                    <a:latin typeface="Arial" panose="020B0604020202020204" pitchFamily="34" charset="0"/>
                    <a:cs typeface="Arial" panose="020B0604020202020204" pitchFamily="34" charset="0"/>
                  </a:rPr>
                  <a:t>Build the block matrix </a:t>
                </a:r>
                <a14:m>
                  <m:oMath xmlns:m="http://schemas.openxmlformats.org/officeDocument/2006/math">
                    <m:sSub>
                      <m:sSubPr>
                        <m:ctrlPr>
                          <a:rPr lang="en-US" b="1" i="1"/>
                        </m:ctrlPr>
                      </m:sSubPr>
                      <m:e>
                        <m:r>
                          <a:rPr lang="en-US" b="1" i="1"/>
                          <m:t>𝑴</m:t>
                        </m:r>
                      </m:e>
                      <m:sub>
                        <m:r>
                          <m:rPr>
                            <m:nor/>
                          </m:rPr>
                          <a:rPr lang="en-US" b="1">
                            <a:latin typeface="Arial" panose="020B0604020202020204" pitchFamily="34" charset="0"/>
                            <a:cs typeface="Arial" panose="020B0604020202020204" pitchFamily="34" charset="0"/>
                          </a:rPr>
                          <m:t>case</m:t>
                        </m:r>
                        <m:r>
                          <m:rPr>
                            <m:nor/>
                          </m:rPr>
                          <a:rPr lang="en-US" b="1">
                            <a:latin typeface="Arial" panose="020B0604020202020204" pitchFamily="34" charset="0"/>
                            <a:cs typeface="Arial" panose="020B0604020202020204" pitchFamily="34" charset="0"/>
                          </a:rPr>
                          <m:t>3</m:t>
                        </m:r>
                      </m:sub>
                    </m:sSub>
                  </m:oMath>
                </a14:m>
                <a:r>
                  <a:rPr lang="en-US" b="1" dirty="0">
                    <a:latin typeface="Arial" panose="020B0604020202020204" pitchFamily="34" charset="0"/>
                    <a:cs typeface="Arial" panose="020B0604020202020204" pitchFamily="34" charset="0"/>
                  </a:rPr>
                  <a:t> (1/2)</a:t>
                </a:r>
              </a:p>
            </p:txBody>
          </p:sp>
        </mc:Choice>
        <mc:Fallback>
          <p:sp>
            <p:nvSpPr>
              <p:cNvPr id="2" name="Title 1">
                <a:extLst>
                  <a:ext uri="{FF2B5EF4-FFF2-40B4-BE49-F238E27FC236}">
                    <a16:creationId xmlns:a16="http://schemas.microsoft.com/office/drawing/2014/main" id="{DBBAFF6C-E8F7-E915-70D2-2AD0BAB73B5A}"/>
                  </a:ext>
                </a:extLst>
              </p:cNvPr>
              <p:cNvSpPr>
                <a:spLocks noGrp="1" noRot="1" noChangeAspect="1" noMove="1" noResize="1" noEditPoints="1" noAdjustHandles="1" noChangeArrowheads="1" noChangeShapeType="1" noTextEdit="1"/>
              </p:cNvSpPr>
              <p:nvPr>
                <p:ph type="title"/>
              </p:nvPr>
            </p:nvSpPr>
            <p:spPr>
              <a:xfrm>
                <a:off x="299581" y="476421"/>
                <a:ext cx="9642440" cy="887659"/>
              </a:xfrm>
              <a:blipFill>
                <a:blip r:embed="rId3"/>
                <a:stretch>
                  <a:fillRect t="-10959"/>
                </a:stretch>
              </a:blipFill>
            </p:spPr>
            <p:txBody>
              <a:bodyPr/>
              <a:lstStyle/>
              <a:p>
                <a:r>
                  <a:rPr lang="en-US">
                    <a:noFill/>
                  </a:rPr>
                  <a:t> </a:t>
                </a:r>
              </a:p>
            </p:txBody>
          </p:sp>
        </mc:Fallback>
      </mc:AlternateContent>
      <p:sp>
        <p:nvSpPr>
          <p:cNvPr id="6" name="Content Placeholder 3">
            <a:extLst>
              <a:ext uri="{FF2B5EF4-FFF2-40B4-BE49-F238E27FC236}">
                <a16:creationId xmlns:a16="http://schemas.microsoft.com/office/drawing/2014/main" id="{AC973A46-6834-7768-79EC-F0D9457564E3}"/>
              </a:ext>
            </a:extLst>
          </p:cNvPr>
          <p:cNvSpPr txBox="1">
            <a:spLocks/>
          </p:cNvSpPr>
          <p:nvPr/>
        </p:nvSpPr>
        <p:spPr>
          <a:xfrm>
            <a:off x="187283" y="4207555"/>
            <a:ext cx="7047705"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9" name="Content Placeholder 3">
                <a:extLst>
                  <a:ext uri="{FF2B5EF4-FFF2-40B4-BE49-F238E27FC236}">
                    <a16:creationId xmlns:a16="http://schemas.microsoft.com/office/drawing/2014/main" id="{3DAFCA23-0404-1CA7-C0D6-76BB05AB65D9}"/>
                  </a:ext>
                </a:extLst>
              </p:cNvPr>
              <p:cNvSpPr>
                <a:spLocks noGrp="1"/>
              </p:cNvSpPr>
              <p:nvPr>
                <p:ph sz="half" idx="2"/>
              </p:nvPr>
            </p:nvSpPr>
            <p:spPr>
              <a:xfrm>
                <a:off x="299581" y="1116604"/>
                <a:ext cx="10528840" cy="5392320"/>
              </a:xfrm>
            </p:spPr>
            <p:txBody>
              <a:bodyPr>
                <a:noAutofit/>
              </a:bodyPr>
              <a:lstStyle/>
              <a:p>
                <a:r>
                  <a:rPr lang="en-US" dirty="0">
                    <a:latin typeface="Arial" panose="020B0604020202020204" pitchFamily="34" charset="0"/>
                    <a:cs typeface="Arial" panose="020B0604020202020204" pitchFamily="34" charset="0"/>
                  </a:rPr>
                  <a:t>Consider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m:rPr>
                            <m:nor/>
                          </m:rPr>
                          <a:rPr lang="en-US"/>
                          <m:t>case</m:t>
                        </m:r>
                        <m:r>
                          <m:rPr>
                            <m:nor/>
                          </m:rPr>
                          <a:rPr lang="en-US"/>
                          <m:t>3</m:t>
                        </m:r>
                      </m:sub>
                    </m:sSub>
                  </m:oMath>
                </a14:m>
                <a:r>
                  <a:rPr lang="en-US" dirty="0">
                    <a:latin typeface="Arial" panose="020B0604020202020204" pitchFamily="34" charset="0"/>
                    <a:cs typeface="Arial" panose="020B0604020202020204" pitchFamily="34" charset="0"/>
                  </a:rPr>
                  <a:t> matrix as  </a:t>
                </a:r>
              </a:p>
              <a:p>
                <a:pPr marL="0" indent="0">
                  <a:buNone/>
                </a:pPr>
                <a14:m>
                  <m:oMathPara xmlns:m="http://schemas.openxmlformats.org/officeDocument/2006/math">
                    <m:oMathParaPr>
                      <m:jc m:val="centerGroup"/>
                    </m:oMathParaPr>
                    <m:oMath xmlns:m="http://schemas.openxmlformats.org/officeDocument/2006/math">
                      <m:borderBox>
                        <m:borderBoxPr>
                          <m:ctrlPr>
                            <a:rPr lang="en-US" i="1"/>
                          </m:ctrlPr>
                        </m:borderBoxPr>
                        <m:e>
                          <m:sSub>
                            <m:sSubPr>
                              <m:ctrlPr>
                                <a:rPr lang="en-US" i="1"/>
                              </m:ctrlPr>
                            </m:sSubPr>
                            <m:e>
                              <m:r>
                                <a:rPr lang="en-US" i="1"/>
                                <m:t>𝑀</m:t>
                              </m:r>
                            </m:e>
                            <m:sub>
                              <m:r>
                                <m:rPr>
                                  <m:nor/>
                                </m:rPr>
                                <a:rPr lang="en-US"/>
                                <m:t>case</m:t>
                              </m:r>
                              <m:r>
                                <m:rPr>
                                  <m:nor/>
                                </m:rPr>
                                <a:rPr lang="en-US"/>
                                <m:t>3</m:t>
                              </m:r>
                            </m:sub>
                          </m:sSub>
                          <m:r>
                            <a:rPr lang="en-US"/>
                            <m:t>=</m:t>
                          </m:r>
                          <m:d>
                            <m:dPr>
                              <m:begChr m:val="["/>
                              <m:endChr m:val="]"/>
                              <m:ctrlPr>
                                <a:rPr lang="en-US" i="1"/>
                              </m:ctrlPr>
                            </m:dPr>
                            <m:e>
                              <m:m>
                                <m:mPr>
                                  <m:plcHide m:val="on"/>
                                  <m:mcs>
                                    <m:mc>
                                      <m:mcPr>
                                        <m:count m:val="4"/>
                                        <m:mcJc m:val="center"/>
                                      </m:mcPr>
                                    </m:mc>
                                  </m:mcs>
                                  <m:ctrlPr>
                                    <a:rPr lang="en-US" i="1"/>
                                  </m:ctrlPr>
                                </m:mPr>
                                <m:mr>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11</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1</m:t>
                                        </m:r>
                                        <m:r>
                                          <a:rPr lang="en-US" i="1">
                                            <a:latin typeface="Cambria Math" panose="02040503050406030204" pitchFamily="18" charset="0"/>
                                          </a:rPr>
                                          <m:t>2</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1</m:t>
                                        </m:r>
                                        <m:r>
                                          <a:rPr lang="en-US" b="0" i="1" smtClean="0">
                                            <a:latin typeface="Cambria Math" panose="02040503050406030204" pitchFamily="18" charset="0"/>
                                          </a:rPr>
                                          <m:t>3</m:t>
                                        </m:r>
                                      </m:sub>
                                    </m:sSub>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1</m:t>
                                        </m:r>
                                        <m:r>
                                          <a:rPr lang="en-US" b="0" i="1" smtClean="0">
                                            <a:latin typeface="Cambria Math" panose="02040503050406030204" pitchFamily="18" charset="0"/>
                                          </a:rPr>
                                          <m:t>4</m:t>
                                        </m:r>
                                      </m:sub>
                                    </m:sSub>
                                  </m:e>
                                </m:mr>
                                <m:mr>
                                  <m:e>
                                    <m:sSubSup>
                                      <m:sSubSupPr>
                                        <m:ctrlPr>
                                          <a:rPr lang="en-US" i="1">
                                            <a:latin typeface="Cambria Math" panose="02040503050406030204" pitchFamily="18" charset="0"/>
                                          </a:rPr>
                                        </m:ctrlPr>
                                      </m:sSubSupPr>
                                      <m:e>
                                        <m:r>
                                          <a:rPr lang="en-US" i="1">
                                            <a:latin typeface="Cambria Math" panose="02040503050406030204" pitchFamily="18" charset="0"/>
                                          </a:rPr>
                                          <m:t>𝑀</m:t>
                                        </m:r>
                                      </m:e>
                                      <m:sub>
                                        <m:r>
                                          <a:rPr lang="en-US" i="1">
                                            <a:latin typeface="Cambria Math" panose="02040503050406030204" pitchFamily="18" charset="0"/>
                                          </a:rPr>
                                          <m:t>12</m:t>
                                        </m:r>
                                      </m:sub>
                                      <m:sup>
                                        <m:r>
                                          <a:rPr lang="en-US" i="1">
                                            <a:latin typeface="Cambria Math" panose="02040503050406030204" pitchFamily="18" charset="0"/>
                                          </a:rPr>
                                          <m:t>𝑇</m:t>
                                        </m:r>
                                      </m:sup>
                                    </m:sSubSup>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22</m:t>
                                        </m:r>
                                      </m:sub>
                                    </m:sSub>
                                  </m:e>
                                  <m:e>
                                    <m:r>
                                      <a:rPr lang="en-US" i="1"/>
                                      <m:t>0</m:t>
                                    </m:r>
                                  </m:e>
                                  <m:e>
                                    <m:r>
                                      <a:rPr lang="en-US" i="1"/>
                                      <m:t>0</m:t>
                                    </m:r>
                                  </m:e>
                                </m:mr>
                                <m:mr>
                                  <m:e>
                                    <m:sSubSup>
                                      <m:sSubSupPr>
                                        <m:ctrlPr>
                                          <a:rPr lang="en-US" i="1">
                                            <a:latin typeface="Cambria Math" panose="02040503050406030204" pitchFamily="18" charset="0"/>
                                          </a:rPr>
                                        </m:ctrlPr>
                                      </m:sSubSupPr>
                                      <m:e>
                                        <m:r>
                                          <a:rPr lang="en-US" i="1">
                                            <a:latin typeface="Cambria Math" panose="02040503050406030204" pitchFamily="18" charset="0"/>
                                          </a:rPr>
                                          <m:t>𝑀</m:t>
                                        </m:r>
                                      </m:e>
                                      <m:sub>
                                        <m:r>
                                          <a:rPr lang="en-US" i="1">
                                            <a:latin typeface="Cambria Math" panose="02040503050406030204" pitchFamily="18" charset="0"/>
                                          </a:rPr>
                                          <m:t>1</m:t>
                                        </m:r>
                                        <m:r>
                                          <a:rPr lang="en-US" b="0" i="1" smtClean="0">
                                            <a:latin typeface="Cambria Math" panose="02040503050406030204" pitchFamily="18" charset="0"/>
                                          </a:rPr>
                                          <m:t>3</m:t>
                                        </m:r>
                                      </m:sub>
                                      <m:sup>
                                        <m:r>
                                          <a:rPr lang="en-US" i="1">
                                            <a:latin typeface="Cambria Math" panose="02040503050406030204" pitchFamily="18" charset="0"/>
                                          </a:rPr>
                                          <m:t>𝑇</m:t>
                                        </m:r>
                                      </m:sup>
                                    </m:sSubSup>
                                  </m:e>
                                  <m:e>
                                    <m:r>
                                      <a:rPr lang="en-US" i="1"/>
                                      <m:t>0</m:t>
                                    </m:r>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33</m:t>
                                        </m:r>
                                      </m:sub>
                                    </m:sSub>
                                  </m:e>
                                  <m:e>
                                    <m:r>
                                      <a:rPr lang="en-US" i="1"/>
                                      <m:t>0</m:t>
                                    </m:r>
                                  </m:e>
                                </m:mr>
                                <m:mr>
                                  <m:e>
                                    <m:sSubSup>
                                      <m:sSubSupPr>
                                        <m:ctrlPr>
                                          <a:rPr lang="en-US" i="1">
                                            <a:latin typeface="Cambria Math" panose="02040503050406030204" pitchFamily="18" charset="0"/>
                                          </a:rPr>
                                        </m:ctrlPr>
                                      </m:sSubSupPr>
                                      <m:e>
                                        <m:r>
                                          <a:rPr lang="en-US" i="1">
                                            <a:latin typeface="Cambria Math" panose="02040503050406030204" pitchFamily="18" charset="0"/>
                                          </a:rPr>
                                          <m:t>𝑀</m:t>
                                        </m:r>
                                      </m:e>
                                      <m:sub>
                                        <m:r>
                                          <a:rPr lang="en-US" i="1">
                                            <a:latin typeface="Cambria Math" panose="02040503050406030204" pitchFamily="18" charset="0"/>
                                          </a:rPr>
                                          <m:t>1</m:t>
                                        </m:r>
                                        <m:r>
                                          <a:rPr lang="en-US" b="0" i="1" smtClean="0">
                                            <a:latin typeface="Cambria Math" panose="02040503050406030204" pitchFamily="18" charset="0"/>
                                          </a:rPr>
                                          <m:t>4</m:t>
                                        </m:r>
                                      </m:sub>
                                      <m:sup>
                                        <m:r>
                                          <a:rPr lang="en-US" i="1">
                                            <a:latin typeface="Cambria Math" panose="02040503050406030204" pitchFamily="18" charset="0"/>
                                          </a:rPr>
                                          <m:t>𝑇</m:t>
                                        </m:r>
                                      </m:sup>
                                    </m:sSubSup>
                                  </m:e>
                                  <m:e>
                                    <m:r>
                                      <a:rPr lang="en-US" i="1"/>
                                      <m:t>0</m:t>
                                    </m:r>
                                  </m:e>
                                  <m:e>
                                    <m:r>
                                      <a:rPr lang="en-US" i="1"/>
                                      <m:t>0</m:t>
                                    </m:r>
                                  </m:e>
                                  <m:e>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b="0" i="1" smtClean="0">
                                            <a:latin typeface="Cambria Math" panose="02040503050406030204" pitchFamily="18" charset="0"/>
                                          </a:rPr>
                                          <m:t>44</m:t>
                                        </m:r>
                                      </m:sub>
                                    </m:sSub>
                                  </m:e>
                                </m:mr>
                              </m:m>
                            </m:e>
                          </m:d>
                          <m:r>
                            <a:rPr lang="en-US"/>
                            <m:t>.</m:t>
                          </m:r>
                        </m:e>
                      </m:borderBox>
                    </m:oMath>
                  </m:oMathPara>
                </a14:m>
                <a:endParaRPr lang="en-US" dirty="0"/>
              </a:p>
              <a:p>
                <a:r>
                  <a:rPr lang="en-US" dirty="0">
                    <a:latin typeface="Arial" panose="020B0604020202020204" pitchFamily="34" charset="0"/>
                    <a:cs typeface="Arial" panose="020B0604020202020204" pitchFamily="34" charset="0"/>
                  </a:rPr>
                  <a:t>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11</m:t>
                        </m:r>
                      </m:sub>
                    </m:sSub>
                  </m:oMath>
                </a14:m>
                <a:endParaRPr lang="en-US" dirty="0">
                  <a:latin typeface="Arial" panose="020B0604020202020204" pitchFamily="34" charset="0"/>
                  <a:cs typeface="Arial" panose="020B0604020202020204" pitchFamily="34" charset="0"/>
                </a:endParaRPr>
              </a:p>
              <a:p>
                <a:pPr marL="0" lvl="0" indent="0" algn="ctr">
                  <a:buNone/>
                </a:pPr>
                <a:r>
                  <a:rPr lang="en-US" dirty="0"/>
                  <a:t>Coefficient for </a:t>
                </a:r>
                <a14:m>
                  <m:oMath xmlns:m="http://schemas.openxmlformats.org/officeDocument/2006/math">
                    <m:r>
                      <a:rPr lang="en-US" i="1"/>
                      <m:t>𝑥</m:t>
                    </m:r>
                    <m:sSup>
                      <m:sSupPr>
                        <m:ctrlPr>
                          <a:rPr lang="en-US" i="1"/>
                        </m:ctrlPr>
                      </m:sSupPr>
                      <m:e>
                        <m:d>
                          <m:dPr>
                            <m:ctrlPr>
                              <a:rPr lang="en-US" i="1"/>
                            </m:ctrlPr>
                          </m:dPr>
                          <m:e>
                            <m:r>
                              <a:rPr lang="en-US" i="1"/>
                              <m:t>𝑡</m:t>
                            </m:r>
                          </m:e>
                        </m:d>
                      </m:e>
                      <m:sup>
                        <m:r>
                          <a:rPr lang="en-US" i="1"/>
                          <m:t>𝑇</m:t>
                        </m:r>
                      </m:sup>
                    </m:sSup>
                    <m:d>
                      <m:dPr>
                        <m:ctrlPr>
                          <a:rPr lang="en-US" i="1"/>
                        </m:ctrlPr>
                      </m:dPr>
                      <m:e>
                        <m:r>
                          <a:rPr lang="en-US"/>
                          <m:t>⋅</m:t>
                        </m:r>
                      </m:e>
                    </m:d>
                    <m:r>
                      <a:rPr lang="en-US" i="1"/>
                      <m:t>𝑥</m:t>
                    </m:r>
                    <m:d>
                      <m:dPr>
                        <m:ctrlPr>
                          <a:rPr lang="en-US" i="1"/>
                        </m:ctrlPr>
                      </m:dPr>
                      <m:e>
                        <m:r>
                          <a:rPr lang="en-US" i="1"/>
                          <m:t>𝑡</m:t>
                        </m:r>
                      </m:e>
                    </m:d>
                  </m:oMath>
                </a14:m>
                <a:r>
                  <a:rPr lang="en-US" dirty="0"/>
                  <a:t> (block (1,1))  : </a:t>
                </a:r>
                <a14:m>
                  <m:oMath xmlns:m="http://schemas.openxmlformats.org/officeDocument/2006/math">
                    <m:r>
                      <a:rPr lang="en-US" i="1"/>
                      <m:t>𝑃𝐴</m:t>
                    </m:r>
                    <m:r>
                      <a:rPr lang="en-US"/>
                      <m:t>+</m:t>
                    </m:r>
                    <m:sSup>
                      <m:sSupPr>
                        <m:ctrlPr>
                          <a:rPr lang="en-US" i="1"/>
                        </m:ctrlPr>
                      </m:sSupPr>
                      <m:e>
                        <m:r>
                          <a:rPr lang="en-US" i="1"/>
                          <m:t>𝐴</m:t>
                        </m:r>
                      </m:e>
                      <m:sup>
                        <m:r>
                          <a:rPr lang="en-US" i="1"/>
                          <m:t>𝑇</m:t>
                        </m:r>
                      </m:sup>
                    </m:sSup>
                    <m:r>
                      <a:rPr lang="en-US" i="1"/>
                      <m:t>𝑃</m:t>
                    </m:r>
                    <m:r>
                      <a:rPr lang="en-US"/>
                      <m:t>+</m:t>
                    </m:r>
                    <m:sSub>
                      <m:sSubPr>
                        <m:ctrlPr>
                          <a:rPr lang="en-US" i="1"/>
                        </m:ctrlPr>
                      </m:sSubPr>
                      <m:e>
                        <m:r>
                          <a:rPr lang="en-US" i="1"/>
                          <m:t>𝑄</m:t>
                        </m:r>
                      </m:e>
                      <m:sub>
                        <m:r>
                          <a:rPr lang="en-US" i="1"/>
                          <m:t>1</m:t>
                        </m:r>
                      </m:sub>
                    </m:sSub>
                    <m:r>
                      <a:rPr lang="en-US"/>
                      <m:t>+</m:t>
                    </m:r>
                    <m:sSub>
                      <m:sSubPr>
                        <m:ctrlPr>
                          <a:rPr lang="en-US" i="1"/>
                        </m:ctrlPr>
                      </m:sSubPr>
                      <m:e>
                        <m:r>
                          <a:rPr lang="en-US" i="1"/>
                          <m:t>𝑄</m:t>
                        </m:r>
                      </m:e>
                      <m:sub>
                        <m:r>
                          <a:rPr lang="en-US" i="1"/>
                          <m:t>2</m:t>
                        </m:r>
                      </m:sub>
                    </m:sSub>
                    <m:r>
                      <a:rPr lang="en-US"/>
                      <m:t>+</m:t>
                    </m:r>
                    <m:sSup>
                      <m:sSupPr>
                        <m:ctrlPr>
                          <a:rPr lang="en-US" i="1"/>
                        </m:ctrlPr>
                      </m:sSupPr>
                      <m:e>
                        <m:r>
                          <a:rPr lang="en-US" i="1"/>
                          <m:t>𝐿</m:t>
                        </m:r>
                      </m:e>
                      <m:sup>
                        <m:r>
                          <a:rPr lang="en-US" i="1"/>
                          <m:t>𝑇</m:t>
                        </m:r>
                      </m:sup>
                    </m:sSup>
                    <m:r>
                      <a:rPr lang="en-US" i="1"/>
                      <m:t>𝐿</m:t>
                    </m:r>
                    <m:r>
                      <a:rPr lang="en-US"/>
                      <m:t>.</m:t>
                    </m:r>
                  </m:oMath>
                </a14:m>
                <a:endParaRPr lang="en-US" dirty="0"/>
              </a:p>
              <a:p>
                <a:r>
                  <a:rPr lang="en-US" dirty="0">
                    <a:latin typeface="Arial" panose="020B0604020202020204" pitchFamily="34" charset="0"/>
                    <a:cs typeface="Arial" panose="020B0604020202020204" pitchFamily="34" charset="0"/>
                  </a:rPr>
                  <a:t>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1</m:t>
                        </m:r>
                        <m:r>
                          <a:rPr lang="en-US" b="0" i="1" smtClean="0">
                            <a:latin typeface="Cambria Math" panose="02040503050406030204" pitchFamily="18" charset="0"/>
                          </a:rPr>
                          <m:t>2</m:t>
                        </m:r>
                      </m:sub>
                    </m:sSub>
                  </m:oMath>
                </a14:m>
                <a:r>
                  <a:rPr lang="en-US" dirty="0">
                    <a:latin typeface="Arial" panose="020B0604020202020204" pitchFamily="34" charset="0"/>
                    <a:cs typeface="Arial" panose="020B0604020202020204" pitchFamily="34" charset="0"/>
                  </a:rPr>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𝑀</m:t>
                        </m:r>
                      </m:e>
                      <m:sub>
                        <m:r>
                          <a:rPr lang="en-US" i="1">
                            <a:latin typeface="Cambria Math" panose="02040503050406030204" pitchFamily="18" charset="0"/>
                          </a:rPr>
                          <m:t>12</m:t>
                        </m:r>
                      </m:sub>
                      <m:sup>
                        <m:r>
                          <a:rPr lang="en-US" i="1">
                            <a:latin typeface="Cambria Math" panose="02040503050406030204" pitchFamily="18" charset="0"/>
                          </a:rPr>
                          <m:t>𝑇</m:t>
                        </m:r>
                      </m:sup>
                    </m:sSubSup>
                  </m:oMath>
                </a14:m>
                <a:endParaRPr lang="en-US" dirty="0">
                  <a:latin typeface="Arial" panose="020B0604020202020204" pitchFamily="34" charset="0"/>
                  <a:cs typeface="Arial" panose="020B0604020202020204" pitchFamily="34" charset="0"/>
                </a:endParaRPr>
              </a:p>
              <a:p>
                <a:pPr marL="0" lvl="0" indent="0" algn="ctr">
                  <a:buNone/>
                </a:pPr>
                <a:r>
                  <a:rPr lang="en-US" dirty="0"/>
                  <a:t>Cross term between </a:t>
                </a:r>
                <a14:m>
                  <m:oMath xmlns:m="http://schemas.openxmlformats.org/officeDocument/2006/math">
                    <m:r>
                      <a:rPr lang="en-US" i="1" smtClean="0"/>
                      <m:t>𝑥</m:t>
                    </m:r>
                    <m:d>
                      <m:dPr>
                        <m:ctrlPr>
                          <a:rPr lang="en-US" i="1"/>
                        </m:ctrlPr>
                      </m:dPr>
                      <m:e>
                        <m:r>
                          <a:rPr lang="en-US" i="1"/>
                          <m:t>𝑡</m:t>
                        </m:r>
                      </m:e>
                    </m:d>
                  </m:oMath>
                </a14:m>
                <a:r>
                  <a:rPr lang="en-US" dirty="0"/>
                  <a:t> and </a:t>
                </a:r>
                <a14:m>
                  <m:oMath xmlns:m="http://schemas.openxmlformats.org/officeDocument/2006/math">
                    <m:r>
                      <a:rPr lang="en-US" i="1"/>
                      <m:t>𝑥</m:t>
                    </m:r>
                    <m:d>
                      <m:dPr>
                        <m:ctrlPr>
                          <a:rPr lang="en-US" i="1"/>
                        </m:ctrlPr>
                      </m:dPr>
                      <m:e>
                        <m:r>
                          <a:rPr lang="en-US" i="1"/>
                          <m:t>𝑡</m:t>
                        </m:r>
                        <m:r>
                          <a:rPr lang="en-US" i="1"/>
                          <m:t>−</m:t>
                        </m:r>
                        <m:r>
                          <a:rPr lang="en-US" i="1"/>
                          <m:t>𝑑</m:t>
                        </m:r>
                      </m:e>
                    </m:d>
                  </m:oMath>
                </a14:m>
                <a:r>
                  <a:rPr lang="en-US" dirty="0"/>
                  <a:t> : </a:t>
                </a:r>
                <a14:m>
                  <m:oMath xmlns:m="http://schemas.openxmlformats.org/officeDocument/2006/math">
                    <m:r>
                      <a:rPr lang="en-US" i="1"/>
                      <m:t>𝑃</m:t>
                    </m:r>
                    <m:sSub>
                      <m:sSubPr>
                        <m:ctrlPr>
                          <a:rPr lang="en-US" i="1"/>
                        </m:ctrlPr>
                      </m:sSubPr>
                      <m:e>
                        <m:r>
                          <a:rPr lang="en-US" i="1"/>
                          <m:t>𝒜</m:t>
                        </m:r>
                      </m:e>
                      <m:sub>
                        <m:r>
                          <a:rPr lang="en-US" i="1"/>
                          <m:t>𝑑</m:t>
                        </m:r>
                      </m:sub>
                    </m:sSub>
                    <m:r>
                      <a:rPr lang="en-US"/>
                      <m:t>.</m:t>
                    </m:r>
                  </m:oMath>
                </a14:m>
                <a:endParaRPr lang="en-US" dirty="0"/>
              </a:p>
              <a:p>
                <a:r>
                  <a:rPr lang="en-US" dirty="0">
                    <a:latin typeface="Arial" panose="020B0604020202020204" pitchFamily="34" charset="0"/>
                    <a:cs typeface="Arial" panose="020B0604020202020204" pitchFamily="34" charset="0"/>
                  </a:rPr>
                  <a:t>For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𝑀</m:t>
                        </m:r>
                      </m:e>
                      <m:sub>
                        <m:r>
                          <a:rPr lang="en-US" i="1">
                            <a:latin typeface="Cambria Math" panose="02040503050406030204" pitchFamily="18" charset="0"/>
                          </a:rPr>
                          <m:t>1</m:t>
                        </m:r>
                        <m:r>
                          <a:rPr lang="en-US" b="0" i="1" smtClean="0">
                            <a:latin typeface="Cambria Math" panose="02040503050406030204" pitchFamily="18" charset="0"/>
                          </a:rPr>
                          <m:t>3</m:t>
                        </m:r>
                      </m:sub>
                    </m:sSub>
                  </m:oMath>
                </a14:m>
                <a:r>
                  <a:rPr lang="en-US" dirty="0">
                    <a:latin typeface="Arial" panose="020B0604020202020204" pitchFamily="34" charset="0"/>
                    <a:cs typeface="Arial" panose="020B0604020202020204" pitchFamily="34" charset="0"/>
                  </a:rPr>
                  <a:t> and </a:t>
                </a:r>
                <a14:m>
                  <m:oMath xmlns:m="http://schemas.openxmlformats.org/officeDocument/2006/math">
                    <m:sSubSup>
                      <m:sSubSupPr>
                        <m:ctrlPr>
                          <a:rPr lang="en-US" i="1">
                            <a:latin typeface="Cambria Math" panose="02040503050406030204" pitchFamily="18" charset="0"/>
                          </a:rPr>
                        </m:ctrlPr>
                      </m:sSubSupPr>
                      <m:e>
                        <m:r>
                          <a:rPr lang="en-US" i="1">
                            <a:latin typeface="Cambria Math" panose="02040503050406030204" pitchFamily="18" charset="0"/>
                          </a:rPr>
                          <m:t>𝑀</m:t>
                        </m:r>
                      </m:e>
                      <m:sub>
                        <m:r>
                          <a:rPr lang="en-US" i="1">
                            <a:latin typeface="Cambria Math" panose="02040503050406030204" pitchFamily="18" charset="0"/>
                          </a:rPr>
                          <m:t>1</m:t>
                        </m:r>
                        <m:r>
                          <a:rPr lang="en-US" b="0" i="1" smtClean="0">
                            <a:latin typeface="Cambria Math" panose="02040503050406030204" pitchFamily="18" charset="0"/>
                          </a:rPr>
                          <m:t>3</m:t>
                        </m:r>
                      </m:sub>
                      <m:sup>
                        <m:r>
                          <a:rPr lang="en-US" i="1">
                            <a:latin typeface="Cambria Math" panose="02040503050406030204" pitchFamily="18" charset="0"/>
                          </a:rPr>
                          <m:t>𝑇</m:t>
                        </m:r>
                      </m:sup>
                    </m:sSubSup>
                  </m:oMath>
                </a14:m>
                <a:endParaRPr lang="en-US" dirty="0">
                  <a:latin typeface="Arial" panose="020B0604020202020204" pitchFamily="34" charset="0"/>
                  <a:cs typeface="Arial" panose="020B0604020202020204" pitchFamily="34" charset="0"/>
                </a:endParaRPr>
              </a:p>
              <a:p>
                <a:pPr marL="0" lvl="0" indent="0" algn="ctr">
                  <a:buNone/>
                </a:pPr>
                <a:r>
                  <a:rPr lang="en-US" dirty="0"/>
                  <a:t>Cross term between </a:t>
                </a:r>
                <a14:m>
                  <m:oMath xmlns:m="http://schemas.openxmlformats.org/officeDocument/2006/math">
                    <m:r>
                      <a:rPr lang="en-US" i="1"/>
                      <m:t>𝑥</m:t>
                    </m:r>
                    <m:d>
                      <m:dPr>
                        <m:ctrlPr>
                          <a:rPr lang="en-US" i="1"/>
                        </m:ctrlPr>
                      </m:dPr>
                      <m:e>
                        <m:r>
                          <a:rPr lang="en-US" i="1"/>
                          <m:t>𝑡</m:t>
                        </m:r>
                      </m:e>
                    </m:d>
                  </m:oMath>
                </a14:m>
                <a:r>
                  <a:rPr lang="en-US" dirty="0"/>
                  <a:t> and </a:t>
                </a:r>
                <a14:m>
                  <m:oMath xmlns:m="http://schemas.openxmlformats.org/officeDocument/2006/math">
                    <m:r>
                      <a:rPr lang="en-US" i="1"/>
                      <m:t>𝑥</m:t>
                    </m:r>
                    <m:d>
                      <m:dPr>
                        <m:ctrlPr>
                          <a:rPr lang="en-US" i="1"/>
                        </m:ctrlPr>
                      </m:dPr>
                      <m:e>
                        <m:r>
                          <a:rPr lang="en-US" i="1"/>
                          <m:t>𝑡</m:t>
                        </m:r>
                        <m:r>
                          <a:rPr lang="en-US" i="1"/>
                          <m:t>−2</m:t>
                        </m:r>
                        <m:r>
                          <a:rPr lang="en-US" i="1"/>
                          <m:t>𝑑</m:t>
                        </m:r>
                      </m:e>
                    </m:d>
                  </m:oMath>
                </a14:m>
                <a:r>
                  <a:rPr lang="en-US" dirty="0"/>
                  <a:t>: </a:t>
                </a:r>
                <a14:m>
                  <m:oMath xmlns:m="http://schemas.openxmlformats.org/officeDocument/2006/math">
                    <m:r>
                      <a:rPr lang="en-US" i="1"/>
                      <m:t>𝑃</m:t>
                    </m:r>
                    <m:sSub>
                      <m:sSubPr>
                        <m:ctrlPr>
                          <a:rPr lang="en-US" i="1"/>
                        </m:ctrlPr>
                      </m:sSubPr>
                      <m:e>
                        <m:r>
                          <a:rPr lang="en-US" i="1"/>
                          <m:t>ℬ</m:t>
                        </m:r>
                      </m:e>
                      <m:sub>
                        <m:r>
                          <a:rPr lang="en-US" i="1"/>
                          <m:t>2</m:t>
                        </m:r>
                      </m:sub>
                    </m:sSub>
                    <m:r>
                      <a:rPr lang="en-US"/>
                      <m:t>.</m:t>
                    </m:r>
                  </m:oMath>
                </a14:m>
                <a:endParaRPr lang="en-US" dirty="0"/>
              </a:p>
              <a:p>
                <a:pPr lvl="0"/>
                <a:r>
                  <a:rPr lang="en-US" dirty="0"/>
                  <a:t>Diagonal blocks for delayed states:</a:t>
                </a:r>
              </a:p>
              <a:p>
                <a:pPr lvl="1">
                  <a:buFont typeface="Courier New" panose="02070309020205020404" pitchFamily="49" charset="0"/>
                  <a:buChar char="o"/>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𝑀</m:t>
                        </m:r>
                      </m:e>
                      <m:sub>
                        <m:r>
                          <a:rPr lang="en-US" sz="1800" i="1">
                            <a:latin typeface="Cambria Math" panose="02040503050406030204" pitchFamily="18" charset="0"/>
                          </a:rPr>
                          <m:t>22</m:t>
                        </m:r>
                      </m:sub>
                    </m:sSub>
                    <m:r>
                      <a:rPr lang="en-US" sz="1800" i="1">
                        <a:latin typeface="Cambria Math" panose="02040503050406030204" pitchFamily="18" charset="0"/>
                      </a:rPr>
                      <m:t> </m:t>
                    </m:r>
                  </m:oMath>
                </a14:m>
                <a:r>
                  <a:rPr lang="en-US" sz="1800" dirty="0"/>
                  <a:t>: </a:t>
                </a:r>
                <a14:m>
                  <m:oMath xmlns:m="http://schemas.openxmlformats.org/officeDocument/2006/math">
                    <m:r>
                      <a:rPr lang="en-US" sz="1800" i="1"/>
                      <m:t>−</m:t>
                    </m:r>
                    <m:sSub>
                      <m:sSubPr>
                        <m:ctrlPr>
                          <a:rPr lang="en-US" sz="1800" i="1"/>
                        </m:ctrlPr>
                      </m:sSubPr>
                      <m:e>
                        <m:r>
                          <a:rPr lang="en-US" sz="1800" i="1"/>
                          <m:t>𝑄</m:t>
                        </m:r>
                      </m:e>
                      <m:sub>
                        <m:r>
                          <a:rPr lang="en-US" sz="1800" i="1"/>
                          <m:t>1</m:t>
                        </m:r>
                      </m:sub>
                    </m:sSub>
                  </m:oMath>
                </a14:m>
                <a:r>
                  <a:rPr lang="en-US" sz="1800" dirty="0"/>
                  <a:t>.</a:t>
                </a:r>
              </a:p>
              <a:p>
                <a:pPr lvl="1">
                  <a:buFont typeface="Courier New" panose="02070309020205020404" pitchFamily="49" charset="0"/>
                  <a:buChar char="o"/>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𝑀</m:t>
                        </m:r>
                      </m:e>
                      <m:sub>
                        <m:r>
                          <a:rPr lang="en-US" sz="1800" i="1">
                            <a:latin typeface="Cambria Math" panose="02040503050406030204" pitchFamily="18" charset="0"/>
                          </a:rPr>
                          <m:t>33</m:t>
                        </m:r>
                      </m:sub>
                    </m:sSub>
                  </m:oMath>
                </a14:m>
                <a:r>
                  <a:rPr lang="en-US" sz="1800" dirty="0"/>
                  <a:t> : </a:t>
                </a:r>
                <a14:m>
                  <m:oMath xmlns:m="http://schemas.openxmlformats.org/officeDocument/2006/math">
                    <m:r>
                      <a:rPr lang="en-US" sz="1800" i="1"/>
                      <m:t>−</m:t>
                    </m:r>
                    <m:sSub>
                      <m:sSubPr>
                        <m:ctrlPr>
                          <a:rPr lang="en-US" sz="1800" i="1"/>
                        </m:ctrlPr>
                      </m:sSubPr>
                      <m:e>
                        <m:r>
                          <a:rPr lang="en-US" sz="1800" i="1"/>
                          <m:t>𝑄</m:t>
                        </m:r>
                      </m:e>
                      <m:sub>
                        <m:r>
                          <a:rPr lang="en-US" sz="1800" i="1"/>
                          <m:t>2</m:t>
                        </m:r>
                      </m:sub>
                    </m:sSub>
                  </m:oMath>
                </a14:m>
                <a:r>
                  <a:rPr lang="en-US" sz="1800" dirty="0"/>
                  <a:t>.</a:t>
                </a:r>
              </a:p>
              <a:p>
                <a:pPr marL="0" lvl="0" indent="0">
                  <a:buNone/>
                </a:pPr>
                <a:endParaRPr lang="en-US" dirty="0"/>
              </a:p>
              <a:p>
                <a:pPr marL="0" indent="0">
                  <a:buNone/>
                </a:pPr>
                <a:endParaRPr lang="en-US" dirty="0">
                  <a:latin typeface="Arial" panose="020B0604020202020204" pitchFamily="34" charset="0"/>
                  <a:cs typeface="Arial" panose="020B0604020202020204" pitchFamily="34" charset="0"/>
                </a:endParaRPr>
              </a:p>
            </p:txBody>
          </p:sp>
        </mc:Choice>
        <mc:Fallback>
          <p:sp>
            <p:nvSpPr>
              <p:cNvPr id="9" name="Content Placeholder 3">
                <a:extLst>
                  <a:ext uri="{FF2B5EF4-FFF2-40B4-BE49-F238E27FC236}">
                    <a16:creationId xmlns:a16="http://schemas.microsoft.com/office/drawing/2014/main" id="{3DAFCA23-0404-1CA7-C0D6-76BB05AB65D9}"/>
                  </a:ext>
                </a:extLst>
              </p:cNvPr>
              <p:cNvSpPr>
                <a:spLocks noGrp="1" noRot="1" noChangeAspect="1" noMove="1" noResize="1" noEditPoints="1" noAdjustHandles="1" noChangeArrowheads="1" noChangeShapeType="1" noTextEdit="1"/>
              </p:cNvSpPr>
              <p:nvPr>
                <p:ph sz="half" idx="2"/>
              </p:nvPr>
            </p:nvSpPr>
            <p:spPr>
              <a:xfrm>
                <a:off x="299581" y="1116604"/>
                <a:ext cx="10528840" cy="5392320"/>
              </a:xfrm>
              <a:blipFill>
                <a:blip r:embed="rId4"/>
                <a:stretch>
                  <a:fillRect l="-116" t="-565" b="-45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AADEDA2E-5566-0190-3837-A5285A24E065}"/>
                  </a:ext>
                </a:extLst>
              </p:cNvPr>
              <p:cNvSpPr txBox="1">
                <a:spLocks/>
              </p:cNvSpPr>
              <p:nvPr/>
            </p:nvSpPr>
            <p:spPr>
              <a:xfrm>
                <a:off x="5120801" y="5352391"/>
                <a:ext cx="4978884" cy="11565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Cross terms involving </a:t>
                </a:r>
                <a14:m>
                  <m:oMath xmlns:m="http://schemas.openxmlformats.org/officeDocument/2006/math">
                    <m:r>
                      <a:rPr lang="en-US" i="1"/>
                      <m:t>𝜔</m:t>
                    </m:r>
                  </m:oMath>
                </a14:m>
                <a:endParaRPr lang="en-US" dirty="0">
                  <a:latin typeface="Arial" panose="020B0604020202020204" pitchFamily="34" charset="0"/>
                  <a:cs typeface="Arial" panose="020B0604020202020204" pitchFamily="34" charset="0"/>
                </a:endParaRPr>
              </a:p>
              <a:p>
                <a:pPr lvl="1">
                  <a:buFont typeface="Courier New" panose="02070309020205020404" pitchFamily="49" charset="0"/>
                  <a:buChar char="o"/>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𝑀</m:t>
                        </m:r>
                      </m:e>
                      <m:sub>
                        <m:r>
                          <a:rPr lang="en-US" sz="1800" i="1">
                            <a:latin typeface="Cambria Math" panose="02040503050406030204" pitchFamily="18" charset="0"/>
                          </a:rPr>
                          <m:t>1</m:t>
                        </m:r>
                        <m:r>
                          <a:rPr lang="en-US" sz="1800" i="1">
                            <a:latin typeface="Cambria Math" panose="02040503050406030204" pitchFamily="18" charset="0"/>
                          </a:rPr>
                          <m:t>4</m:t>
                        </m:r>
                      </m:sub>
                    </m:sSub>
                    <m:r>
                      <a:rPr lang="en-US" sz="1800" i="1">
                        <a:latin typeface="Cambria Math" panose="02040503050406030204" pitchFamily="18" charset="0"/>
                      </a:rPr>
                      <m:t> </m:t>
                    </m:r>
                  </m:oMath>
                </a14:m>
                <a:r>
                  <a:rPr lang="en-US" sz="1800" dirty="0"/>
                  <a:t>: </a:t>
                </a:r>
                <a14:m>
                  <m:oMath xmlns:m="http://schemas.openxmlformats.org/officeDocument/2006/math">
                    <m:r>
                      <a:rPr lang="en-US" sz="1800" i="1"/>
                      <m:t>𝑃𝐷</m:t>
                    </m:r>
                  </m:oMath>
                </a14:m>
                <a:r>
                  <a:rPr lang="en-US" sz="1800" dirty="0"/>
                  <a:t> and </a:t>
                </a:r>
                <a14:m>
                  <m:oMath xmlns:m="http://schemas.openxmlformats.org/officeDocument/2006/math">
                    <m:sSubSup>
                      <m:sSubSupPr>
                        <m:ctrlPr>
                          <a:rPr lang="en-US" sz="1800" i="1">
                            <a:latin typeface="Cambria Math" panose="02040503050406030204" pitchFamily="18" charset="0"/>
                          </a:rPr>
                        </m:ctrlPr>
                      </m:sSubSupPr>
                      <m:e>
                        <m:r>
                          <a:rPr lang="en-US" sz="1800" i="1">
                            <a:latin typeface="Cambria Math" panose="02040503050406030204" pitchFamily="18" charset="0"/>
                          </a:rPr>
                          <m:t>𝑀</m:t>
                        </m:r>
                      </m:e>
                      <m:sub>
                        <m:r>
                          <a:rPr lang="en-US" sz="1800" i="1">
                            <a:latin typeface="Cambria Math" panose="02040503050406030204" pitchFamily="18" charset="0"/>
                          </a:rPr>
                          <m:t>1</m:t>
                        </m:r>
                        <m:r>
                          <a:rPr lang="en-US" sz="1800" i="1">
                            <a:latin typeface="Cambria Math" panose="02040503050406030204" pitchFamily="18" charset="0"/>
                          </a:rPr>
                          <m:t>4</m:t>
                        </m:r>
                      </m:sub>
                      <m:sup>
                        <m:r>
                          <a:rPr lang="en-US" sz="1800" i="1">
                            <a:latin typeface="Cambria Math" panose="02040503050406030204" pitchFamily="18" charset="0"/>
                          </a:rPr>
                          <m:t>𝑇</m:t>
                        </m:r>
                      </m:sup>
                    </m:sSubSup>
                    <m:r>
                      <a:rPr lang="en-US" sz="1800" i="1">
                        <a:latin typeface="Cambria Math" panose="02040503050406030204" pitchFamily="18" charset="0"/>
                      </a:rPr>
                      <m:t> </m:t>
                    </m:r>
                  </m:oMath>
                </a14:m>
                <a:r>
                  <a:rPr lang="en-US" sz="1800" dirty="0"/>
                  <a:t>: </a:t>
                </a:r>
                <a14:m>
                  <m:oMath xmlns:m="http://schemas.openxmlformats.org/officeDocument/2006/math">
                    <m:sSup>
                      <m:sSupPr>
                        <m:ctrlPr>
                          <a:rPr lang="en-US" sz="1800" i="1"/>
                        </m:ctrlPr>
                      </m:sSupPr>
                      <m:e>
                        <m:r>
                          <a:rPr lang="en-US" sz="1800" i="1"/>
                          <m:t>𝐷</m:t>
                        </m:r>
                      </m:e>
                      <m:sup>
                        <m:r>
                          <a:rPr lang="en-US" sz="1800" i="1"/>
                          <m:t>𝑇</m:t>
                        </m:r>
                      </m:sup>
                    </m:sSup>
                    <m:r>
                      <a:rPr lang="en-US" sz="1800" i="1"/>
                      <m:t>𝑃</m:t>
                    </m:r>
                  </m:oMath>
                </a14:m>
                <a:r>
                  <a:rPr lang="en-US" sz="1800" dirty="0"/>
                  <a:t>.</a:t>
                </a:r>
              </a:p>
              <a:p>
                <a:pPr lvl="1">
                  <a:buFont typeface="Courier New" panose="02070309020205020404" pitchFamily="49" charset="0"/>
                  <a:buChar char="o"/>
                </a:pP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𝑀</m:t>
                        </m:r>
                      </m:e>
                      <m:sub>
                        <m:r>
                          <a:rPr lang="en-US" sz="1800" b="0" i="1" smtClean="0">
                            <a:latin typeface="Cambria Math" panose="02040503050406030204" pitchFamily="18" charset="0"/>
                          </a:rPr>
                          <m:t>4</m:t>
                        </m:r>
                        <m:r>
                          <a:rPr lang="en-US" sz="1800" i="1">
                            <a:latin typeface="Cambria Math" panose="02040503050406030204" pitchFamily="18" charset="0"/>
                          </a:rPr>
                          <m:t>4</m:t>
                        </m:r>
                      </m:sub>
                    </m:sSub>
                  </m:oMath>
                </a14:m>
                <a:r>
                  <a:rPr lang="en-US" sz="1800" dirty="0"/>
                  <a:t>: </a:t>
                </a:r>
                <a14:m>
                  <m:oMath xmlns:m="http://schemas.openxmlformats.org/officeDocument/2006/math">
                    <m:r>
                      <a:rPr lang="en-US" sz="1800" i="1"/>
                      <m:t>−</m:t>
                    </m:r>
                    <m:sSup>
                      <m:sSupPr>
                        <m:ctrlPr>
                          <a:rPr lang="en-US" sz="1800" i="1"/>
                        </m:ctrlPr>
                      </m:sSupPr>
                      <m:e>
                        <m:r>
                          <a:rPr lang="en-US" sz="1800" i="1"/>
                          <m:t>𝛾</m:t>
                        </m:r>
                      </m:e>
                      <m:sup>
                        <m:r>
                          <a:rPr lang="en-US" sz="1800" i="1"/>
                          <m:t>2</m:t>
                        </m:r>
                      </m:sup>
                    </m:sSup>
                    <m:r>
                      <a:rPr lang="en-US" sz="1800" i="1"/>
                      <m:t>𝐼</m:t>
                    </m:r>
                  </m:oMath>
                </a14:m>
                <a:r>
                  <a:rPr lang="en-US" sz="1800" dirty="0"/>
                  <a:t>.</a:t>
                </a:r>
              </a:p>
              <a:p>
                <a:endParaRPr lang="en-US" dirty="0">
                  <a:latin typeface="Arial" panose="020B0604020202020204" pitchFamily="34" charset="0"/>
                  <a:cs typeface="Arial" panose="020B0604020202020204" pitchFamily="34" charset="0"/>
                </a:endParaRPr>
              </a:p>
            </p:txBody>
          </p:sp>
        </mc:Choice>
        <mc:Fallback>
          <p:sp>
            <p:nvSpPr>
              <p:cNvPr id="4" name="Content Placeholder 3">
                <a:extLst>
                  <a:ext uri="{FF2B5EF4-FFF2-40B4-BE49-F238E27FC236}">
                    <a16:creationId xmlns:a16="http://schemas.microsoft.com/office/drawing/2014/main" id="{AADEDA2E-5566-0190-3837-A5285A24E065}"/>
                  </a:ext>
                </a:extLst>
              </p:cNvPr>
              <p:cNvSpPr txBox="1">
                <a:spLocks noRot="1" noChangeAspect="1" noMove="1" noResize="1" noEditPoints="1" noAdjustHandles="1" noChangeArrowheads="1" noChangeShapeType="1" noTextEdit="1"/>
              </p:cNvSpPr>
              <p:nvPr/>
            </p:nvSpPr>
            <p:spPr>
              <a:xfrm>
                <a:off x="5120801" y="5352391"/>
                <a:ext cx="4978884" cy="1156533"/>
              </a:xfrm>
              <a:prstGeom prst="rect">
                <a:avLst/>
              </a:prstGeom>
              <a:blipFill>
                <a:blip r:embed="rId5"/>
                <a:stretch>
                  <a:fillRect l="-245" t="-3158" b="-10000"/>
                </a:stretch>
              </a:blipFill>
            </p:spPr>
            <p:txBody>
              <a:bodyPr/>
              <a:lstStyle/>
              <a:p>
                <a:r>
                  <a:rPr lang="en-US">
                    <a:noFill/>
                  </a:rPr>
                  <a:t> </a:t>
                </a:r>
              </a:p>
            </p:txBody>
          </p:sp>
        </mc:Fallback>
      </mc:AlternateContent>
      <p:sp>
        <p:nvSpPr>
          <p:cNvPr id="5" name="Slide Number Placeholder 2">
            <a:extLst>
              <a:ext uri="{FF2B5EF4-FFF2-40B4-BE49-F238E27FC236}">
                <a16:creationId xmlns:a16="http://schemas.microsoft.com/office/drawing/2014/main" id="{A0C9F4F2-BA25-8A24-1378-2C62123BC465}"/>
              </a:ext>
            </a:extLst>
          </p:cNvPr>
          <p:cNvSpPr>
            <a:spLocks noGrp="1"/>
          </p:cNvSpPr>
          <p:nvPr>
            <p:ph type="sldNum" sz="quarter" idx="12"/>
          </p:nvPr>
        </p:nvSpPr>
        <p:spPr>
          <a:xfrm>
            <a:off x="7795578" y="6141113"/>
            <a:ext cx="1096432" cy="716887"/>
          </a:xfrm>
        </p:spPr>
        <p:txBody>
          <a:bodyPr/>
          <a:lstStyle/>
          <a:p>
            <a:r>
              <a:rPr lang="en-US" dirty="0"/>
              <a:t>11</a:t>
            </a:r>
          </a:p>
        </p:txBody>
      </p:sp>
    </p:spTree>
    <p:extLst>
      <p:ext uri="{BB962C8B-B14F-4D97-AF65-F5344CB8AC3E}">
        <p14:creationId xmlns:p14="http://schemas.microsoft.com/office/powerpoint/2010/main" val="1863700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fade">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fade">
                                      <p:cBhvr>
                                        <p:cTn id="37" dur="500"/>
                                        <p:tgtEl>
                                          <p:spTgt spid="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4">
                                            <p:txEl>
                                              <p:pRg st="0" end="0"/>
                                            </p:txEl>
                                          </p:spTgt>
                                        </p:tgtEl>
                                        <p:attrNameLst>
                                          <p:attrName>style.visibility</p:attrName>
                                        </p:attrNameLst>
                                      </p:cBhvr>
                                      <p:to>
                                        <p:strVal val="visible"/>
                                      </p:to>
                                    </p:set>
                                    <p:animEffect transition="in" filter="fade">
                                      <p:cBhvr>
                                        <p:cTn id="42" dur="1000"/>
                                        <p:tgtEl>
                                          <p:spTgt spid="4">
                                            <p:txEl>
                                              <p:pRg st="0" end="0"/>
                                            </p:txEl>
                                          </p:spTgt>
                                        </p:tgtEl>
                                      </p:cBhvr>
                                    </p:animEffect>
                                    <p:anim calcmode="lin" valueType="num">
                                      <p:cBhvr>
                                        <p:cTn id="4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0" end="0"/>
                                            </p:txEl>
                                          </p:spTgt>
                                        </p:tgtEl>
                                        <p:attrNameLst>
                                          <p:attrName>ppt_y</p:attrName>
                                        </p:attrNameLst>
                                      </p:cBhvr>
                                      <p:tavLst>
                                        <p:tav tm="0">
                                          <p:val>
                                            <p:strVal val="#ppt_y+.1"/>
                                          </p:val>
                                        </p:tav>
                                        <p:tav tm="100000">
                                          <p:val>
                                            <p:strVal val="#ppt_y"/>
                                          </p:val>
                                        </p:tav>
                                      </p:tavLst>
                                    </p:anim>
                                  </p:childTnLst>
                                </p:cTn>
                              </p:par>
                              <p:par>
                                <p:cTn id="45" presetID="42" presetClass="entr" presetSubtype="0" fill="hold" grpId="0" nodeType="withEffect">
                                  <p:stCondLst>
                                    <p:cond delay="0"/>
                                  </p:stCondLst>
                                  <p:childTnLst>
                                    <p:set>
                                      <p:cBhvr>
                                        <p:cTn id="46" dur="1" fill="hold">
                                          <p:stCondLst>
                                            <p:cond delay="0"/>
                                          </p:stCondLst>
                                        </p:cTn>
                                        <p:tgtEl>
                                          <p:spTgt spid="4">
                                            <p:txEl>
                                              <p:pRg st="1" end="1"/>
                                            </p:txEl>
                                          </p:spTgt>
                                        </p:tgtEl>
                                        <p:attrNameLst>
                                          <p:attrName>style.visibility</p:attrName>
                                        </p:attrNameLst>
                                      </p:cBhvr>
                                      <p:to>
                                        <p:strVal val="visible"/>
                                      </p:to>
                                    </p:set>
                                    <p:animEffect transition="in" filter="fade">
                                      <p:cBhvr>
                                        <p:cTn id="47" dur="1000"/>
                                        <p:tgtEl>
                                          <p:spTgt spid="4">
                                            <p:txEl>
                                              <p:pRg st="1" end="1"/>
                                            </p:txEl>
                                          </p:spTgt>
                                        </p:tgtEl>
                                      </p:cBhvr>
                                    </p:animEffect>
                                    <p:anim calcmode="lin" valueType="num">
                                      <p:cBhvr>
                                        <p:cTn id="48"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49" dur="1000" fill="hold"/>
                                        <p:tgtEl>
                                          <p:spTgt spid="4">
                                            <p:txEl>
                                              <p:pRg st="1" end="1"/>
                                            </p:txEl>
                                          </p:spTgt>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4">
                                            <p:txEl>
                                              <p:pRg st="2" end="2"/>
                                            </p:txEl>
                                          </p:spTgt>
                                        </p:tgtEl>
                                        <p:attrNameLst>
                                          <p:attrName>style.visibility</p:attrName>
                                        </p:attrNameLst>
                                      </p:cBhvr>
                                      <p:to>
                                        <p:strVal val="visible"/>
                                      </p:to>
                                    </p:set>
                                    <p:animEffect transition="in" filter="fade">
                                      <p:cBhvr>
                                        <p:cTn id="52" dur="1000"/>
                                        <p:tgtEl>
                                          <p:spTgt spid="4">
                                            <p:txEl>
                                              <p:pRg st="2" end="2"/>
                                            </p:txEl>
                                          </p:spTgt>
                                        </p:tgtEl>
                                      </p:cBhvr>
                                    </p:animEffect>
                                    <p:anim calcmode="lin" valueType="num">
                                      <p:cBhvr>
                                        <p:cTn id="53"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54"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563D6-E2D1-9976-7E87-E8D9E7B649BE}"/>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BF0578A5-28E6-FA7A-3F4E-F64D6CE41C4B}"/>
                  </a:ext>
                </a:extLst>
              </p:cNvPr>
              <p:cNvSpPr>
                <a:spLocks noGrp="1"/>
              </p:cNvSpPr>
              <p:nvPr>
                <p:ph type="title"/>
              </p:nvPr>
            </p:nvSpPr>
            <p:spPr>
              <a:xfrm>
                <a:off x="299581" y="476421"/>
                <a:ext cx="9642440" cy="887659"/>
              </a:xfrm>
            </p:spPr>
            <p:txBody>
              <a:bodyPr>
                <a:normAutofit/>
              </a:bodyPr>
              <a:lstStyle/>
              <a:p>
                <a:pPr algn="ctr"/>
                <a:r>
                  <a:rPr lang="en-US" b="1" dirty="0">
                    <a:latin typeface="Arial" panose="020B0604020202020204" pitchFamily="34" charset="0"/>
                    <a:cs typeface="Arial" panose="020B0604020202020204" pitchFamily="34" charset="0"/>
                  </a:rPr>
                  <a:t>Build the block matrix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𝑴</m:t>
                        </m:r>
                      </m:e>
                      <m:sub>
                        <m:r>
                          <m:rPr>
                            <m:nor/>
                          </m:rPr>
                          <a:rPr lang="en-US" b="1">
                            <a:latin typeface="Arial" panose="020B0604020202020204" pitchFamily="34" charset="0"/>
                            <a:cs typeface="Arial" panose="020B0604020202020204" pitchFamily="34" charset="0"/>
                          </a:rPr>
                          <m:t>case</m:t>
                        </m:r>
                        <m:r>
                          <m:rPr>
                            <m:nor/>
                          </m:rPr>
                          <a:rPr lang="en-US" b="1">
                            <a:latin typeface="Arial" panose="020B0604020202020204" pitchFamily="34" charset="0"/>
                            <a:cs typeface="Arial" panose="020B0604020202020204" pitchFamily="34" charset="0"/>
                          </a:rPr>
                          <m:t>3</m:t>
                        </m:r>
                      </m:sub>
                    </m:sSub>
                  </m:oMath>
                </a14:m>
                <a:r>
                  <a:rPr lang="en-US" b="1" dirty="0">
                    <a:latin typeface="Arial" panose="020B0604020202020204" pitchFamily="34" charset="0"/>
                    <a:cs typeface="Arial" panose="020B0604020202020204" pitchFamily="34" charset="0"/>
                  </a:rPr>
                  <a:t> (2/2)</a:t>
                </a:r>
              </a:p>
            </p:txBody>
          </p:sp>
        </mc:Choice>
        <mc:Fallback>
          <p:sp>
            <p:nvSpPr>
              <p:cNvPr id="2" name="Title 1">
                <a:extLst>
                  <a:ext uri="{FF2B5EF4-FFF2-40B4-BE49-F238E27FC236}">
                    <a16:creationId xmlns:a16="http://schemas.microsoft.com/office/drawing/2014/main" id="{BF0578A5-28E6-FA7A-3F4E-F64D6CE41C4B}"/>
                  </a:ext>
                </a:extLst>
              </p:cNvPr>
              <p:cNvSpPr>
                <a:spLocks noGrp="1" noRot="1" noChangeAspect="1" noMove="1" noResize="1" noEditPoints="1" noAdjustHandles="1" noChangeArrowheads="1" noChangeShapeType="1" noTextEdit="1"/>
              </p:cNvSpPr>
              <p:nvPr>
                <p:ph type="title"/>
              </p:nvPr>
            </p:nvSpPr>
            <p:spPr>
              <a:xfrm>
                <a:off x="299581" y="476421"/>
                <a:ext cx="9642440" cy="887659"/>
              </a:xfrm>
              <a:blipFill>
                <a:blip r:embed="rId3"/>
                <a:stretch>
                  <a:fillRect t="-10959"/>
                </a:stretch>
              </a:blipFill>
            </p:spPr>
            <p:txBody>
              <a:bodyPr/>
              <a:lstStyle/>
              <a:p>
                <a:r>
                  <a:rPr lang="en-US">
                    <a:noFill/>
                  </a:rPr>
                  <a:t> </a:t>
                </a:r>
              </a:p>
            </p:txBody>
          </p:sp>
        </mc:Fallback>
      </mc:AlternateContent>
      <p:sp>
        <p:nvSpPr>
          <p:cNvPr id="6" name="Content Placeholder 3">
            <a:extLst>
              <a:ext uri="{FF2B5EF4-FFF2-40B4-BE49-F238E27FC236}">
                <a16:creationId xmlns:a16="http://schemas.microsoft.com/office/drawing/2014/main" id="{C824FF9B-1011-443C-049B-AC6974209414}"/>
              </a:ext>
            </a:extLst>
          </p:cNvPr>
          <p:cNvSpPr txBox="1">
            <a:spLocks/>
          </p:cNvSpPr>
          <p:nvPr/>
        </p:nvSpPr>
        <p:spPr>
          <a:xfrm>
            <a:off x="187283" y="4207555"/>
            <a:ext cx="7047705"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9" name="Content Placeholder 3">
                <a:extLst>
                  <a:ext uri="{FF2B5EF4-FFF2-40B4-BE49-F238E27FC236}">
                    <a16:creationId xmlns:a16="http://schemas.microsoft.com/office/drawing/2014/main" id="{1E15A8BC-A843-7830-38CD-4A88420B06F3}"/>
                  </a:ext>
                </a:extLst>
              </p:cNvPr>
              <p:cNvSpPr>
                <a:spLocks noGrp="1"/>
              </p:cNvSpPr>
              <p:nvPr>
                <p:ph sz="half" idx="2"/>
              </p:nvPr>
            </p:nvSpPr>
            <p:spPr>
              <a:xfrm>
                <a:off x="299581" y="1116604"/>
                <a:ext cx="10528840" cy="5392320"/>
              </a:xfrm>
            </p:spPr>
            <p:txBody>
              <a:bodyPr>
                <a:noAutofit/>
              </a:bodyPr>
              <a:lstStyle/>
              <a:p>
                <a:r>
                  <a:rPr lang="en-US" sz="2400" dirty="0">
                    <a:latin typeface="Arial" panose="020B0604020202020204" pitchFamily="34" charset="0"/>
                    <a:cs typeface="Arial" panose="020B0604020202020204" pitchFamily="34" charset="0"/>
                  </a:rPr>
                  <a:t>Thus the block matrix is (explicitly):</a:t>
                </a:r>
              </a:p>
              <a:p>
                <a:pPr marL="0" indent="0">
                  <a:buNone/>
                </a:pPr>
                <a14:m>
                  <m:oMathPara xmlns:m="http://schemas.openxmlformats.org/officeDocument/2006/math">
                    <m:oMathParaPr>
                      <m:jc m:val="centerGroup"/>
                    </m:oMathParaPr>
                    <m:oMath xmlns:m="http://schemas.openxmlformats.org/officeDocument/2006/math">
                      <m:borderBox>
                        <m:borderBoxPr>
                          <m:ctrlPr>
                            <a:rPr lang="en-US" sz="2400" i="1"/>
                          </m:ctrlPr>
                        </m:borderBoxPr>
                        <m:e>
                          <m:sSub>
                            <m:sSubPr>
                              <m:ctrlPr>
                                <a:rPr lang="en-US" sz="2400" i="1"/>
                              </m:ctrlPr>
                            </m:sSubPr>
                            <m:e>
                              <m:r>
                                <a:rPr lang="en-US" sz="2400" b="0" i="1"/>
                                <m:t>𝑀</m:t>
                              </m:r>
                            </m:e>
                            <m:sub>
                              <m:r>
                                <m:rPr>
                                  <m:nor/>
                                </m:rPr>
                                <a:rPr lang="en-US" sz="2400">
                                  <a:latin typeface="Arial" panose="020B0604020202020204" pitchFamily="34" charset="0"/>
                                  <a:cs typeface="Arial" panose="020B0604020202020204" pitchFamily="34" charset="0"/>
                                </a:rPr>
                                <m:t>case</m:t>
                              </m:r>
                              <m:r>
                                <m:rPr>
                                  <m:nor/>
                                </m:rPr>
                                <a:rPr lang="en-US" sz="2400">
                                  <a:latin typeface="Arial" panose="020B0604020202020204" pitchFamily="34" charset="0"/>
                                  <a:cs typeface="Arial" panose="020B0604020202020204" pitchFamily="34" charset="0"/>
                                </a:rPr>
                                <m:t>3</m:t>
                              </m:r>
                            </m:sub>
                          </m:sSub>
                          <m:r>
                            <a:rPr lang="en-US" sz="2400" b="0"/>
                            <m:t>=</m:t>
                          </m:r>
                          <m:d>
                            <m:dPr>
                              <m:begChr m:val="["/>
                              <m:endChr m:val="]"/>
                              <m:ctrlPr>
                                <a:rPr lang="en-US" sz="2400" i="1"/>
                              </m:ctrlPr>
                            </m:dPr>
                            <m:e>
                              <m:m>
                                <m:mPr>
                                  <m:plcHide m:val="on"/>
                                  <m:mcs>
                                    <m:mc>
                                      <m:mcPr>
                                        <m:count m:val="4"/>
                                        <m:mcJc m:val="center"/>
                                      </m:mcPr>
                                    </m:mc>
                                  </m:mcs>
                                  <m:ctrlPr>
                                    <a:rPr lang="en-US" sz="2400" i="1"/>
                                  </m:ctrlPr>
                                </m:mPr>
                                <m:mr>
                                  <m:e>
                                    <m:r>
                                      <a:rPr lang="en-US" sz="2400" b="0" i="1"/>
                                      <m:t>𝑃𝐴</m:t>
                                    </m:r>
                                    <m:r>
                                      <a:rPr lang="en-US" sz="2400" b="0"/>
                                      <m:t>+</m:t>
                                    </m:r>
                                    <m:sSup>
                                      <m:sSupPr>
                                        <m:ctrlPr>
                                          <a:rPr lang="en-US" sz="2400" i="1"/>
                                        </m:ctrlPr>
                                      </m:sSupPr>
                                      <m:e>
                                        <m:r>
                                          <a:rPr lang="en-US" sz="2400" b="0" i="1"/>
                                          <m:t>𝐴</m:t>
                                        </m:r>
                                      </m:e>
                                      <m:sup>
                                        <m:r>
                                          <a:rPr lang="en-US" sz="2400" b="0" i="1"/>
                                          <m:t>𝑇</m:t>
                                        </m:r>
                                      </m:sup>
                                    </m:sSup>
                                    <m:r>
                                      <a:rPr lang="en-US" sz="2400" b="0" i="1"/>
                                      <m:t>𝑃</m:t>
                                    </m:r>
                                    <m:r>
                                      <a:rPr lang="en-US" sz="2400" b="0"/>
                                      <m:t>+</m:t>
                                    </m:r>
                                    <m:sSub>
                                      <m:sSubPr>
                                        <m:ctrlPr>
                                          <a:rPr lang="en-US" sz="2400" i="1"/>
                                        </m:ctrlPr>
                                      </m:sSubPr>
                                      <m:e>
                                        <m:r>
                                          <a:rPr lang="en-US" sz="2400" b="0" i="1"/>
                                          <m:t>𝑄</m:t>
                                        </m:r>
                                      </m:e>
                                      <m:sub>
                                        <m:r>
                                          <a:rPr lang="en-US" sz="2400" b="0" i="1"/>
                                          <m:t>1</m:t>
                                        </m:r>
                                      </m:sub>
                                    </m:sSub>
                                    <m:r>
                                      <a:rPr lang="en-US" sz="2400" b="0"/>
                                      <m:t>+</m:t>
                                    </m:r>
                                    <m:sSub>
                                      <m:sSubPr>
                                        <m:ctrlPr>
                                          <a:rPr lang="en-US" sz="2400" i="1"/>
                                        </m:ctrlPr>
                                      </m:sSubPr>
                                      <m:e>
                                        <m:r>
                                          <a:rPr lang="en-US" sz="2400" b="0" i="1"/>
                                          <m:t>𝑄</m:t>
                                        </m:r>
                                      </m:e>
                                      <m:sub>
                                        <m:r>
                                          <a:rPr lang="en-US" sz="2400" b="0" i="1"/>
                                          <m:t>2</m:t>
                                        </m:r>
                                      </m:sub>
                                    </m:sSub>
                                    <m:r>
                                      <a:rPr lang="en-US" sz="2400" b="0"/>
                                      <m:t>+</m:t>
                                    </m:r>
                                    <m:sSup>
                                      <m:sSupPr>
                                        <m:ctrlPr>
                                          <a:rPr lang="en-US" sz="2400" i="1"/>
                                        </m:ctrlPr>
                                      </m:sSupPr>
                                      <m:e>
                                        <m:r>
                                          <a:rPr lang="en-US" sz="2400" b="0" i="1"/>
                                          <m:t>𝐿</m:t>
                                        </m:r>
                                      </m:e>
                                      <m:sup>
                                        <m:r>
                                          <a:rPr lang="en-US" sz="2400" b="0" i="1"/>
                                          <m:t>𝑇</m:t>
                                        </m:r>
                                      </m:sup>
                                    </m:sSup>
                                    <m:r>
                                      <a:rPr lang="en-US" sz="2400" b="0" i="1"/>
                                      <m:t>𝐿</m:t>
                                    </m:r>
                                  </m:e>
                                  <m:e>
                                    <m:r>
                                      <a:rPr lang="en-US" sz="2400" b="0" i="1"/>
                                      <m:t>𝑃</m:t>
                                    </m:r>
                                    <m:sSub>
                                      <m:sSubPr>
                                        <m:ctrlPr>
                                          <a:rPr lang="en-US" sz="2400" i="1"/>
                                        </m:ctrlPr>
                                      </m:sSubPr>
                                      <m:e>
                                        <m:r>
                                          <a:rPr lang="en-US" sz="2400" b="0" i="1"/>
                                          <m:t>𝒜</m:t>
                                        </m:r>
                                      </m:e>
                                      <m:sub>
                                        <m:r>
                                          <a:rPr lang="en-US" sz="2400" b="0" i="1"/>
                                          <m:t>𝑑</m:t>
                                        </m:r>
                                      </m:sub>
                                    </m:sSub>
                                  </m:e>
                                  <m:e>
                                    <m:r>
                                      <a:rPr lang="en-US" sz="2400" b="0" i="1"/>
                                      <m:t>𝑃</m:t>
                                    </m:r>
                                    <m:sSub>
                                      <m:sSubPr>
                                        <m:ctrlPr>
                                          <a:rPr lang="en-US" sz="2400" i="1"/>
                                        </m:ctrlPr>
                                      </m:sSubPr>
                                      <m:e>
                                        <m:r>
                                          <a:rPr lang="en-US" sz="2400" b="0" i="1"/>
                                          <m:t>ℬ</m:t>
                                        </m:r>
                                      </m:e>
                                      <m:sub>
                                        <m:r>
                                          <a:rPr lang="en-US" sz="2400" b="0" i="1"/>
                                          <m:t>2</m:t>
                                        </m:r>
                                      </m:sub>
                                    </m:sSub>
                                  </m:e>
                                  <m:e>
                                    <m:r>
                                      <a:rPr lang="en-US" sz="2400" b="0" i="1"/>
                                      <m:t>𝑃𝐷</m:t>
                                    </m:r>
                                  </m:e>
                                </m:mr>
                                <m:mr>
                                  <m:e>
                                    <m:sSubSup>
                                      <m:sSubSupPr>
                                        <m:ctrlPr>
                                          <a:rPr lang="en-US" sz="2400" i="1"/>
                                        </m:ctrlPr>
                                      </m:sSubSupPr>
                                      <m:e>
                                        <m:r>
                                          <a:rPr lang="en-US" sz="2400" b="0" i="1"/>
                                          <m:t>𝒜</m:t>
                                        </m:r>
                                      </m:e>
                                      <m:sub>
                                        <m:r>
                                          <a:rPr lang="en-US" sz="2400" b="0" i="1"/>
                                          <m:t>𝑑</m:t>
                                        </m:r>
                                      </m:sub>
                                      <m:sup>
                                        <m:r>
                                          <a:rPr lang="en-US" sz="2400" b="0" i="1"/>
                                          <m:t>𝑇</m:t>
                                        </m:r>
                                      </m:sup>
                                    </m:sSubSup>
                                    <m:r>
                                      <a:rPr lang="en-US" sz="2400" b="0" i="1"/>
                                      <m:t>𝑃</m:t>
                                    </m:r>
                                  </m:e>
                                  <m:e>
                                    <m:r>
                                      <a:rPr lang="en-US" sz="2400" b="0" i="1"/>
                                      <m:t>−</m:t>
                                    </m:r>
                                    <m:sSub>
                                      <m:sSubPr>
                                        <m:ctrlPr>
                                          <a:rPr lang="en-US" sz="2400" i="1"/>
                                        </m:ctrlPr>
                                      </m:sSubPr>
                                      <m:e>
                                        <m:r>
                                          <a:rPr lang="en-US" sz="2400" b="0" i="1"/>
                                          <m:t>𝑄</m:t>
                                        </m:r>
                                      </m:e>
                                      <m:sub>
                                        <m:r>
                                          <a:rPr lang="en-US" sz="2400" b="0" i="1"/>
                                          <m:t>1</m:t>
                                        </m:r>
                                      </m:sub>
                                    </m:sSub>
                                  </m:e>
                                  <m:e>
                                    <m:r>
                                      <a:rPr lang="en-US" sz="2400" b="0" i="1"/>
                                      <m:t>0</m:t>
                                    </m:r>
                                  </m:e>
                                  <m:e>
                                    <m:r>
                                      <a:rPr lang="en-US" sz="2400" b="0" i="1"/>
                                      <m:t>0</m:t>
                                    </m:r>
                                  </m:e>
                                </m:mr>
                                <m:mr>
                                  <m:e>
                                    <m:sSubSup>
                                      <m:sSubSupPr>
                                        <m:ctrlPr>
                                          <a:rPr lang="en-US" sz="2400" i="1"/>
                                        </m:ctrlPr>
                                      </m:sSubSupPr>
                                      <m:e>
                                        <m:r>
                                          <a:rPr lang="en-US" sz="2400" b="0" i="1"/>
                                          <m:t>ℬ</m:t>
                                        </m:r>
                                      </m:e>
                                      <m:sub>
                                        <m:r>
                                          <a:rPr lang="en-US" sz="2400" b="0" i="1"/>
                                          <m:t>2</m:t>
                                        </m:r>
                                      </m:sub>
                                      <m:sup>
                                        <m:r>
                                          <a:rPr lang="en-US" sz="2400" b="0" i="1"/>
                                          <m:t>𝑇</m:t>
                                        </m:r>
                                      </m:sup>
                                    </m:sSubSup>
                                    <m:r>
                                      <a:rPr lang="en-US" sz="2400" b="0" i="1"/>
                                      <m:t>𝑃</m:t>
                                    </m:r>
                                  </m:e>
                                  <m:e>
                                    <m:r>
                                      <a:rPr lang="en-US" sz="2400" b="0" i="1"/>
                                      <m:t>0</m:t>
                                    </m:r>
                                  </m:e>
                                  <m:e>
                                    <m:r>
                                      <a:rPr lang="en-US" sz="2400" b="0" i="1"/>
                                      <m:t>−</m:t>
                                    </m:r>
                                    <m:sSub>
                                      <m:sSubPr>
                                        <m:ctrlPr>
                                          <a:rPr lang="en-US" sz="2400" i="1"/>
                                        </m:ctrlPr>
                                      </m:sSubPr>
                                      <m:e>
                                        <m:r>
                                          <a:rPr lang="en-US" sz="2400" b="0" i="1"/>
                                          <m:t>𝑄</m:t>
                                        </m:r>
                                      </m:e>
                                      <m:sub>
                                        <m:r>
                                          <a:rPr lang="en-US" sz="2400" b="0" i="1"/>
                                          <m:t>2</m:t>
                                        </m:r>
                                      </m:sub>
                                    </m:sSub>
                                  </m:e>
                                  <m:e>
                                    <m:r>
                                      <a:rPr lang="en-US" sz="2400" b="0" i="1"/>
                                      <m:t>0</m:t>
                                    </m:r>
                                  </m:e>
                                </m:mr>
                                <m:mr>
                                  <m:e>
                                    <m:sSup>
                                      <m:sSupPr>
                                        <m:ctrlPr>
                                          <a:rPr lang="en-US" sz="2400" i="1"/>
                                        </m:ctrlPr>
                                      </m:sSupPr>
                                      <m:e>
                                        <m:r>
                                          <a:rPr lang="en-US" sz="2400" b="0" i="1"/>
                                          <m:t>𝐷</m:t>
                                        </m:r>
                                      </m:e>
                                      <m:sup>
                                        <m:r>
                                          <a:rPr lang="en-US" sz="2400" b="0" i="1"/>
                                          <m:t>𝑇</m:t>
                                        </m:r>
                                      </m:sup>
                                    </m:sSup>
                                    <m:r>
                                      <a:rPr lang="en-US" sz="2400" b="0" i="1"/>
                                      <m:t>𝑃</m:t>
                                    </m:r>
                                  </m:e>
                                  <m:e>
                                    <m:r>
                                      <a:rPr lang="en-US" sz="2400" b="0" i="1"/>
                                      <m:t>0</m:t>
                                    </m:r>
                                  </m:e>
                                  <m:e>
                                    <m:r>
                                      <a:rPr lang="en-US" sz="2400" b="0" i="1"/>
                                      <m:t>0</m:t>
                                    </m:r>
                                  </m:e>
                                  <m:e>
                                    <m:r>
                                      <a:rPr lang="en-US" sz="2400" b="0" i="1"/>
                                      <m:t>−</m:t>
                                    </m:r>
                                    <m:sSup>
                                      <m:sSupPr>
                                        <m:ctrlPr>
                                          <a:rPr lang="en-US" sz="2400" i="1"/>
                                        </m:ctrlPr>
                                      </m:sSupPr>
                                      <m:e>
                                        <m:r>
                                          <a:rPr lang="en-US" sz="2400" b="0" i="1"/>
                                          <m:t>𝛾</m:t>
                                        </m:r>
                                      </m:e>
                                      <m:sup>
                                        <m:r>
                                          <a:rPr lang="en-US" sz="2400" b="0" i="1"/>
                                          <m:t>2</m:t>
                                        </m:r>
                                      </m:sup>
                                    </m:sSup>
                                    <m:r>
                                      <a:rPr lang="en-US" sz="2400" b="0" i="1"/>
                                      <m:t>𝐼</m:t>
                                    </m:r>
                                  </m:e>
                                </m:mr>
                              </m:m>
                            </m:e>
                          </m:d>
                          <m:r>
                            <a:rPr lang="en-US" sz="2400" b="0"/>
                            <m:t>.</m:t>
                          </m:r>
                        </m:e>
                      </m:borderBox>
                    </m:oMath>
                  </m:oMathPara>
                </a14:m>
                <a:endParaRPr lang="en-US" sz="2400" dirty="0">
                  <a:latin typeface="Arial" panose="020B0604020202020204" pitchFamily="34" charset="0"/>
                  <a:cs typeface="Arial" panose="020B0604020202020204" pitchFamily="34" charset="0"/>
                </a:endParaRPr>
              </a:p>
              <a:p>
                <a:pPr lvl="1">
                  <a:buFont typeface="Courier New" panose="02070309020205020404" pitchFamily="49" charset="0"/>
                  <a:buChar char="o"/>
                </a:pPr>
                <a:r>
                  <a:rPr lang="en-US" sz="2400" dirty="0">
                    <a:latin typeface="Arial" panose="020B0604020202020204" pitchFamily="34" charset="0"/>
                    <a:cs typeface="Arial" panose="020B0604020202020204" pitchFamily="34" charset="0"/>
                  </a:rPr>
                  <a:t>We can verify each entry directly by matching with (3.2). </a:t>
                </a:r>
              </a:p>
              <a:p>
                <a:pPr lvl="1">
                  <a:buFont typeface="Courier New" panose="02070309020205020404" pitchFamily="49" charset="0"/>
                  <a:buChar char="o"/>
                </a:pPr>
                <a:r>
                  <a:rPr lang="en-US" sz="2400" dirty="0">
                    <a:latin typeface="Arial" panose="020B0604020202020204" pitchFamily="34" charset="0"/>
                    <a:cs typeface="Arial" panose="020B0604020202020204" pitchFamily="34" charset="0"/>
                  </a:rPr>
                  <a:t>This is the Case 3 analogue of the </a:t>
                </a:r>
                <a14:m>
                  <m:oMath xmlns:m="http://schemas.openxmlformats.org/officeDocument/2006/math">
                    <m:sSub>
                      <m:sSubPr>
                        <m:ctrlPr>
                          <a:rPr lang="en-US" sz="2400" i="1"/>
                        </m:ctrlPr>
                      </m:sSubPr>
                      <m:e>
                        <m:r>
                          <a:rPr lang="en-US" sz="2400" i="1"/>
                          <m:t>𝑀</m:t>
                        </m:r>
                      </m:e>
                      <m:sub>
                        <m:r>
                          <a:rPr lang="en-US" sz="2400" i="1"/>
                          <m:t>𝑧</m:t>
                        </m:r>
                      </m:sub>
                    </m:sSub>
                  </m:oMath>
                </a14:m>
                <a:r>
                  <a:rPr lang="en-US" sz="2400" dirty="0">
                    <a:latin typeface="Arial" panose="020B0604020202020204" pitchFamily="34" charset="0"/>
                    <a:cs typeface="Arial" panose="020B0604020202020204" pitchFamily="34" charset="0"/>
                  </a:rPr>
                  <a:t> in Case 2 (but smaller). It is exactly the matrix whose negativity implies:</a:t>
                </a:r>
              </a:p>
              <a:p>
                <a:pPr marL="457200" lvl="1" indent="0" algn="ctr">
                  <a:buNone/>
                </a:pPr>
                <a14:m>
                  <m:oMath xmlns:m="http://schemas.openxmlformats.org/officeDocument/2006/math">
                    <m:acc>
                      <m:accPr>
                        <m:chr m:val="̇"/>
                        <m:ctrlPr>
                          <a:rPr lang="en-US" sz="2400" i="1">
                            <a:latin typeface="Cambria Math" panose="02040503050406030204" pitchFamily="18" charset="0"/>
                          </a:rPr>
                        </m:ctrlPr>
                      </m:accPr>
                      <m:e>
                        <m:r>
                          <a:rPr lang="en-US" sz="2400" i="1">
                            <a:latin typeface="Cambria Math" panose="02040503050406030204" pitchFamily="18" charset="0"/>
                          </a:rPr>
                          <m:t>𝑉</m:t>
                        </m:r>
                      </m:e>
                    </m:acc>
                  </m:oMath>
                </a14:m>
                <a:r>
                  <a:rPr lang="en-US" sz="2400" dirty="0">
                    <a:latin typeface="Arial" panose="020B0604020202020204" pitchFamily="34" charset="0"/>
                    <a:cs typeface="Arial" panose="020B0604020202020204" pitchFamily="34" charset="0"/>
                  </a:rPr>
                  <a:t> </a:t>
                </a:r>
                <a14:m>
                  <m:oMath xmlns:m="http://schemas.openxmlformats.org/officeDocument/2006/math">
                    <m:r>
                      <a:rPr lang="en-US" sz="2400"/>
                      <m:t>+</m:t>
                    </m:r>
                    <m:sSup>
                      <m:sSupPr>
                        <m:ctrlPr>
                          <a:rPr lang="en-US" sz="2400" i="1"/>
                        </m:ctrlPr>
                      </m:sSupPr>
                      <m:e>
                        <m:r>
                          <a:rPr lang="en-US" sz="2400" i="1"/>
                          <m:t>𝑧</m:t>
                        </m:r>
                      </m:e>
                      <m:sup>
                        <m:r>
                          <a:rPr lang="en-US" sz="2400" i="1"/>
                          <m:t>𝑇</m:t>
                        </m:r>
                      </m:sup>
                    </m:sSup>
                    <m:r>
                      <a:rPr lang="en-US" sz="2400" i="1"/>
                      <m:t>𝑧</m:t>
                    </m:r>
                    <m:r>
                      <a:rPr lang="en-US" sz="2400" i="1"/>
                      <m:t>−</m:t>
                    </m:r>
                    <m:sSup>
                      <m:sSupPr>
                        <m:ctrlPr>
                          <a:rPr lang="en-US" sz="2400" i="1"/>
                        </m:ctrlPr>
                      </m:sSupPr>
                      <m:e>
                        <m:r>
                          <a:rPr lang="en-US" sz="2400" i="1"/>
                          <m:t>𝛾</m:t>
                        </m:r>
                      </m:e>
                      <m:sup>
                        <m:r>
                          <a:rPr lang="en-US" sz="2400" i="1"/>
                          <m:t>2</m:t>
                        </m:r>
                      </m:sup>
                    </m:sSup>
                    <m:sSup>
                      <m:sSupPr>
                        <m:ctrlPr>
                          <a:rPr lang="en-US" sz="2400" i="1"/>
                        </m:ctrlPr>
                      </m:sSupPr>
                      <m:e>
                        <m:r>
                          <a:rPr lang="en-US" sz="2400" i="1"/>
                          <m:t>𝜔</m:t>
                        </m:r>
                      </m:e>
                      <m:sup>
                        <m:r>
                          <a:rPr lang="en-US" sz="2400" i="1"/>
                          <m:t>𝑇</m:t>
                        </m:r>
                      </m:sup>
                    </m:sSup>
                    <m:r>
                      <a:rPr lang="en-US" sz="2400" i="1"/>
                      <m:t>𝜔</m:t>
                    </m:r>
                    <m:r>
                      <a:rPr lang="en-US" sz="2400"/>
                      <m:t>&lt;</m:t>
                    </m:r>
                    <m:r>
                      <a:rPr lang="en-US" sz="2400" i="1"/>
                      <m:t>0</m:t>
                    </m:r>
                  </m:oMath>
                </a14:m>
                <a:r>
                  <a:rPr lang="en-US" sz="2400" dirty="0">
                    <a:latin typeface="Arial" panose="020B0604020202020204" pitchFamily="34" charset="0"/>
                    <a:cs typeface="Arial" panose="020B0604020202020204" pitchFamily="34" charset="0"/>
                  </a:rPr>
                  <a:t> (hence the H∞ condition). </a:t>
                </a:r>
              </a:p>
              <a:p>
                <a:pPr marL="0" indent="0">
                  <a:buNone/>
                </a:pPr>
                <a:endParaRPr lang="en-US" sz="2400" dirty="0">
                  <a:latin typeface="Arial" panose="020B0604020202020204" pitchFamily="34" charset="0"/>
                  <a:cs typeface="Arial" panose="020B0604020202020204" pitchFamily="34" charset="0"/>
                </a:endParaRPr>
              </a:p>
            </p:txBody>
          </p:sp>
        </mc:Choice>
        <mc:Fallback>
          <p:sp>
            <p:nvSpPr>
              <p:cNvPr id="9" name="Content Placeholder 3">
                <a:extLst>
                  <a:ext uri="{FF2B5EF4-FFF2-40B4-BE49-F238E27FC236}">
                    <a16:creationId xmlns:a16="http://schemas.microsoft.com/office/drawing/2014/main" id="{1E15A8BC-A843-7830-38CD-4A88420B06F3}"/>
                  </a:ext>
                </a:extLst>
              </p:cNvPr>
              <p:cNvSpPr>
                <a:spLocks noGrp="1" noRot="1" noChangeAspect="1" noMove="1" noResize="1" noEditPoints="1" noAdjustHandles="1" noChangeArrowheads="1" noChangeShapeType="1" noTextEdit="1"/>
              </p:cNvSpPr>
              <p:nvPr>
                <p:ph sz="half" idx="2"/>
              </p:nvPr>
            </p:nvSpPr>
            <p:spPr>
              <a:xfrm>
                <a:off x="299581" y="1116604"/>
                <a:ext cx="10528840" cy="5392320"/>
              </a:xfrm>
              <a:blipFill>
                <a:blip r:embed="rId4"/>
                <a:stretch>
                  <a:fillRect l="-463" t="-791"/>
                </a:stretch>
              </a:blipFill>
            </p:spPr>
            <p:txBody>
              <a:bodyPr/>
              <a:lstStyle/>
              <a:p>
                <a:r>
                  <a:rPr lang="en-US">
                    <a:noFill/>
                  </a:rPr>
                  <a:t> </a:t>
                </a:r>
              </a:p>
            </p:txBody>
          </p:sp>
        </mc:Fallback>
      </mc:AlternateContent>
      <p:sp>
        <p:nvSpPr>
          <p:cNvPr id="5" name="Slide Number Placeholder 2">
            <a:extLst>
              <a:ext uri="{FF2B5EF4-FFF2-40B4-BE49-F238E27FC236}">
                <a16:creationId xmlns:a16="http://schemas.microsoft.com/office/drawing/2014/main" id="{C22810FE-AAC0-B8E5-B3DA-A733C72F4CCC}"/>
              </a:ext>
            </a:extLst>
          </p:cNvPr>
          <p:cNvSpPr>
            <a:spLocks noGrp="1"/>
          </p:cNvSpPr>
          <p:nvPr>
            <p:ph type="sldNum" sz="quarter" idx="12"/>
          </p:nvPr>
        </p:nvSpPr>
        <p:spPr>
          <a:xfrm>
            <a:off x="7795578" y="6141113"/>
            <a:ext cx="1096432" cy="716887"/>
          </a:xfrm>
        </p:spPr>
        <p:txBody>
          <a:bodyPr/>
          <a:lstStyle/>
          <a:p>
            <a:r>
              <a:rPr lang="en-US" dirty="0"/>
              <a:t>12</a:t>
            </a:r>
          </a:p>
        </p:txBody>
      </p:sp>
    </p:spTree>
    <p:extLst>
      <p:ext uri="{BB962C8B-B14F-4D97-AF65-F5344CB8AC3E}">
        <p14:creationId xmlns:p14="http://schemas.microsoft.com/office/powerpoint/2010/main" val="4260529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5E7F7D-276B-D7FC-127D-A431C3072208}"/>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5BB8E1F4-B961-0F89-D28E-A8DD5337CA13}"/>
                  </a:ext>
                </a:extLst>
              </p:cNvPr>
              <p:cNvSpPr>
                <a:spLocks noGrp="1"/>
              </p:cNvSpPr>
              <p:nvPr>
                <p:ph type="title"/>
              </p:nvPr>
            </p:nvSpPr>
            <p:spPr>
              <a:xfrm>
                <a:off x="299581" y="476421"/>
                <a:ext cx="9642440" cy="887659"/>
              </a:xfrm>
            </p:spPr>
            <p:txBody>
              <a:bodyPr>
                <a:normAutofit/>
              </a:bodyPr>
              <a:lstStyle/>
              <a:p>
                <a:pPr algn="ctr"/>
                <a:r>
                  <a:rPr lang="en-US" b="1" dirty="0">
                    <a:latin typeface="Arial" panose="020B0604020202020204" pitchFamily="34" charset="0"/>
                    <a:cs typeface="Arial" panose="020B0604020202020204" pitchFamily="34" charset="0"/>
                  </a:rPr>
                  <a:t>Schur complement of </a:t>
                </a:r>
                <a14:m>
                  <m:oMath xmlns:m="http://schemas.openxmlformats.org/officeDocument/2006/math">
                    <m:sSub>
                      <m:sSubPr>
                        <m:ctrlPr>
                          <a:rPr lang="en-US" b="1" i="1"/>
                        </m:ctrlPr>
                      </m:sSubPr>
                      <m:e>
                        <m:r>
                          <a:rPr lang="en-US" b="1" i="1"/>
                          <m:t>𝑴</m:t>
                        </m:r>
                      </m:e>
                      <m:sub>
                        <m:r>
                          <m:rPr>
                            <m:nor/>
                          </m:rPr>
                          <a:rPr lang="en-US" b="1">
                            <a:latin typeface="Arial" panose="020B0604020202020204" pitchFamily="34" charset="0"/>
                            <a:cs typeface="Arial" panose="020B0604020202020204" pitchFamily="34" charset="0"/>
                          </a:rPr>
                          <m:t>case</m:t>
                        </m:r>
                        <m:r>
                          <m:rPr>
                            <m:nor/>
                          </m:rPr>
                          <a:rPr lang="en-US" b="1">
                            <a:latin typeface="Arial" panose="020B0604020202020204" pitchFamily="34" charset="0"/>
                            <a:cs typeface="Arial" panose="020B0604020202020204" pitchFamily="34" charset="0"/>
                          </a:rPr>
                          <m:t>3</m:t>
                        </m:r>
                      </m:sub>
                    </m:sSub>
                  </m:oMath>
                </a14:m>
                <a:r>
                  <a:rPr lang="en-US" b="1" dirty="0">
                    <a:latin typeface="Arial" panose="020B0604020202020204" pitchFamily="34" charset="0"/>
                    <a:cs typeface="Arial" panose="020B0604020202020204" pitchFamily="34" charset="0"/>
                  </a:rPr>
                  <a:t> → ARI (1/2)</a:t>
                </a:r>
              </a:p>
            </p:txBody>
          </p:sp>
        </mc:Choice>
        <mc:Fallback>
          <p:sp>
            <p:nvSpPr>
              <p:cNvPr id="2" name="Title 1">
                <a:extLst>
                  <a:ext uri="{FF2B5EF4-FFF2-40B4-BE49-F238E27FC236}">
                    <a16:creationId xmlns:a16="http://schemas.microsoft.com/office/drawing/2014/main" id="{5BB8E1F4-B961-0F89-D28E-A8DD5337CA13}"/>
                  </a:ext>
                </a:extLst>
              </p:cNvPr>
              <p:cNvSpPr>
                <a:spLocks noGrp="1" noRot="1" noChangeAspect="1" noMove="1" noResize="1" noEditPoints="1" noAdjustHandles="1" noChangeArrowheads="1" noChangeShapeType="1" noTextEdit="1"/>
              </p:cNvSpPr>
              <p:nvPr>
                <p:ph type="title"/>
              </p:nvPr>
            </p:nvSpPr>
            <p:spPr>
              <a:xfrm>
                <a:off x="299581" y="476421"/>
                <a:ext cx="9642440" cy="887659"/>
              </a:xfrm>
              <a:blipFill>
                <a:blip r:embed="rId3"/>
                <a:stretch>
                  <a:fillRect t="-10959"/>
                </a:stretch>
              </a:blipFill>
            </p:spPr>
            <p:txBody>
              <a:bodyPr/>
              <a:lstStyle/>
              <a:p>
                <a:r>
                  <a:rPr lang="en-US">
                    <a:noFill/>
                  </a:rPr>
                  <a:t> </a:t>
                </a:r>
              </a:p>
            </p:txBody>
          </p:sp>
        </mc:Fallback>
      </mc:AlternateContent>
      <p:sp>
        <p:nvSpPr>
          <p:cNvPr id="6" name="Content Placeholder 3">
            <a:extLst>
              <a:ext uri="{FF2B5EF4-FFF2-40B4-BE49-F238E27FC236}">
                <a16:creationId xmlns:a16="http://schemas.microsoft.com/office/drawing/2014/main" id="{7B3C490C-53DD-306D-5887-C1D5373AFF51}"/>
              </a:ext>
            </a:extLst>
          </p:cNvPr>
          <p:cNvSpPr txBox="1">
            <a:spLocks/>
          </p:cNvSpPr>
          <p:nvPr/>
        </p:nvSpPr>
        <p:spPr>
          <a:xfrm>
            <a:off x="187283" y="4207555"/>
            <a:ext cx="7047705"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p:sp>
        <p:nvSpPr>
          <p:cNvPr id="3" name="Slide Number Placeholder 2">
            <a:extLst>
              <a:ext uri="{FF2B5EF4-FFF2-40B4-BE49-F238E27FC236}">
                <a16:creationId xmlns:a16="http://schemas.microsoft.com/office/drawing/2014/main" id="{3174DF69-706E-3A60-C6A4-6C4A6666A07D}"/>
              </a:ext>
            </a:extLst>
          </p:cNvPr>
          <p:cNvSpPr>
            <a:spLocks noGrp="1"/>
          </p:cNvSpPr>
          <p:nvPr>
            <p:ph type="sldNum" sz="quarter" idx="12"/>
          </p:nvPr>
        </p:nvSpPr>
        <p:spPr>
          <a:xfrm>
            <a:off x="8416985" y="5658932"/>
            <a:ext cx="1096432" cy="716887"/>
          </a:xfrm>
        </p:spPr>
        <p:txBody>
          <a:bodyPr/>
          <a:lstStyle/>
          <a:p>
            <a:r>
              <a:rPr lang="en-US" dirty="0"/>
              <a:t>13</a:t>
            </a:r>
          </a:p>
        </p:txBody>
      </p:sp>
      <mc:AlternateContent xmlns:mc="http://schemas.openxmlformats.org/markup-compatibility/2006">
        <mc:Choice xmlns:a14="http://schemas.microsoft.com/office/drawing/2010/main" Requires="a14">
          <p:sp>
            <p:nvSpPr>
              <p:cNvPr id="9" name="Content Placeholder 3">
                <a:extLst>
                  <a:ext uri="{FF2B5EF4-FFF2-40B4-BE49-F238E27FC236}">
                    <a16:creationId xmlns:a16="http://schemas.microsoft.com/office/drawing/2014/main" id="{B283ECB4-017B-81A4-05D9-300AE063EA6A}"/>
                  </a:ext>
                </a:extLst>
              </p:cNvPr>
              <p:cNvSpPr>
                <a:spLocks noGrp="1"/>
              </p:cNvSpPr>
              <p:nvPr>
                <p:ph sz="half" idx="2"/>
              </p:nvPr>
            </p:nvSpPr>
            <p:spPr>
              <a:xfrm>
                <a:off x="299581" y="1116604"/>
                <a:ext cx="10528840" cy="5392320"/>
              </a:xfrm>
            </p:spPr>
            <p:txBody>
              <a:bodyPr>
                <a:noAutofit/>
              </a:bodyPr>
              <a:lstStyle/>
              <a:p>
                <a:r>
                  <a:rPr lang="en-US" sz="2200" dirty="0"/>
                  <a:t>We require </a:t>
                </a:r>
                <a14:m>
                  <m:oMath xmlns:m="http://schemas.openxmlformats.org/officeDocument/2006/math">
                    <m:sSub>
                      <m:sSubPr>
                        <m:ctrlPr>
                          <a:rPr lang="en-US" sz="2200" i="1"/>
                        </m:ctrlPr>
                      </m:sSubPr>
                      <m:e>
                        <m:r>
                          <a:rPr lang="en-US" sz="2200" i="1"/>
                          <m:t>𝑀</m:t>
                        </m:r>
                      </m:e>
                      <m:sub>
                        <m:r>
                          <m:rPr>
                            <m:nor/>
                          </m:rPr>
                          <a:rPr lang="en-US" sz="2200"/>
                          <m:t>case</m:t>
                        </m:r>
                        <m:r>
                          <m:rPr>
                            <m:nor/>
                          </m:rPr>
                          <a:rPr lang="en-US" sz="2200"/>
                          <m:t>3</m:t>
                        </m:r>
                      </m:sub>
                    </m:sSub>
                    <m:r>
                      <a:rPr lang="en-US" sz="2200"/>
                      <m:t>&lt;</m:t>
                    </m:r>
                    <m:r>
                      <a:rPr lang="en-US" sz="2200" i="1"/>
                      <m:t>0</m:t>
                    </m:r>
                  </m:oMath>
                </a14:m>
                <a:r>
                  <a:rPr lang="en-US" sz="2200" dirty="0"/>
                  <a:t>. Partition it as</a:t>
                </a:r>
              </a:p>
              <a:p>
                <a:pPr marL="0" indent="0">
                  <a:buNone/>
                </a:pPr>
                <a14:m>
                  <m:oMathPara xmlns:m="http://schemas.openxmlformats.org/officeDocument/2006/math">
                    <m:oMathParaPr>
                      <m:jc m:val="centerGroup"/>
                    </m:oMathParaPr>
                    <m:oMath xmlns:m="http://schemas.openxmlformats.org/officeDocument/2006/math">
                      <m:sSub>
                        <m:sSubPr>
                          <m:ctrlPr>
                            <a:rPr lang="en-US" sz="2200" i="1"/>
                          </m:ctrlPr>
                        </m:sSubPr>
                        <m:e>
                          <m:r>
                            <a:rPr lang="en-US" sz="2200" i="1"/>
                            <m:t>𝑀</m:t>
                          </m:r>
                        </m:e>
                        <m:sub>
                          <m:r>
                            <m:rPr>
                              <m:nor/>
                            </m:rPr>
                            <a:rPr lang="en-US" sz="2200"/>
                            <m:t>case</m:t>
                          </m:r>
                          <m:r>
                            <m:rPr>
                              <m:nor/>
                            </m:rPr>
                            <a:rPr lang="en-US" sz="2200"/>
                            <m:t>3</m:t>
                          </m:r>
                        </m:sub>
                      </m:sSub>
                      <m:r>
                        <a:rPr lang="en-US" sz="2200"/>
                        <m:t>=</m:t>
                      </m:r>
                      <m:d>
                        <m:dPr>
                          <m:begChr m:val="["/>
                          <m:endChr m:val="]"/>
                          <m:ctrlPr>
                            <a:rPr lang="en-US" sz="2200" i="1"/>
                          </m:ctrlPr>
                        </m:dPr>
                        <m:e>
                          <m:m>
                            <m:mPr>
                              <m:plcHide m:val="on"/>
                              <m:mcs>
                                <m:mc>
                                  <m:mcPr>
                                    <m:count m:val="2"/>
                                    <m:mcJc m:val="center"/>
                                  </m:mcPr>
                                </m:mc>
                              </m:mcs>
                              <m:ctrlPr>
                                <a:rPr lang="en-US" sz="2200" i="1"/>
                              </m:ctrlPr>
                            </m:mPr>
                            <m:mr>
                              <m:e>
                                <m:sSub>
                                  <m:sSubPr>
                                    <m:ctrlPr>
                                      <a:rPr lang="en-US" sz="2200" i="1"/>
                                    </m:ctrlPr>
                                  </m:sSubPr>
                                  <m:e>
                                    <m:r>
                                      <a:rPr lang="en-US" sz="2200" i="1"/>
                                      <m:t>𝑀</m:t>
                                    </m:r>
                                  </m:e>
                                  <m:sub>
                                    <m:r>
                                      <a:rPr lang="en-US" sz="2200" i="1"/>
                                      <m:t>11</m:t>
                                    </m:r>
                                  </m:sub>
                                </m:sSub>
                              </m:e>
                              <m:e>
                                <m:sSub>
                                  <m:sSubPr>
                                    <m:ctrlPr>
                                      <a:rPr lang="en-US" sz="2200" i="1"/>
                                    </m:ctrlPr>
                                  </m:sSubPr>
                                  <m:e>
                                    <m:r>
                                      <a:rPr lang="en-US" sz="2200" i="1"/>
                                      <m:t>𝑀</m:t>
                                    </m:r>
                                  </m:e>
                                  <m:sub>
                                    <m:r>
                                      <a:rPr lang="en-US" sz="2200" i="1"/>
                                      <m:t>12</m:t>
                                    </m:r>
                                  </m:sub>
                                </m:sSub>
                              </m:e>
                            </m:mr>
                            <m:mr>
                              <m:e>
                                <m:sSubSup>
                                  <m:sSubSupPr>
                                    <m:ctrlPr>
                                      <a:rPr lang="en-US" sz="2200" i="1"/>
                                    </m:ctrlPr>
                                  </m:sSubSupPr>
                                  <m:e>
                                    <m:r>
                                      <a:rPr lang="en-US" sz="2200" i="1"/>
                                      <m:t>𝑀</m:t>
                                    </m:r>
                                  </m:e>
                                  <m:sub>
                                    <m:r>
                                      <a:rPr lang="en-US" sz="2200" i="1"/>
                                      <m:t>12</m:t>
                                    </m:r>
                                  </m:sub>
                                  <m:sup>
                                    <m:r>
                                      <a:rPr lang="en-US" sz="2200" i="1"/>
                                      <m:t>𝑇</m:t>
                                    </m:r>
                                  </m:sup>
                                </m:sSubSup>
                              </m:e>
                              <m:e>
                                <m:sSub>
                                  <m:sSubPr>
                                    <m:ctrlPr>
                                      <a:rPr lang="en-US" sz="2200" i="1"/>
                                    </m:ctrlPr>
                                  </m:sSubPr>
                                  <m:e>
                                    <m:r>
                                      <a:rPr lang="en-US" sz="2200" i="1"/>
                                      <m:t>𝑀</m:t>
                                    </m:r>
                                  </m:e>
                                  <m:sub>
                                    <m:r>
                                      <a:rPr lang="en-US" sz="2200" i="1"/>
                                      <m:t>22</m:t>
                                    </m:r>
                                  </m:sub>
                                </m:sSub>
                              </m:e>
                            </m:mr>
                          </m:m>
                        </m:e>
                      </m:d>
                    </m:oMath>
                  </m:oMathPara>
                </a14:m>
                <a:endParaRPr lang="en-US" sz="2200" dirty="0"/>
              </a:p>
              <a:p>
                <a:pPr marL="0" indent="0">
                  <a:buNone/>
                </a:pPr>
                <a:r>
                  <a:rPr lang="en-US" sz="2200" dirty="0"/>
                  <a:t>where </a:t>
                </a:r>
              </a:p>
              <a:p>
                <a:pPr marL="0" indent="0" algn="ctr">
                  <a:buNone/>
                </a:pPr>
                <a14:m>
                  <m:oMath xmlns:m="http://schemas.openxmlformats.org/officeDocument/2006/math">
                    <m:sSub>
                      <m:sSubPr>
                        <m:ctrlPr>
                          <a:rPr lang="en-US" sz="2200" i="1"/>
                        </m:ctrlPr>
                      </m:sSubPr>
                      <m:e>
                        <m:r>
                          <a:rPr lang="en-US" sz="2200" i="1"/>
                          <m:t>𝑀</m:t>
                        </m:r>
                      </m:e>
                      <m:sub>
                        <m:r>
                          <a:rPr lang="en-US" sz="2200" i="1"/>
                          <m:t>11</m:t>
                        </m:r>
                      </m:sub>
                    </m:sSub>
                    <m:r>
                      <a:rPr lang="en-US" sz="2200"/>
                      <m:t>=</m:t>
                    </m:r>
                    <m:r>
                      <a:rPr lang="en-US" sz="2200" i="1"/>
                      <m:t>𝑃𝐴</m:t>
                    </m:r>
                    <m:r>
                      <a:rPr lang="en-US" sz="2200"/>
                      <m:t>+</m:t>
                    </m:r>
                    <m:sSup>
                      <m:sSupPr>
                        <m:ctrlPr>
                          <a:rPr lang="en-US" sz="2200" i="1"/>
                        </m:ctrlPr>
                      </m:sSupPr>
                      <m:e>
                        <m:r>
                          <a:rPr lang="en-US" sz="2200" i="1"/>
                          <m:t>𝐴</m:t>
                        </m:r>
                      </m:e>
                      <m:sup>
                        <m:r>
                          <a:rPr lang="en-US" sz="2200" i="1"/>
                          <m:t>𝑇</m:t>
                        </m:r>
                      </m:sup>
                    </m:sSup>
                    <m:r>
                      <a:rPr lang="en-US" sz="2200" i="1"/>
                      <m:t>𝑃</m:t>
                    </m:r>
                    <m:r>
                      <a:rPr lang="en-US" sz="2200"/>
                      <m:t>+</m:t>
                    </m:r>
                    <m:sSub>
                      <m:sSubPr>
                        <m:ctrlPr>
                          <a:rPr lang="en-US" sz="2200" i="1"/>
                        </m:ctrlPr>
                      </m:sSubPr>
                      <m:e>
                        <m:r>
                          <a:rPr lang="en-US" sz="2200" i="1"/>
                          <m:t>𝑄</m:t>
                        </m:r>
                      </m:e>
                      <m:sub>
                        <m:r>
                          <a:rPr lang="en-US" sz="2200" i="1"/>
                          <m:t>1</m:t>
                        </m:r>
                      </m:sub>
                    </m:sSub>
                    <m:r>
                      <a:rPr lang="en-US" sz="2200"/>
                      <m:t>+</m:t>
                    </m:r>
                    <m:sSub>
                      <m:sSubPr>
                        <m:ctrlPr>
                          <a:rPr lang="en-US" sz="2200" i="1"/>
                        </m:ctrlPr>
                      </m:sSubPr>
                      <m:e>
                        <m:r>
                          <a:rPr lang="en-US" sz="2200" i="1"/>
                          <m:t>𝑄</m:t>
                        </m:r>
                      </m:e>
                      <m:sub>
                        <m:r>
                          <a:rPr lang="en-US" sz="2200" i="1"/>
                          <m:t>2</m:t>
                        </m:r>
                      </m:sub>
                    </m:sSub>
                    <m:r>
                      <a:rPr lang="en-US" sz="2200"/>
                      <m:t>+</m:t>
                    </m:r>
                    <m:sSup>
                      <m:sSupPr>
                        <m:ctrlPr>
                          <a:rPr lang="en-US" sz="2200" i="1"/>
                        </m:ctrlPr>
                      </m:sSupPr>
                      <m:e>
                        <m:r>
                          <a:rPr lang="en-US" sz="2200" i="1"/>
                          <m:t>𝐿</m:t>
                        </m:r>
                      </m:e>
                      <m:sup>
                        <m:r>
                          <a:rPr lang="en-US" sz="2200" i="1"/>
                          <m:t>𝑇</m:t>
                        </m:r>
                      </m:sup>
                    </m:sSup>
                    <m:r>
                      <a:rPr lang="en-US" sz="2200" i="1"/>
                      <m:t>𝐿</m:t>
                    </m:r>
                    <m:r>
                      <a:rPr lang="en-US" sz="2200"/>
                      <m:t>,</m:t>
                    </m:r>
                  </m:oMath>
                </a14:m>
                <a:r>
                  <a:rPr lang="en-US" sz="2200" dirty="0"/>
                  <a:t> </a:t>
                </a:r>
                <a14:m>
                  <m:oMath xmlns:m="http://schemas.openxmlformats.org/officeDocument/2006/math">
                    <m:sSub>
                      <m:sSubPr>
                        <m:ctrlPr>
                          <a:rPr lang="en-US" sz="2200" i="1"/>
                        </m:ctrlPr>
                      </m:sSubPr>
                      <m:e>
                        <m:r>
                          <a:rPr lang="en-US" sz="2200" i="1"/>
                          <m:t>𝑀</m:t>
                        </m:r>
                      </m:e>
                      <m:sub>
                        <m:r>
                          <a:rPr lang="en-US" sz="2200" i="1"/>
                          <m:t>12</m:t>
                        </m:r>
                      </m:sub>
                    </m:sSub>
                    <m:r>
                      <a:rPr lang="en-US" sz="2200"/>
                      <m:t>=</m:t>
                    </m:r>
                    <m:d>
                      <m:dPr>
                        <m:begChr m:val="["/>
                        <m:endChr m:val="]"/>
                        <m:ctrlPr>
                          <a:rPr lang="en-US" sz="2200" i="1"/>
                        </m:ctrlPr>
                      </m:dPr>
                      <m:e>
                        <m:r>
                          <a:rPr lang="en-US" sz="2200" i="1"/>
                          <m:t> </m:t>
                        </m:r>
                        <m:r>
                          <a:rPr lang="en-US" sz="2200" i="1"/>
                          <m:t>𝑃</m:t>
                        </m:r>
                        <m:sSub>
                          <m:sSubPr>
                            <m:ctrlPr>
                              <a:rPr lang="en-US" sz="2200" i="1"/>
                            </m:ctrlPr>
                          </m:sSubPr>
                          <m:e>
                            <m:r>
                              <a:rPr lang="en-US" sz="2200" i="1"/>
                              <m:t>𝒜</m:t>
                            </m:r>
                          </m:e>
                          <m:sub>
                            <m:r>
                              <a:rPr lang="en-US" sz="2200" i="1"/>
                              <m:t>𝑑</m:t>
                            </m:r>
                          </m:sub>
                        </m:sSub>
                        <m:r>
                          <a:rPr lang="en-US" sz="2200" i="1"/>
                          <m:t> </m:t>
                        </m:r>
                        <m:r>
                          <a:rPr lang="en-US" sz="2200" i="1"/>
                          <m:t>𝑃</m:t>
                        </m:r>
                        <m:sSub>
                          <m:sSubPr>
                            <m:ctrlPr>
                              <a:rPr lang="en-US" sz="2200" i="1"/>
                            </m:ctrlPr>
                          </m:sSubPr>
                          <m:e>
                            <m:r>
                              <a:rPr lang="en-US" sz="2200" i="1"/>
                              <m:t>ℬ</m:t>
                            </m:r>
                          </m:e>
                          <m:sub>
                            <m:r>
                              <a:rPr lang="en-US" sz="2200" i="1"/>
                              <m:t>2</m:t>
                            </m:r>
                          </m:sub>
                        </m:sSub>
                        <m:r>
                          <a:rPr lang="en-US" sz="2200" i="1"/>
                          <m:t> </m:t>
                        </m:r>
                        <m:r>
                          <a:rPr lang="en-US" sz="2200" i="1"/>
                          <m:t>𝑃𝐷</m:t>
                        </m:r>
                        <m:r>
                          <a:rPr lang="en-US" sz="2200" i="1"/>
                          <m:t> </m:t>
                        </m:r>
                      </m:e>
                    </m:d>
                    <m:r>
                      <a:rPr lang="en-US" sz="2200" b="0" i="0" smtClean="0">
                        <a:latin typeface="Cambria Math" panose="02040503050406030204" pitchFamily="18" charset="0"/>
                      </a:rPr>
                      <m:t> </m:t>
                    </m:r>
                    <m:r>
                      <a:rPr lang="en-US" sz="2200" b="0" i="1" smtClean="0">
                        <a:latin typeface="Cambria Math" panose="02040503050406030204" pitchFamily="18" charset="0"/>
                      </a:rPr>
                      <m:t>     ;    </m:t>
                    </m:r>
                    <m:sSub>
                      <m:sSubPr>
                        <m:ctrlPr>
                          <a:rPr lang="en-US" sz="2200" i="1"/>
                        </m:ctrlPr>
                      </m:sSubPr>
                      <m:e>
                        <m:r>
                          <a:rPr lang="en-US" sz="2200" i="1"/>
                          <m:t>𝑀</m:t>
                        </m:r>
                      </m:e>
                      <m:sub>
                        <m:r>
                          <a:rPr lang="en-US" sz="2200" i="1"/>
                          <m:t>22</m:t>
                        </m:r>
                      </m:sub>
                    </m:sSub>
                    <m:r>
                      <a:rPr lang="en-US" sz="2200"/>
                      <m:t>=</m:t>
                    </m:r>
                    <m:r>
                      <m:rPr>
                        <m:sty m:val="p"/>
                      </m:rPr>
                      <a:rPr lang="en-US" sz="2200"/>
                      <m:t>diag</m:t>
                    </m:r>
                    <m:d>
                      <m:dPr>
                        <m:ctrlPr>
                          <a:rPr lang="en-US" sz="2200" i="1"/>
                        </m:ctrlPr>
                      </m:dPr>
                      <m:e>
                        <m:r>
                          <a:rPr lang="en-US" sz="2200" i="1"/>
                          <m:t>−</m:t>
                        </m:r>
                        <m:sSub>
                          <m:sSubPr>
                            <m:ctrlPr>
                              <a:rPr lang="en-US" sz="2200" i="1"/>
                            </m:ctrlPr>
                          </m:sSubPr>
                          <m:e>
                            <m:r>
                              <a:rPr lang="en-US" sz="2200" i="1"/>
                              <m:t>𝑄</m:t>
                            </m:r>
                          </m:e>
                          <m:sub>
                            <m:r>
                              <a:rPr lang="en-US" sz="2200" i="1"/>
                              <m:t>1</m:t>
                            </m:r>
                          </m:sub>
                        </m:sSub>
                        <m:r>
                          <a:rPr lang="en-US" sz="2200"/>
                          <m:t>,</m:t>
                        </m:r>
                        <m:r>
                          <a:rPr lang="en-US" sz="2200" i="1"/>
                          <m:t> −</m:t>
                        </m:r>
                        <m:sSub>
                          <m:sSubPr>
                            <m:ctrlPr>
                              <a:rPr lang="en-US" sz="2200" i="1"/>
                            </m:ctrlPr>
                          </m:sSubPr>
                          <m:e>
                            <m:r>
                              <a:rPr lang="en-US" sz="2200" i="1"/>
                              <m:t>𝑄</m:t>
                            </m:r>
                          </m:e>
                          <m:sub>
                            <m:r>
                              <a:rPr lang="en-US" sz="2200" i="1"/>
                              <m:t>2</m:t>
                            </m:r>
                          </m:sub>
                        </m:sSub>
                        <m:r>
                          <a:rPr lang="en-US" sz="2200"/>
                          <m:t>,</m:t>
                        </m:r>
                        <m:r>
                          <a:rPr lang="en-US" sz="2200" i="1"/>
                          <m:t> −</m:t>
                        </m:r>
                        <m:sSup>
                          <m:sSupPr>
                            <m:ctrlPr>
                              <a:rPr lang="en-US" sz="2200" i="1"/>
                            </m:ctrlPr>
                          </m:sSupPr>
                          <m:e>
                            <m:r>
                              <a:rPr lang="en-US" sz="2200" i="1"/>
                              <m:t>𝛾</m:t>
                            </m:r>
                          </m:e>
                          <m:sup>
                            <m:r>
                              <a:rPr lang="en-US" sz="2200" i="1"/>
                              <m:t>2</m:t>
                            </m:r>
                          </m:sup>
                        </m:sSup>
                        <m:r>
                          <a:rPr lang="en-US" sz="2200" i="1"/>
                          <m:t>𝐼</m:t>
                        </m:r>
                      </m:e>
                    </m:d>
                    <m:r>
                      <a:rPr lang="en-US" sz="2200"/>
                      <m:t>.</m:t>
                    </m:r>
                  </m:oMath>
                </a14:m>
                <a:endParaRPr lang="en-US" sz="2200" dirty="0"/>
              </a:p>
              <a:p>
                <a:r>
                  <a:rPr lang="en-US" sz="2200" dirty="0"/>
                  <a:t>Assume </a:t>
                </a:r>
                <a14:m>
                  <m:oMath xmlns:m="http://schemas.openxmlformats.org/officeDocument/2006/math">
                    <m:sSub>
                      <m:sSubPr>
                        <m:ctrlPr>
                          <a:rPr lang="en-US" sz="2200" i="1"/>
                        </m:ctrlPr>
                      </m:sSubPr>
                      <m:e>
                        <m:r>
                          <a:rPr lang="en-US" sz="2200" i="1"/>
                          <m:t>𝑄</m:t>
                        </m:r>
                      </m:e>
                      <m:sub>
                        <m:r>
                          <a:rPr lang="en-US" sz="2200" i="1"/>
                          <m:t>1</m:t>
                        </m:r>
                      </m:sub>
                    </m:sSub>
                    <m:r>
                      <a:rPr lang="en-US" sz="2200"/>
                      <m:t>,</m:t>
                    </m:r>
                    <m:sSub>
                      <m:sSubPr>
                        <m:ctrlPr>
                          <a:rPr lang="en-US" sz="2200" i="1"/>
                        </m:ctrlPr>
                      </m:sSubPr>
                      <m:e>
                        <m:r>
                          <a:rPr lang="en-US" sz="2200" i="1"/>
                          <m:t>𝑄</m:t>
                        </m:r>
                      </m:e>
                      <m:sub>
                        <m:r>
                          <a:rPr lang="en-US" sz="2200" i="1"/>
                          <m:t>2</m:t>
                        </m:r>
                      </m:sub>
                    </m:sSub>
                    <m:r>
                      <a:rPr lang="en-US" sz="2200"/>
                      <m:t>&gt;</m:t>
                    </m:r>
                    <m:r>
                      <a:rPr lang="en-US" sz="2200" i="1"/>
                      <m:t>0</m:t>
                    </m:r>
                  </m:oMath>
                </a14:m>
                <a:r>
                  <a:rPr lang="en-US" sz="2200" dirty="0"/>
                  <a:t> and </a:t>
                </a:r>
                <a14:m>
                  <m:oMath xmlns:m="http://schemas.openxmlformats.org/officeDocument/2006/math">
                    <m:r>
                      <a:rPr lang="en-US" sz="2200" i="1"/>
                      <m:t>𝛾</m:t>
                    </m:r>
                    <m:r>
                      <a:rPr lang="en-US" sz="2200"/>
                      <m:t>&gt;</m:t>
                    </m:r>
                    <m:r>
                      <a:rPr lang="en-US" sz="2200" i="1"/>
                      <m:t>0</m:t>
                    </m:r>
                  </m:oMath>
                </a14:m>
                <a:r>
                  <a:rPr lang="en-US" sz="2200" dirty="0"/>
                  <a:t> so </a:t>
                </a:r>
                <a14:m>
                  <m:oMath xmlns:m="http://schemas.openxmlformats.org/officeDocument/2006/math">
                    <m:sSub>
                      <m:sSubPr>
                        <m:ctrlPr>
                          <a:rPr lang="en-US" sz="2200" i="1"/>
                        </m:ctrlPr>
                      </m:sSubPr>
                      <m:e>
                        <m:r>
                          <a:rPr lang="en-US" sz="2200" i="1"/>
                          <m:t>𝑀</m:t>
                        </m:r>
                      </m:e>
                      <m:sub>
                        <m:r>
                          <a:rPr lang="en-US" sz="2200" i="1"/>
                          <m:t>22</m:t>
                        </m:r>
                      </m:sub>
                    </m:sSub>
                    <m:r>
                      <a:rPr lang="en-US" sz="2200"/>
                      <m:t>&lt;</m:t>
                    </m:r>
                    <m:r>
                      <a:rPr lang="en-US" sz="2200" i="1"/>
                      <m:t>0</m:t>
                    </m:r>
                  </m:oMath>
                </a14:m>
                <a:r>
                  <a:rPr lang="en-US" sz="2200" dirty="0"/>
                  <a:t>. </a:t>
                </a:r>
              </a:p>
              <a:p>
                <a:pPr marL="0" indent="0" algn="ctr">
                  <a:buNone/>
                </a:pPr>
                <a:r>
                  <a:rPr lang="en-US" sz="2200" dirty="0"/>
                  <a:t>Then </a:t>
                </a:r>
                <a14:m>
                  <m:oMath xmlns:m="http://schemas.openxmlformats.org/officeDocument/2006/math">
                    <m:sSub>
                      <m:sSubPr>
                        <m:ctrlPr>
                          <a:rPr lang="en-US" sz="2200" i="1"/>
                        </m:ctrlPr>
                      </m:sSubPr>
                      <m:e>
                        <m:r>
                          <a:rPr lang="en-US" sz="2200" i="1"/>
                          <m:t>𝑀</m:t>
                        </m:r>
                      </m:e>
                      <m:sub>
                        <m:r>
                          <m:rPr>
                            <m:nor/>
                          </m:rPr>
                          <a:rPr lang="en-US" sz="2200"/>
                          <m:t>case</m:t>
                        </m:r>
                        <m:r>
                          <m:rPr>
                            <m:nor/>
                          </m:rPr>
                          <a:rPr lang="en-US" sz="2200"/>
                          <m:t>3</m:t>
                        </m:r>
                      </m:sub>
                    </m:sSub>
                    <m:r>
                      <a:rPr lang="en-US" sz="2200"/>
                      <m:t>&lt;</m:t>
                    </m:r>
                    <m:r>
                      <a:rPr lang="en-US" sz="2200" i="1"/>
                      <m:t>0</m:t>
                    </m:r>
                  </m:oMath>
                </a14:m>
                <a:r>
                  <a:rPr lang="en-US" sz="2200" dirty="0"/>
                  <a:t> </a:t>
                </a:r>
                <a:r>
                  <a:rPr lang="en-US" sz="2200" dirty="0" err="1"/>
                  <a:t>iff</a:t>
                </a:r>
                <a:r>
                  <a:rPr lang="en-US" sz="2200" dirty="0"/>
                  <a:t> </a:t>
                </a:r>
                <a14:m>
                  <m:oMath xmlns:m="http://schemas.openxmlformats.org/officeDocument/2006/math">
                    <m:sSub>
                      <m:sSubPr>
                        <m:ctrlPr>
                          <a:rPr lang="en-US" sz="2200" i="1" smtClean="0"/>
                        </m:ctrlPr>
                      </m:sSubPr>
                      <m:e>
                        <m:r>
                          <a:rPr lang="en-US" sz="2200" i="1"/>
                          <m:t>𝑀</m:t>
                        </m:r>
                      </m:e>
                      <m:sub>
                        <m:r>
                          <a:rPr lang="en-US" sz="2200" i="1"/>
                          <m:t>11</m:t>
                        </m:r>
                      </m:sub>
                    </m:sSub>
                    <m:r>
                      <a:rPr lang="en-US" sz="2200" i="1"/>
                      <m:t>−</m:t>
                    </m:r>
                    <m:sSub>
                      <m:sSubPr>
                        <m:ctrlPr>
                          <a:rPr lang="en-US" sz="2200" i="1"/>
                        </m:ctrlPr>
                      </m:sSubPr>
                      <m:e>
                        <m:r>
                          <a:rPr lang="en-US" sz="2200" i="1"/>
                          <m:t>𝑀</m:t>
                        </m:r>
                      </m:e>
                      <m:sub>
                        <m:r>
                          <a:rPr lang="en-US" sz="2200" i="1"/>
                          <m:t>12</m:t>
                        </m:r>
                      </m:sub>
                    </m:sSub>
                    <m:sSubSup>
                      <m:sSubSupPr>
                        <m:ctrlPr>
                          <a:rPr lang="en-US" sz="2200" i="1"/>
                        </m:ctrlPr>
                      </m:sSubSupPr>
                      <m:e>
                        <m:r>
                          <a:rPr lang="en-US" sz="2200" i="1"/>
                          <m:t>𝑀</m:t>
                        </m:r>
                      </m:e>
                      <m:sub>
                        <m:r>
                          <a:rPr lang="en-US" sz="2200" i="1"/>
                          <m:t>22</m:t>
                        </m:r>
                      </m:sub>
                      <m:sup>
                        <m:r>
                          <a:rPr lang="en-US" sz="2200" i="1"/>
                          <m:t>−1</m:t>
                        </m:r>
                      </m:sup>
                    </m:sSubSup>
                    <m:sSubSup>
                      <m:sSubSupPr>
                        <m:ctrlPr>
                          <a:rPr lang="en-US" sz="2200" i="1"/>
                        </m:ctrlPr>
                      </m:sSubSupPr>
                      <m:e>
                        <m:r>
                          <a:rPr lang="en-US" sz="2200" i="1"/>
                          <m:t>𝑀</m:t>
                        </m:r>
                      </m:e>
                      <m:sub>
                        <m:r>
                          <a:rPr lang="en-US" sz="2200" i="1"/>
                          <m:t>12</m:t>
                        </m:r>
                      </m:sub>
                      <m:sup>
                        <m:r>
                          <a:rPr lang="en-US" sz="2200" i="1"/>
                          <m:t>𝑇</m:t>
                        </m:r>
                      </m:sup>
                    </m:sSubSup>
                    <m:r>
                      <a:rPr lang="en-US" sz="2200"/>
                      <m:t>&lt;</m:t>
                    </m:r>
                    <m:r>
                      <a:rPr lang="en-US" sz="2200" i="1"/>
                      <m:t>0</m:t>
                    </m:r>
                    <m:r>
                      <a:rPr lang="en-US" sz="2200"/>
                      <m:t>.</m:t>
                    </m:r>
                  </m:oMath>
                </a14:m>
                <a:endParaRPr lang="en-US" sz="2200" dirty="0"/>
              </a:p>
              <a:p>
                <a:pPr marL="0" indent="0">
                  <a:buNone/>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2200" i="1"/>
                          </m:ctrlPr>
                        </m:mPr>
                        <m:mr>
                          <m:e>
                            <m:sSub>
                              <m:sSubPr>
                                <m:ctrlPr>
                                  <a:rPr lang="en-US" sz="2200" i="1"/>
                                </m:ctrlPr>
                              </m:sSubPr>
                              <m:e>
                                <m:r>
                                  <a:rPr lang="en-US" sz="2200" i="1"/>
                                  <m:t>𝑀</m:t>
                                </m:r>
                              </m:e>
                              <m:sub>
                                <m:r>
                                  <a:rPr lang="en-US" sz="2200" i="1"/>
                                  <m:t>12</m:t>
                                </m:r>
                              </m:sub>
                            </m:sSub>
                            <m:sSubSup>
                              <m:sSubSupPr>
                                <m:ctrlPr>
                                  <a:rPr lang="en-US" sz="2200" i="1"/>
                                </m:ctrlPr>
                              </m:sSubSupPr>
                              <m:e>
                                <m:r>
                                  <a:rPr lang="en-US" sz="2200" i="1"/>
                                  <m:t>𝑀</m:t>
                                </m:r>
                              </m:e>
                              <m:sub>
                                <m:r>
                                  <a:rPr lang="en-US" sz="2200" i="1"/>
                                  <m:t>22</m:t>
                                </m:r>
                              </m:sub>
                              <m:sup>
                                <m:r>
                                  <a:rPr lang="en-US" sz="2200" i="1"/>
                                  <m:t>−1</m:t>
                                </m:r>
                              </m:sup>
                            </m:sSubSup>
                            <m:sSubSup>
                              <m:sSubSupPr>
                                <m:ctrlPr>
                                  <a:rPr lang="en-US" sz="2200" i="1"/>
                                </m:ctrlPr>
                              </m:sSubSupPr>
                              <m:e>
                                <m:r>
                                  <a:rPr lang="en-US" sz="2200" i="1"/>
                                  <m:t>𝑀</m:t>
                                </m:r>
                              </m:e>
                              <m:sub>
                                <m:r>
                                  <a:rPr lang="en-US" sz="2200" i="1"/>
                                  <m:t>12</m:t>
                                </m:r>
                              </m:sub>
                              <m:sup>
                                <m:r>
                                  <a:rPr lang="en-US" sz="2200" i="1"/>
                                  <m:t>𝑇</m:t>
                                </m:r>
                              </m:sup>
                            </m:sSubSup>
                          </m:e>
                          <m:e>
                            <m:r>
                              <a:rPr lang="en-US" sz="2200"/>
                              <m:t>=</m:t>
                            </m:r>
                            <m:r>
                              <a:rPr lang="en-US" sz="2200" i="1"/>
                              <m:t>𝑃</m:t>
                            </m:r>
                            <m:sSub>
                              <m:sSubPr>
                                <m:ctrlPr>
                                  <a:rPr lang="en-US" sz="2200" i="1"/>
                                </m:ctrlPr>
                              </m:sSubPr>
                              <m:e>
                                <m:r>
                                  <a:rPr lang="en-US" sz="2200" i="1"/>
                                  <m:t>𝒜</m:t>
                                </m:r>
                              </m:e>
                              <m:sub>
                                <m:r>
                                  <a:rPr lang="en-US" sz="2200" i="1"/>
                                  <m:t>𝑑</m:t>
                                </m:r>
                              </m:sub>
                            </m:sSub>
                            <m:d>
                              <m:dPr>
                                <m:ctrlPr>
                                  <a:rPr lang="en-US" sz="2200" i="1"/>
                                </m:ctrlPr>
                              </m:dPr>
                              <m:e>
                                <m:r>
                                  <a:rPr lang="en-US" sz="2200" i="1"/>
                                  <m:t>−</m:t>
                                </m:r>
                                <m:sSubSup>
                                  <m:sSubSupPr>
                                    <m:ctrlPr>
                                      <a:rPr lang="en-US" sz="2200" i="1"/>
                                    </m:ctrlPr>
                                  </m:sSubSupPr>
                                  <m:e>
                                    <m:r>
                                      <a:rPr lang="en-US" sz="2200" i="1"/>
                                      <m:t>𝑄</m:t>
                                    </m:r>
                                  </m:e>
                                  <m:sub>
                                    <m:r>
                                      <a:rPr lang="en-US" sz="2200" i="1"/>
                                      <m:t>1</m:t>
                                    </m:r>
                                  </m:sub>
                                  <m:sup>
                                    <m:r>
                                      <a:rPr lang="en-US" sz="2200" i="1"/>
                                      <m:t>−1</m:t>
                                    </m:r>
                                  </m:sup>
                                </m:sSubSup>
                              </m:e>
                            </m:d>
                            <m:sSubSup>
                              <m:sSubSupPr>
                                <m:ctrlPr>
                                  <a:rPr lang="en-US" sz="2200" i="1"/>
                                </m:ctrlPr>
                              </m:sSubSupPr>
                              <m:e>
                                <m:r>
                                  <a:rPr lang="en-US" sz="2200" i="1"/>
                                  <m:t>𝒜</m:t>
                                </m:r>
                              </m:e>
                              <m:sub>
                                <m:r>
                                  <a:rPr lang="en-US" sz="2200" i="1"/>
                                  <m:t>𝑑</m:t>
                                </m:r>
                              </m:sub>
                              <m:sup>
                                <m:r>
                                  <a:rPr lang="en-US" sz="2200" i="1"/>
                                  <m:t>𝑇</m:t>
                                </m:r>
                              </m:sup>
                            </m:sSubSup>
                            <m:r>
                              <a:rPr lang="en-US" sz="2200" i="1"/>
                              <m:t>𝑃</m:t>
                            </m:r>
                            <m:r>
                              <a:rPr lang="en-US" sz="2200"/>
                              <m:t>+</m:t>
                            </m:r>
                            <m:r>
                              <a:rPr lang="en-US" sz="2200" i="1"/>
                              <m:t>𝑃</m:t>
                            </m:r>
                            <m:sSub>
                              <m:sSubPr>
                                <m:ctrlPr>
                                  <a:rPr lang="en-US" sz="2200" i="1"/>
                                </m:ctrlPr>
                              </m:sSubPr>
                              <m:e>
                                <m:r>
                                  <a:rPr lang="en-US" sz="2200" i="1"/>
                                  <m:t>ℬ</m:t>
                                </m:r>
                              </m:e>
                              <m:sub>
                                <m:r>
                                  <a:rPr lang="en-US" sz="2200" i="1"/>
                                  <m:t>2</m:t>
                                </m:r>
                              </m:sub>
                            </m:sSub>
                            <m:d>
                              <m:dPr>
                                <m:ctrlPr>
                                  <a:rPr lang="en-US" sz="2200" i="1"/>
                                </m:ctrlPr>
                              </m:dPr>
                              <m:e>
                                <m:r>
                                  <a:rPr lang="en-US" sz="2200" i="1"/>
                                  <m:t>−</m:t>
                                </m:r>
                                <m:sSubSup>
                                  <m:sSubSupPr>
                                    <m:ctrlPr>
                                      <a:rPr lang="en-US" sz="2200" i="1"/>
                                    </m:ctrlPr>
                                  </m:sSubSupPr>
                                  <m:e>
                                    <m:r>
                                      <a:rPr lang="en-US" sz="2200" i="1"/>
                                      <m:t>𝑄</m:t>
                                    </m:r>
                                  </m:e>
                                  <m:sub>
                                    <m:r>
                                      <a:rPr lang="en-US" sz="2200" i="1"/>
                                      <m:t>2</m:t>
                                    </m:r>
                                  </m:sub>
                                  <m:sup>
                                    <m:r>
                                      <a:rPr lang="en-US" sz="2200" i="1"/>
                                      <m:t>−1</m:t>
                                    </m:r>
                                  </m:sup>
                                </m:sSubSup>
                              </m:e>
                            </m:d>
                            <m:sSubSup>
                              <m:sSubSupPr>
                                <m:ctrlPr>
                                  <a:rPr lang="en-US" sz="2200" i="1"/>
                                </m:ctrlPr>
                              </m:sSubSupPr>
                              <m:e>
                                <m:r>
                                  <a:rPr lang="en-US" sz="2200" i="1"/>
                                  <m:t>ℬ</m:t>
                                </m:r>
                              </m:e>
                              <m:sub>
                                <m:r>
                                  <a:rPr lang="en-US" sz="2200" i="1"/>
                                  <m:t>2</m:t>
                                </m:r>
                              </m:sub>
                              <m:sup>
                                <m:r>
                                  <a:rPr lang="en-US" sz="2200" i="1"/>
                                  <m:t>𝑇</m:t>
                                </m:r>
                              </m:sup>
                            </m:sSubSup>
                            <m:r>
                              <a:rPr lang="en-US" sz="2200" i="1"/>
                              <m:t>𝑃</m:t>
                            </m:r>
                          </m:e>
                        </m:mr>
                        <m:mr>
                          <m:e/>
                          <m:e>
                            <m:r>
                              <a:rPr lang="en-US" sz="2200" i="1"/>
                              <m:t> </m:t>
                            </m:r>
                            <m:r>
                              <a:rPr lang="en-US" sz="2200"/>
                              <m:t>+</m:t>
                            </m:r>
                            <m:r>
                              <a:rPr lang="en-US" sz="2200" i="1"/>
                              <m:t>𝑃𝐷</m:t>
                            </m:r>
                            <m:d>
                              <m:dPr>
                                <m:ctrlPr>
                                  <a:rPr lang="en-US" sz="2200" i="1"/>
                                </m:ctrlPr>
                              </m:dPr>
                              <m:e>
                                <m:r>
                                  <a:rPr lang="en-US" sz="2200" i="1"/>
                                  <m:t>−</m:t>
                                </m:r>
                                <m:sSup>
                                  <m:sSupPr>
                                    <m:ctrlPr>
                                      <a:rPr lang="en-US" sz="2200" i="1"/>
                                    </m:ctrlPr>
                                  </m:sSupPr>
                                  <m:e>
                                    <m:r>
                                      <a:rPr lang="en-US" sz="2200" i="1"/>
                                      <m:t>𝛾</m:t>
                                    </m:r>
                                  </m:e>
                                  <m:sup>
                                    <m:r>
                                      <a:rPr lang="en-US" sz="2200" i="1"/>
                                      <m:t>−2</m:t>
                                    </m:r>
                                  </m:sup>
                                </m:sSup>
                                <m:r>
                                  <a:rPr lang="en-US" sz="2200" i="1"/>
                                  <m:t>𝐼</m:t>
                                </m:r>
                              </m:e>
                            </m:d>
                            <m:sSup>
                              <m:sSupPr>
                                <m:ctrlPr>
                                  <a:rPr lang="en-US" sz="2200" i="1"/>
                                </m:ctrlPr>
                              </m:sSupPr>
                              <m:e>
                                <m:r>
                                  <a:rPr lang="en-US" sz="2200" i="1"/>
                                  <m:t>𝐷</m:t>
                                </m:r>
                              </m:e>
                              <m:sup>
                                <m:r>
                                  <a:rPr lang="en-US" sz="2200" i="1"/>
                                  <m:t>𝑇</m:t>
                                </m:r>
                              </m:sup>
                            </m:sSup>
                            <m:r>
                              <a:rPr lang="en-US" sz="2200" i="1"/>
                              <m:t>𝑃</m:t>
                            </m:r>
                          </m:e>
                        </m:mr>
                        <m:mr>
                          <m:e/>
                          <m:e>
                            <m:r>
                              <a:rPr lang="en-US" sz="2200"/>
                              <m:t>=</m:t>
                            </m:r>
                            <m:r>
                              <a:rPr lang="en-US" sz="2200" i="1"/>
                              <m:t>−</m:t>
                            </m:r>
                            <m:r>
                              <a:rPr lang="en-US" sz="2200" i="1"/>
                              <m:t>𝑃</m:t>
                            </m:r>
                            <m:sSub>
                              <m:sSubPr>
                                <m:ctrlPr>
                                  <a:rPr lang="en-US" sz="2200" i="1"/>
                                </m:ctrlPr>
                              </m:sSubPr>
                              <m:e>
                                <m:r>
                                  <a:rPr lang="en-US" sz="2200" i="1"/>
                                  <m:t>𝒜</m:t>
                                </m:r>
                              </m:e>
                              <m:sub>
                                <m:r>
                                  <a:rPr lang="en-US" sz="2200" i="1"/>
                                  <m:t>𝑑</m:t>
                                </m:r>
                              </m:sub>
                            </m:sSub>
                            <m:sSubSup>
                              <m:sSubSupPr>
                                <m:ctrlPr>
                                  <a:rPr lang="en-US" sz="2200" i="1"/>
                                </m:ctrlPr>
                              </m:sSubSupPr>
                              <m:e>
                                <m:r>
                                  <a:rPr lang="en-US" sz="2200" i="1"/>
                                  <m:t>𝑄</m:t>
                                </m:r>
                              </m:e>
                              <m:sub>
                                <m:r>
                                  <a:rPr lang="en-US" sz="2200" i="1"/>
                                  <m:t>1</m:t>
                                </m:r>
                              </m:sub>
                              <m:sup>
                                <m:r>
                                  <a:rPr lang="en-US" sz="2200" i="1"/>
                                  <m:t>−1</m:t>
                                </m:r>
                              </m:sup>
                            </m:sSubSup>
                            <m:sSubSup>
                              <m:sSubSupPr>
                                <m:ctrlPr>
                                  <a:rPr lang="en-US" sz="2200" i="1"/>
                                </m:ctrlPr>
                              </m:sSubSupPr>
                              <m:e>
                                <m:r>
                                  <a:rPr lang="en-US" sz="2200" i="1"/>
                                  <m:t>𝒜</m:t>
                                </m:r>
                              </m:e>
                              <m:sub>
                                <m:r>
                                  <a:rPr lang="en-US" sz="2200" i="1"/>
                                  <m:t>𝑑</m:t>
                                </m:r>
                              </m:sub>
                              <m:sup>
                                <m:r>
                                  <a:rPr lang="en-US" sz="2200" i="1"/>
                                  <m:t>𝑇</m:t>
                                </m:r>
                              </m:sup>
                            </m:sSubSup>
                            <m:r>
                              <a:rPr lang="en-US" sz="2200" i="1"/>
                              <m:t>𝑃</m:t>
                            </m:r>
                            <m:r>
                              <a:rPr lang="en-US" sz="2200" i="1"/>
                              <m:t>−</m:t>
                            </m:r>
                            <m:r>
                              <a:rPr lang="en-US" sz="2200" i="1"/>
                              <m:t>𝑃</m:t>
                            </m:r>
                            <m:sSub>
                              <m:sSubPr>
                                <m:ctrlPr>
                                  <a:rPr lang="en-US" sz="2200" i="1"/>
                                </m:ctrlPr>
                              </m:sSubPr>
                              <m:e>
                                <m:r>
                                  <a:rPr lang="en-US" sz="2200" i="1"/>
                                  <m:t>ℬ</m:t>
                                </m:r>
                              </m:e>
                              <m:sub>
                                <m:r>
                                  <a:rPr lang="en-US" sz="2200" i="1"/>
                                  <m:t>2</m:t>
                                </m:r>
                              </m:sub>
                            </m:sSub>
                            <m:sSubSup>
                              <m:sSubSupPr>
                                <m:ctrlPr>
                                  <a:rPr lang="en-US" sz="2200" i="1"/>
                                </m:ctrlPr>
                              </m:sSubSupPr>
                              <m:e>
                                <m:r>
                                  <a:rPr lang="en-US" sz="2200" i="1"/>
                                  <m:t>𝑄</m:t>
                                </m:r>
                              </m:e>
                              <m:sub>
                                <m:r>
                                  <a:rPr lang="en-US" sz="2200" i="1"/>
                                  <m:t>2</m:t>
                                </m:r>
                              </m:sub>
                              <m:sup>
                                <m:r>
                                  <a:rPr lang="en-US" sz="2200" i="1"/>
                                  <m:t>−1</m:t>
                                </m:r>
                              </m:sup>
                            </m:sSubSup>
                            <m:sSubSup>
                              <m:sSubSupPr>
                                <m:ctrlPr>
                                  <a:rPr lang="en-US" sz="2200" i="1"/>
                                </m:ctrlPr>
                              </m:sSubSupPr>
                              <m:e>
                                <m:r>
                                  <a:rPr lang="en-US" sz="2200" i="1"/>
                                  <m:t>ℬ</m:t>
                                </m:r>
                              </m:e>
                              <m:sub>
                                <m:r>
                                  <a:rPr lang="en-US" sz="2200" i="1"/>
                                  <m:t>2</m:t>
                                </m:r>
                              </m:sub>
                              <m:sup>
                                <m:r>
                                  <a:rPr lang="en-US" sz="2200" i="1"/>
                                  <m:t>𝑇</m:t>
                                </m:r>
                              </m:sup>
                            </m:sSubSup>
                            <m:r>
                              <a:rPr lang="en-US" sz="2200" i="1"/>
                              <m:t>𝑃</m:t>
                            </m:r>
                            <m:r>
                              <a:rPr lang="en-US" sz="2200" i="1"/>
                              <m:t>−</m:t>
                            </m:r>
                            <m:sSup>
                              <m:sSupPr>
                                <m:ctrlPr>
                                  <a:rPr lang="en-US" sz="2200" i="1"/>
                                </m:ctrlPr>
                              </m:sSupPr>
                              <m:e>
                                <m:r>
                                  <a:rPr lang="en-US" sz="2200" i="1"/>
                                  <m:t>𝛾</m:t>
                                </m:r>
                              </m:e>
                              <m:sup>
                                <m:r>
                                  <a:rPr lang="en-US" sz="2200" i="1"/>
                                  <m:t>−2</m:t>
                                </m:r>
                              </m:sup>
                            </m:sSup>
                            <m:r>
                              <a:rPr lang="en-US" sz="2200" i="1"/>
                              <m:t>𝑃𝐷</m:t>
                            </m:r>
                            <m:sSup>
                              <m:sSupPr>
                                <m:ctrlPr>
                                  <a:rPr lang="en-US" sz="2200" i="1"/>
                                </m:ctrlPr>
                              </m:sSupPr>
                              <m:e>
                                <m:r>
                                  <a:rPr lang="en-US" sz="2200" i="1"/>
                                  <m:t>𝐷</m:t>
                                </m:r>
                              </m:e>
                              <m:sup>
                                <m:r>
                                  <a:rPr lang="en-US" sz="2200" i="1"/>
                                  <m:t>𝑇</m:t>
                                </m:r>
                              </m:sup>
                            </m:sSup>
                            <m:r>
                              <a:rPr lang="en-US" sz="2200" i="1"/>
                              <m:t>𝑃</m:t>
                            </m:r>
                            <m:r>
                              <a:rPr lang="en-US" sz="2200"/>
                              <m:t>.</m:t>
                            </m:r>
                          </m:e>
                        </m:mr>
                      </m:m>
                    </m:oMath>
                  </m:oMathPara>
                </a14:m>
                <a:endParaRPr lang="en-US" sz="2200" dirty="0"/>
              </a:p>
              <a:p>
                <a:r>
                  <a:rPr lang="en-US" sz="2200" dirty="0"/>
                  <a:t>Thus the Schur complement inequality becomes</a:t>
                </a:r>
              </a:p>
              <a:p>
                <a:pPr marL="0" indent="0">
                  <a:buNone/>
                </a:pPr>
                <a14:m>
                  <m:oMathPara xmlns:m="http://schemas.openxmlformats.org/officeDocument/2006/math">
                    <m:oMathParaPr>
                      <m:jc m:val="centerGroup"/>
                    </m:oMathParaPr>
                    <m:oMath xmlns:m="http://schemas.openxmlformats.org/officeDocument/2006/math">
                      <m:sSub>
                        <m:sSubPr>
                          <m:ctrlPr>
                            <a:rPr lang="en-US" sz="2200" i="1"/>
                          </m:ctrlPr>
                        </m:sSubPr>
                        <m:e>
                          <m:r>
                            <a:rPr lang="en-US" sz="2200" i="1"/>
                            <m:t>𝑀</m:t>
                          </m:r>
                        </m:e>
                        <m:sub>
                          <m:r>
                            <a:rPr lang="en-US" sz="2200" i="1"/>
                            <m:t>11</m:t>
                          </m:r>
                        </m:sub>
                      </m:sSub>
                      <m:r>
                        <a:rPr lang="en-US" sz="2200"/>
                        <m:t>+</m:t>
                      </m:r>
                      <m:r>
                        <a:rPr lang="en-US" sz="2200" i="1"/>
                        <m:t>𝑃</m:t>
                      </m:r>
                      <m:sSub>
                        <m:sSubPr>
                          <m:ctrlPr>
                            <a:rPr lang="en-US" sz="2200" i="1"/>
                          </m:ctrlPr>
                        </m:sSubPr>
                        <m:e>
                          <m:r>
                            <a:rPr lang="en-US" sz="2200" i="1"/>
                            <m:t>𝒜</m:t>
                          </m:r>
                        </m:e>
                        <m:sub>
                          <m:r>
                            <a:rPr lang="en-US" sz="2200" i="1"/>
                            <m:t>𝑑</m:t>
                          </m:r>
                        </m:sub>
                      </m:sSub>
                      <m:sSubSup>
                        <m:sSubSupPr>
                          <m:ctrlPr>
                            <a:rPr lang="en-US" sz="2200" i="1"/>
                          </m:ctrlPr>
                        </m:sSubSupPr>
                        <m:e>
                          <m:r>
                            <a:rPr lang="en-US" sz="2200" i="1"/>
                            <m:t>𝑄</m:t>
                          </m:r>
                        </m:e>
                        <m:sub>
                          <m:r>
                            <a:rPr lang="en-US" sz="2200" i="1"/>
                            <m:t>1</m:t>
                          </m:r>
                        </m:sub>
                        <m:sup>
                          <m:r>
                            <a:rPr lang="en-US" sz="2200" i="1"/>
                            <m:t>−1</m:t>
                          </m:r>
                        </m:sup>
                      </m:sSubSup>
                      <m:sSubSup>
                        <m:sSubSupPr>
                          <m:ctrlPr>
                            <a:rPr lang="en-US" sz="2200" i="1"/>
                          </m:ctrlPr>
                        </m:sSubSupPr>
                        <m:e>
                          <m:r>
                            <a:rPr lang="en-US" sz="2200" i="1"/>
                            <m:t>𝒜</m:t>
                          </m:r>
                        </m:e>
                        <m:sub>
                          <m:r>
                            <a:rPr lang="en-US" sz="2200" i="1"/>
                            <m:t>𝑑</m:t>
                          </m:r>
                        </m:sub>
                        <m:sup>
                          <m:r>
                            <a:rPr lang="en-US" sz="2200" i="1"/>
                            <m:t>𝑇</m:t>
                          </m:r>
                        </m:sup>
                      </m:sSubSup>
                      <m:r>
                        <a:rPr lang="en-US" sz="2200" i="1"/>
                        <m:t>𝑃</m:t>
                      </m:r>
                      <m:r>
                        <a:rPr lang="en-US" sz="2200"/>
                        <m:t>+</m:t>
                      </m:r>
                      <m:r>
                        <a:rPr lang="en-US" sz="2200" i="1"/>
                        <m:t>𝑃</m:t>
                      </m:r>
                      <m:sSub>
                        <m:sSubPr>
                          <m:ctrlPr>
                            <a:rPr lang="en-US" sz="2200" i="1"/>
                          </m:ctrlPr>
                        </m:sSubPr>
                        <m:e>
                          <m:r>
                            <a:rPr lang="en-US" sz="2200" i="1"/>
                            <m:t>ℬ</m:t>
                          </m:r>
                        </m:e>
                        <m:sub>
                          <m:r>
                            <a:rPr lang="en-US" sz="2200" i="1"/>
                            <m:t>2</m:t>
                          </m:r>
                        </m:sub>
                      </m:sSub>
                      <m:sSubSup>
                        <m:sSubSupPr>
                          <m:ctrlPr>
                            <a:rPr lang="en-US" sz="2200" i="1"/>
                          </m:ctrlPr>
                        </m:sSubSupPr>
                        <m:e>
                          <m:r>
                            <a:rPr lang="en-US" sz="2200" i="1"/>
                            <m:t>𝑄</m:t>
                          </m:r>
                        </m:e>
                        <m:sub>
                          <m:r>
                            <a:rPr lang="en-US" sz="2200" i="1"/>
                            <m:t>2</m:t>
                          </m:r>
                        </m:sub>
                        <m:sup>
                          <m:r>
                            <a:rPr lang="en-US" sz="2200" i="1"/>
                            <m:t>−1</m:t>
                          </m:r>
                        </m:sup>
                      </m:sSubSup>
                      <m:sSubSup>
                        <m:sSubSupPr>
                          <m:ctrlPr>
                            <a:rPr lang="en-US" sz="2200" i="1"/>
                          </m:ctrlPr>
                        </m:sSubSupPr>
                        <m:e>
                          <m:r>
                            <a:rPr lang="en-US" sz="2200" i="1"/>
                            <m:t>ℬ</m:t>
                          </m:r>
                        </m:e>
                        <m:sub>
                          <m:r>
                            <a:rPr lang="en-US" sz="2200" i="1"/>
                            <m:t>2</m:t>
                          </m:r>
                        </m:sub>
                        <m:sup>
                          <m:r>
                            <a:rPr lang="en-US" sz="2200" i="1"/>
                            <m:t>𝑇</m:t>
                          </m:r>
                        </m:sup>
                      </m:sSubSup>
                      <m:r>
                        <a:rPr lang="en-US" sz="2200" i="1"/>
                        <m:t>𝑃</m:t>
                      </m:r>
                      <m:r>
                        <a:rPr lang="en-US" sz="2200"/>
                        <m:t>+</m:t>
                      </m:r>
                      <m:sSup>
                        <m:sSupPr>
                          <m:ctrlPr>
                            <a:rPr lang="en-US" sz="2200" i="1"/>
                          </m:ctrlPr>
                        </m:sSupPr>
                        <m:e>
                          <m:r>
                            <a:rPr lang="en-US" sz="2200" i="1"/>
                            <m:t>𝛾</m:t>
                          </m:r>
                        </m:e>
                        <m:sup>
                          <m:r>
                            <a:rPr lang="en-US" sz="2200" i="1"/>
                            <m:t>−2</m:t>
                          </m:r>
                        </m:sup>
                      </m:sSup>
                      <m:r>
                        <a:rPr lang="en-US" sz="2200" i="1"/>
                        <m:t>𝑃𝐷</m:t>
                      </m:r>
                      <m:sSup>
                        <m:sSupPr>
                          <m:ctrlPr>
                            <a:rPr lang="en-US" sz="2200" i="1"/>
                          </m:ctrlPr>
                        </m:sSupPr>
                        <m:e>
                          <m:r>
                            <a:rPr lang="en-US" sz="2200" i="1"/>
                            <m:t>𝐷</m:t>
                          </m:r>
                        </m:e>
                        <m:sup>
                          <m:r>
                            <a:rPr lang="en-US" sz="2200" i="1"/>
                            <m:t>𝑇</m:t>
                          </m:r>
                        </m:sup>
                      </m:sSup>
                      <m:r>
                        <a:rPr lang="en-US" sz="2200" i="1"/>
                        <m:t>𝑃</m:t>
                      </m:r>
                      <m:r>
                        <a:rPr lang="en-US" sz="2200"/>
                        <m:t>&lt;</m:t>
                      </m:r>
                      <m:r>
                        <a:rPr lang="en-US" sz="2200" i="1"/>
                        <m:t>0</m:t>
                      </m:r>
                      <m:r>
                        <a:rPr lang="en-US" sz="2200"/>
                        <m:t>.</m:t>
                      </m:r>
                    </m:oMath>
                  </m:oMathPara>
                </a14:m>
                <a:endParaRPr lang="en-US" sz="2200" dirty="0"/>
              </a:p>
            </p:txBody>
          </p:sp>
        </mc:Choice>
        <mc:Fallback>
          <p:sp>
            <p:nvSpPr>
              <p:cNvPr id="9" name="Content Placeholder 3">
                <a:extLst>
                  <a:ext uri="{FF2B5EF4-FFF2-40B4-BE49-F238E27FC236}">
                    <a16:creationId xmlns:a16="http://schemas.microsoft.com/office/drawing/2014/main" id="{B283ECB4-017B-81A4-05D9-300AE063EA6A}"/>
                  </a:ext>
                </a:extLst>
              </p:cNvPr>
              <p:cNvSpPr>
                <a:spLocks noGrp="1" noRot="1" noChangeAspect="1" noMove="1" noResize="1" noEditPoints="1" noAdjustHandles="1" noChangeArrowheads="1" noChangeShapeType="1" noTextEdit="1"/>
              </p:cNvSpPr>
              <p:nvPr>
                <p:ph sz="half" idx="2"/>
              </p:nvPr>
            </p:nvSpPr>
            <p:spPr>
              <a:xfrm>
                <a:off x="299581" y="1116604"/>
                <a:ext cx="10528840" cy="5392320"/>
              </a:xfrm>
              <a:blipFill>
                <a:blip r:embed="rId4"/>
                <a:stretch>
                  <a:fillRect l="-753" t="-904" b="-3390"/>
                </a:stretch>
              </a:blipFill>
            </p:spPr>
            <p:txBody>
              <a:bodyPr/>
              <a:lstStyle/>
              <a:p>
                <a:r>
                  <a:rPr lang="en-US">
                    <a:noFill/>
                  </a:rPr>
                  <a:t> </a:t>
                </a:r>
              </a:p>
            </p:txBody>
          </p:sp>
        </mc:Fallback>
      </mc:AlternateContent>
    </p:spTree>
    <p:extLst>
      <p:ext uri="{BB962C8B-B14F-4D97-AF65-F5344CB8AC3E}">
        <p14:creationId xmlns:p14="http://schemas.microsoft.com/office/powerpoint/2010/main" val="3935690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500"/>
                                        <p:tgtEl>
                                          <p:spTgt spid="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fade">
                                      <p:cBhvr>
                                        <p:cTn id="27" dur="500"/>
                                        <p:tgtEl>
                                          <p:spTgt spid="9">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9">
                                            <p:txEl>
                                              <p:pRg st="5" end="5"/>
                                            </p:txEl>
                                          </p:spTgt>
                                        </p:tgtEl>
                                        <p:attrNameLst>
                                          <p:attrName>style.visibility</p:attrName>
                                        </p:attrNameLst>
                                      </p:cBhvr>
                                      <p:to>
                                        <p:strVal val="visible"/>
                                      </p:to>
                                    </p:set>
                                    <p:animEffect transition="in" filter="fade">
                                      <p:cBhvr>
                                        <p:cTn id="32" dur="500"/>
                                        <p:tgtEl>
                                          <p:spTgt spid="9">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9">
                                            <p:txEl>
                                              <p:pRg st="6" end="6"/>
                                            </p:txEl>
                                          </p:spTgt>
                                        </p:tgtEl>
                                        <p:attrNameLst>
                                          <p:attrName>style.visibility</p:attrName>
                                        </p:attrNameLst>
                                      </p:cBhvr>
                                      <p:to>
                                        <p:strVal val="visible"/>
                                      </p:to>
                                    </p:set>
                                    <p:animEffect transition="in" filter="fade">
                                      <p:cBhvr>
                                        <p:cTn id="37" dur="500"/>
                                        <p:tgtEl>
                                          <p:spTgt spid="9">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9">
                                            <p:txEl>
                                              <p:pRg st="7" end="7"/>
                                            </p:txEl>
                                          </p:spTgt>
                                        </p:tgtEl>
                                        <p:attrNameLst>
                                          <p:attrName>style.visibility</p:attrName>
                                        </p:attrNameLst>
                                      </p:cBhvr>
                                      <p:to>
                                        <p:strVal val="visible"/>
                                      </p:to>
                                    </p:set>
                                    <p:animEffect transition="in" filter="fade">
                                      <p:cBhvr>
                                        <p:cTn id="42" dur="500"/>
                                        <p:tgtEl>
                                          <p:spTgt spid="9">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9">
                                            <p:txEl>
                                              <p:pRg st="8" end="8"/>
                                            </p:txEl>
                                          </p:spTgt>
                                        </p:tgtEl>
                                        <p:attrNameLst>
                                          <p:attrName>style.visibility</p:attrName>
                                        </p:attrNameLst>
                                      </p:cBhvr>
                                      <p:to>
                                        <p:strVal val="visible"/>
                                      </p:to>
                                    </p:set>
                                    <p:animEffect transition="in" filter="fade">
                                      <p:cBhvr>
                                        <p:cTn id="47" dur="500"/>
                                        <p:tgtEl>
                                          <p:spTgt spid="9">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9B00A4-430F-AE49-05F3-B74A4006E53A}"/>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D910A60E-2BF0-81B0-80F3-75C3345F2DF5}"/>
                  </a:ext>
                </a:extLst>
              </p:cNvPr>
              <p:cNvSpPr>
                <a:spLocks noGrp="1"/>
              </p:cNvSpPr>
              <p:nvPr>
                <p:ph type="title"/>
              </p:nvPr>
            </p:nvSpPr>
            <p:spPr>
              <a:xfrm>
                <a:off x="299581" y="476421"/>
                <a:ext cx="9642440" cy="887659"/>
              </a:xfrm>
            </p:spPr>
            <p:txBody>
              <a:bodyPr>
                <a:normAutofit/>
              </a:bodyPr>
              <a:lstStyle/>
              <a:p>
                <a:pPr algn="ctr"/>
                <a:r>
                  <a:rPr lang="en-US" b="1" dirty="0">
                    <a:latin typeface="Arial" panose="020B0604020202020204" pitchFamily="34" charset="0"/>
                    <a:cs typeface="Arial" panose="020B0604020202020204" pitchFamily="34" charset="0"/>
                  </a:rPr>
                  <a:t>Schur complement of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𝑴</m:t>
                        </m:r>
                      </m:e>
                      <m:sub>
                        <m:r>
                          <m:rPr>
                            <m:nor/>
                          </m:rPr>
                          <a:rPr lang="en-US" b="1">
                            <a:latin typeface="Arial" panose="020B0604020202020204" pitchFamily="34" charset="0"/>
                            <a:cs typeface="Arial" panose="020B0604020202020204" pitchFamily="34" charset="0"/>
                          </a:rPr>
                          <m:t>case</m:t>
                        </m:r>
                        <m:r>
                          <m:rPr>
                            <m:nor/>
                          </m:rPr>
                          <a:rPr lang="en-US" b="1">
                            <a:latin typeface="Arial" panose="020B0604020202020204" pitchFamily="34" charset="0"/>
                            <a:cs typeface="Arial" panose="020B0604020202020204" pitchFamily="34" charset="0"/>
                          </a:rPr>
                          <m:t>3</m:t>
                        </m:r>
                      </m:sub>
                    </m:sSub>
                  </m:oMath>
                </a14:m>
                <a:r>
                  <a:rPr lang="en-US" b="1" dirty="0">
                    <a:latin typeface="Arial" panose="020B0604020202020204" pitchFamily="34" charset="0"/>
                    <a:cs typeface="Arial" panose="020B0604020202020204" pitchFamily="34" charset="0"/>
                  </a:rPr>
                  <a:t> → ARI (2/2)</a:t>
                </a:r>
              </a:p>
            </p:txBody>
          </p:sp>
        </mc:Choice>
        <mc:Fallback>
          <p:sp>
            <p:nvSpPr>
              <p:cNvPr id="2" name="Title 1">
                <a:extLst>
                  <a:ext uri="{FF2B5EF4-FFF2-40B4-BE49-F238E27FC236}">
                    <a16:creationId xmlns:a16="http://schemas.microsoft.com/office/drawing/2014/main" id="{D910A60E-2BF0-81B0-80F3-75C3345F2DF5}"/>
                  </a:ext>
                </a:extLst>
              </p:cNvPr>
              <p:cNvSpPr>
                <a:spLocks noGrp="1" noRot="1" noChangeAspect="1" noMove="1" noResize="1" noEditPoints="1" noAdjustHandles="1" noChangeArrowheads="1" noChangeShapeType="1" noTextEdit="1"/>
              </p:cNvSpPr>
              <p:nvPr>
                <p:ph type="title"/>
              </p:nvPr>
            </p:nvSpPr>
            <p:spPr>
              <a:xfrm>
                <a:off x="299581" y="476421"/>
                <a:ext cx="9642440" cy="887659"/>
              </a:xfrm>
              <a:blipFill>
                <a:blip r:embed="rId3"/>
                <a:stretch>
                  <a:fillRect t="-10959"/>
                </a:stretch>
              </a:blipFill>
            </p:spPr>
            <p:txBody>
              <a:bodyPr/>
              <a:lstStyle/>
              <a:p>
                <a:r>
                  <a:rPr lang="en-US">
                    <a:noFill/>
                  </a:rPr>
                  <a:t> </a:t>
                </a:r>
              </a:p>
            </p:txBody>
          </p:sp>
        </mc:Fallback>
      </mc:AlternateContent>
      <p:sp>
        <p:nvSpPr>
          <p:cNvPr id="6" name="Content Placeholder 3">
            <a:extLst>
              <a:ext uri="{FF2B5EF4-FFF2-40B4-BE49-F238E27FC236}">
                <a16:creationId xmlns:a16="http://schemas.microsoft.com/office/drawing/2014/main" id="{9F8E0E18-7D43-DEF4-E783-E851C81F4358}"/>
              </a:ext>
            </a:extLst>
          </p:cNvPr>
          <p:cNvSpPr txBox="1">
            <a:spLocks/>
          </p:cNvSpPr>
          <p:nvPr/>
        </p:nvSpPr>
        <p:spPr>
          <a:xfrm>
            <a:off x="187283" y="4207555"/>
            <a:ext cx="7047705"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9" name="Content Placeholder 3">
                <a:extLst>
                  <a:ext uri="{FF2B5EF4-FFF2-40B4-BE49-F238E27FC236}">
                    <a16:creationId xmlns:a16="http://schemas.microsoft.com/office/drawing/2014/main" id="{1EE296E3-F068-D711-22D7-853A6A9AEABB}"/>
                  </a:ext>
                </a:extLst>
              </p:cNvPr>
              <p:cNvSpPr>
                <a:spLocks noGrp="1"/>
              </p:cNvSpPr>
              <p:nvPr>
                <p:ph sz="half" idx="2"/>
              </p:nvPr>
            </p:nvSpPr>
            <p:spPr>
              <a:xfrm>
                <a:off x="299581" y="1116604"/>
                <a:ext cx="10528840" cy="2042232"/>
              </a:xfrm>
            </p:spPr>
            <p:txBody>
              <a:bodyPr>
                <a:noAutofit/>
              </a:bodyPr>
              <a:lstStyle/>
              <a:p>
                <a:r>
                  <a:rPr lang="en-US" sz="2000" dirty="0">
                    <a:latin typeface="Arial" panose="020B0604020202020204" pitchFamily="34" charset="0"/>
                    <a:cs typeface="Arial" panose="020B0604020202020204" pitchFamily="34" charset="0"/>
                  </a:rPr>
                  <a:t>Substitute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𝑀</m:t>
                        </m:r>
                      </m:e>
                      <m:sub>
                        <m:r>
                          <a:rPr lang="en-US" sz="2000" i="1">
                            <a:latin typeface="Cambria Math" panose="02040503050406030204" pitchFamily="18" charset="0"/>
                          </a:rPr>
                          <m:t>11</m:t>
                        </m:r>
                      </m:sub>
                    </m:sSub>
                    <m:r>
                      <a:rPr lang="en-US" sz="2000">
                        <a:latin typeface="Cambria Math" panose="02040503050406030204" pitchFamily="18" charset="0"/>
                      </a:rPr>
                      <m:t>=</m:t>
                    </m:r>
                    <m:r>
                      <a:rPr lang="en-US" sz="2000" i="1">
                        <a:latin typeface="Cambria Math" panose="02040503050406030204" pitchFamily="18" charset="0"/>
                      </a:rPr>
                      <m:t>𝑃𝐴</m:t>
                    </m:r>
                    <m:r>
                      <a:rPr lang="en-US" sz="200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𝐴</m:t>
                        </m:r>
                      </m:e>
                      <m:sup>
                        <m:r>
                          <a:rPr lang="en-US" sz="2000" i="1">
                            <a:latin typeface="Cambria Math" panose="02040503050406030204" pitchFamily="18" charset="0"/>
                          </a:rPr>
                          <m:t>𝑇</m:t>
                        </m:r>
                      </m:sup>
                    </m:sSup>
                    <m:r>
                      <a:rPr lang="en-US" sz="2000" i="1">
                        <a:latin typeface="Cambria Math" panose="02040503050406030204" pitchFamily="18" charset="0"/>
                      </a:rPr>
                      <m:t>𝑃</m:t>
                    </m:r>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i="1">
                            <a:latin typeface="Cambria Math" panose="02040503050406030204" pitchFamily="18" charset="0"/>
                          </a:rPr>
                          <m:t>1</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i="1">
                            <a:latin typeface="Cambria Math" panose="02040503050406030204" pitchFamily="18" charset="0"/>
                          </a:rPr>
                          <m:t>2</m:t>
                        </m:r>
                      </m:sub>
                    </m:sSub>
                    <m:r>
                      <a:rPr lang="en-US" sz="200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𝐿</m:t>
                        </m:r>
                      </m:e>
                      <m:sup>
                        <m:r>
                          <a:rPr lang="en-US" sz="2000" i="1">
                            <a:latin typeface="Cambria Math" panose="02040503050406030204" pitchFamily="18" charset="0"/>
                          </a:rPr>
                          <m:t>𝑇</m:t>
                        </m:r>
                      </m:sup>
                    </m:sSup>
                    <m:r>
                      <a:rPr lang="en-US" sz="2000" i="1">
                        <a:latin typeface="Cambria Math" panose="02040503050406030204" pitchFamily="18" charset="0"/>
                      </a:rPr>
                      <m:t>𝐿</m:t>
                    </m:r>
                  </m:oMath>
                </a14:m>
                <a:r>
                  <a:rPr lang="en-US" sz="2000" dirty="0">
                    <a:latin typeface="Arial" panose="020B0604020202020204" pitchFamily="34" charset="0"/>
                    <a:cs typeface="Arial" panose="020B0604020202020204" pitchFamily="34" charset="0"/>
                  </a:rPr>
                  <a:t> and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𝒜</m:t>
                        </m:r>
                      </m:e>
                      <m:sub>
                        <m:r>
                          <a:rPr lang="en-US" sz="2000" i="1">
                            <a:latin typeface="Cambria Math" panose="02040503050406030204" pitchFamily="18" charset="0"/>
                          </a:rPr>
                          <m:t>𝑑</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𝑑</m:t>
                        </m:r>
                      </m:sub>
                    </m:sSub>
                    <m:r>
                      <a:rPr lang="en-US" sz="2000">
                        <a:latin typeface="Cambria Math" panose="02040503050406030204" pitchFamily="18" charset="0"/>
                      </a:rPr>
                      <m:t>+</m:t>
                    </m:r>
                    <m:r>
                      <a:rPr lang="en-US" sz="2000" i="1">
                        <a:latin typeface="Cambria Math" panose="02040503050406030204" pitchFamily="18" charset="0"/>
                      </a:rPr>
                      <m:t>𝐵</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1</m:t>
                        </m:r>
                      </m:sub>
                    </m:sSub>
                    <m:r>
                      <a:rPr lang="en-US" sz="2000" i="1">
                        <a:latin typeface="Cambria Math" panose="02040503050406030204" pitchFamily="18" charset="0"/>
                      </a:rPr>
                      <m:t>𝐶</m:t>
                    </m:r>
                  </m:oMath>
                </a14:m>
                <a:r>
                  <a:rPr lang="en-US" sz="2000" dirty="0">
                    <a:latin typeface="Arial" panose="020B0604020202020204" pitchFamily="34" charset="0"/>
                    <a:cs typeface="Arial" panose="020B0604020202020204" pitchFamily="34" charset="0"/>
                  </a:rPr>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ℬ</m:t>
                        </m:r>
                      </m:e>
                      <m:sub>
                        <m:r>
                          <a:rPr lang="en-US" sz="2000" i="1">
                            <a:latin typeface="Cambria Math" panose="02040503050406030204" pitchFamily="18" charset="0"/>
                          </a:rPr>
                          <m:t>2</m:t>
                        </m:r>
                      </m:sub>
                    </m:sSub>
                    <m:r>
                      <a:rPr lang="en-US" sz="2000">
                        <a:latin typeface="Cambria Math" panose="02040503050406030204" pitchFamily="18" charset="0"/>
                      </a:rPr>
                      <m:t>=</m:t>
                    </m:r>
                    <m:r>
                      <a:rPr lang="en-US" sz="2000" i="1">
                        <a:latin typeface="Cambria Math" panose="02040503050406030204" pitchFamily="18" charset="0"/>
                      </a:rPr>
                      <m:t>𝐵</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2</m:t>
                        </m:r>
                      </m:sub>
                    </m:sSub>
                    <m:r>
                      <a:rPr lang="en-US" sz="2000" i="1">
                        <a:latin typeface="Cambria Math" panose="02040503050406030204" pitchFamily="18" charset="0"/>
                      </a:rPr>
                      <m:t>𝐶</m:t>
                    </m:r>
                  </m:oMath>
                </a14:m>
                <a:r>
                  <a:rPr lang="en-US" sz="2000" dirty="0">
                    <a:latin typeface="Arial" panose="020B0604020202020204" pitchFamily="34" charset="0"/>
                    <a:cs typeface="Arial" panose="020B0604020202020204" pitchFamily="34" charset="0"/>
                  </a:rPr>
                  <a:t>.</a:t>
                </a:r>
              </a:p>
              <a:p>
                <a:pPr marL="0" indent="0" algn="ctr">
                  <a:buNone/>
                </a:pPr>
                <a:r>
                  <a:rPr lang="en-US" sz="2000" dirty="0">
                    <a:latin typeface="Arial" panose="020B0604020202020204" pitchFamily="34" charset="0"/>
                    <a:cs typeface="Arial" panose="020B0604020202020204" pitchFamily="34" charset="0"/>
                  </a:rPr>
                  <a:t> </a:t>
                </a:r>
                <a14:m>
                  <m:oMath xmlns:m="http://schemas.openxmlformats.org/officeDocument/2006/math">
                    <m:m>
                      <m:mPr>
                        <m:plcHide m:val="on"/>
                        <m:mcs>
                          <m:mc>
                            <m:mcPr>
                              <m:count m:val="2"/>
                              <m:mcJc m:val="center"/>
                            </m:mcPr>
                          </m:mc>
                        </m:mcs>
                        <m:ctrlPr>
                          <a:rPr lang="en-US" sz="2000" i="1" smtClean="0">
                            <a:latin typeface="Cambria Math" panose="02040503050406030204" pitchFamily="18" charset="0"/>
                          </a:rPr>
                        </m:ctrlPr>
                      </m:mPr>
                      <m:mr>
                        <m:e/>
                        <m:e>
                          <m:r>
                            <a:rPr lang="en-US" sz="2000" i="1">
                              <a:latin typeface="Cambria Math" panose="02040503050406030204" pitchFamily="18" charset="0"/>
                            </a:rPr>
                            <m:t>𝑃𝐴</m:t>
                          </m:r>
                          <m:r>
                            <a:rPr lang="en-US" sz="200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𝐴</m:t>
                              </m:r>
                            </m:e>
                            <m:sup>
                              <m:r>
                                <a:rPr lang="en-US" sz="2000" i="1">
                                  <a:latin typeface="Cambria Math" panose="02040503050406030204" pitchFamily="18" charset="0"/>
                                </a:rPr>
                                <m:t>𝑇</m:t>
                              </m:r>
                            </m:sup>
                          </m:sSup>
                          <m:r>
                            <a:rPr lang="en-US" sz="2000" i="1">
                              <a:latin typeface="Cambria Math" panose="02040503050406030204" pitchFamily="18" charset="0"/>
                            </a:rPr>
                            <m:t>𝑃</m:t>
                          </m:r>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i="1">
                                  <a:latin typeface="Cambria Math" panose="02040503050406030204" pitchFamily="18" charset="0"/>
                                </a:rPr>
                                <m:t>1</m:t>
                              </m:r>
                            </m:sub>
                          </m:sSub>
                          <m:r>
                            <a:rPr lang="en-US" sz="2000">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𝑄</m:t>
                              </m:r>
                            </m:e>
                            <m:sub>
                              <m:r>
                                <a:rPr lang="en-US" sz="2000" i="1">
                                  <a:latin typeface="Cambria Math" panose="02040503050406030204" pitchFamily="18" charset="0"/>
                                </a:rPr>
                                <m:t>2</m:t>
                              </m:r>
                            </m:sub>
                          </m:sSub>
                          <m:r>
                            <a:rPr lang="en-US" sz="200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𝐿</m:t>
                              </m:r>
                            </m:e>
                            <m:sup>
                              <m:r>
                                <a:rPr lang="en-US" sz="2000" i="1">
                                  <a:latin typeface="Cambria Math" panose="02040503050406030204" pitchFamily="18" charset="0"/>
                                </a:rPr>
                                <m:t>𝑇</m:t>
                              </m:r>
                            </m:sup>
                          </m:sSup>
                          <m:r>
                            <a:rPr lang="en-US" sz="2000" i="1">
                              <a:latin typeface="Cambria Math" panose="02040503050406030204" pitchFamily="18" charset="0"/>
                            </a:rPr>
                            <m:t>𝐿</m:t>
                          </m:r>
                        </m:e>
                      </m:mr>
                      <m:mr>
                        <m:e/>
                        <m:e>
                          <m:r>
                            <a:rPr lang="en-US" sz="2000">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𝑑</m:t>
                                  </m:r>
                                </m:sub>
                              </m:sSub>
                              <m:r>
                                <a:rPr lang="en-US" sz="2000">
                                  <a:latin typeface="Cambria Math" panose="02040503050406030204" pitchFamily="18" charset="0"/>
                                </a:rPr>
                                <m:t>+</m:t>
                              </m:r>
                              <m:r>
                                <a:rPr lang="en-US" sz="2000" i="1">
                                  <a:latin typeface="Cambria Math" panose="02040503050406030204" pitchFamily="18" charset="0"/>
                                </a:rPr>
                                <m:t>𝐵</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1</m:t>
                                  </m:r>
                                </m:sub>
                              </m:sSub>
                              <m:r>
                                <a:rPr lang="en-US" sz="2000" i="1">
                                  <a:latin typeface="Cambria Math" panose="02040503050406030204" pitchFamily="18" charset="0"/>
                                </a:rPr>
                                <m:t>𝐶</m:t>
                              </m:r>
                            </m:e>
                          </m:d>
                          <m:r>
                            <a:rPr lang="en-US" sz="2000" i="1">
                              <a:latin typeface="Cambria Math" panose="02040503050406030204" pitchFamily="18" charset="0"/>
                            </a:rPr>
                            <m:t> </m:t>
                          </m:r>
                          <m:sSubSup>
                            <m:sSubSupPr>
                              <m:ctrlPr>
                                <a:rPr lang="en-US" sz="2000" i="1">
                                  <a:latin typeface="Cambria Math" panose="02040503050406030204" pitchFamily="18" charset="0"/>
                                </a:rPr>
                              </m:ctrlPr>
                            </m:sSubSupPr>
                            <m:e>
                              <m:r>
                                <a:rPr lang="en-US" sz="2000" i="1">
                                  <a:latin typeface="Cambria Math" panose="02040503050406030204" pitchFamily="18" charset="0"/>
                                </a:rPr>
                                <m:t>𝑄</m:t>
                              </m:r>
                            </m:e>
                            <m:sub>
                              <m:r>
                                <a:rPr lang="en-US" sz="2000" i="1">
                                  <a:latin typeface="Cambria Math" panose="02040503050406030204" pitchFamily="18" charset="0"/>
                                </a:rPr>
                                <m:t>1</m:t>
                              </m:r>
                            </m:sub>
                            <m:sup>
                              <m:r>
                                <a:rPr lang="en-US" sz="2000" i="1">
                                  <a:latin typeface="Cambria Math" panose="02040503050406030204" pitchFamily="18" charset="0"/>
                                </a:rPr>
                                <m:t>−1</m:t>
                              </m:r>
                            </m:sup>
                          </m:sSubSup>
                          <m:r>
                            <a:rPr lang="en-US" sz="2000" i="1">
                              <a:latin typeface="Cambria Math" panose="02040503050406030204" pitchFamily="18" charset="0"/>
                            </a:rPr>
                            <m:t> </m:t>
                          </m:r>
                          <m:sSup>
                            <m:sSupPr>
                              <m:ctrlPr>
                                <a:rPr lang="en-US" sz="2000" i="1">
                                  <a:latin typeface="Cambria Math" panose="02040503050406030204" pitchFamily="18" charset="0"/>
                                </a:rPr>
                              </m:ctrlPr>
                            </m:sSupPr>
                            <m:e>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panose="02040503050406030204" pitchFamily="18" charset="0"/>
                                        </a:rPr>
                                        <m:t>𝐴</m:t>
                                      </m:r>
                                    </m:e>
                                    <m:sub>
                                      <m:r>
                                        <a:rPr lang="en-US" sz="2000" i="1">
                                          <a:latin typeface="Cambria Math" panose="02040503050406030204" pitchFamily="18" charset="0"/>
                                        </a:rPr>
                                        <m:t>𝑑</m:t>
                                      </m:r>
                                    </m:sub>
                                  </m:sSub>
                                  <m:r>
                                    <a:rPr lang="en-US" sz="2000">
                                      <a:latin typeface="Cambria Math" panose="02040503050406030204" pitchFamily="18" charset="0"/>
                                    </a:rPr>
                                    <m:t>+</m:t>
                                  </m:r>
                                  <m:r>
                                    <a:rPr lang="en-US" sz="2000" i="1">
                                      <a:latin typeface="Cambria Math" panose="02040503050406030204" pitchFamily="18" charset="0"/>
                                    </a:rPr>
                                    <m:t>𝐵</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1</m:t>
                                      </m:r>
                                    </m:sub>
                                  </m:sSub>
                                  <m:r>
                                    <a:rPr lang="en-US" sz="2000" i="1">
                                      <a:latin typeface="Cambria Math" panose="02040503050406030204" pitchFamily="18" charset="0"/>
                                    </a:rPr>
                                    <m:t>𝐶</m:t>
                                  </m:r>
                                </m:e>
                              </m:d>
                            </m:e>
                            <m:sup>
                              <m:r>
                                <a:rPr lang="en-US" sz="2000" i="1">
                                  <a:latin typeface="Cambria Math" panose="02040503050406030204" pitchFamily="18" charset="0"/>
                                </a:rPr>
                                <m:t>𝑇</m:t>
                              </m:r>
                            </m:sup>
                          </m:sSup>
                          <m:r>
                            <a:rPr lang="en-US" sz="2000" i="1">
                              <a:latin typeface="Cambria Math" panose="02040503050406030204" pitchFamily="18" charset="0"/>
                            </a:rPr>
                            <m:t>𝑃</m:t>
                          </m:r>
                          <m:r>
                            <a:rPr lang="en-US" sz="2000">
                              <a:latin typeface="Cambria Math" panose="02040503050406030204" pitchFamily="18" charset="0"/>
                            </a:rPr>
                            <m:t>+</m:t>
                          </m:r>
                          <m:r>
                            <a:rPr lang="en-US" sz="2000" i="1">
                              <a:latin typeface="Cambria Math" panose="02040503050406030204" pitchFamily="18" charset="0"/>
                            </a:rPr>
                            <m:t>𝑃𝐵</m:t>
                          </m:r>
                          <m:sSub>
                            <m:sSubPr>
                              <m:ctrlPr>
                                <a:rPr lang="en-US" sz="2000" i="1">
                                  <a:latin typeface="Cambria Math" panose="02040503050406030204" pitchFamily="18" charset="0"/>
                                </a:rPr>
                              </m:ctrlPr>
                            </m:sSubPr>
                            <m:e>
                              <m:r>
                                <a:rPr lang="en-US" sz="2000" i="1">
                                  <a:latin typeface="Cambria Math" panose="02040503050406030204" pitchFamily="18" charset="0"/>
                                </a:rPr>
                                <m:t>𝐹</m:t>
                              </m:r>
                            </m:e>
                            <m:sub>
                              <m:r>
                                <a:rPr lang="en-US" sz="2000" i="1">
                                  <a:latin typeface="Cambria Math" panose="02040503050406030204" pitchFamily="18" charset="0"/>
                                </a:rPr>
                                <m:t>2</m:t>
                              </m:r>
                            </m:sub>
                          </m:sSub>
                          <m:r>
                            <a:rPr lang="en-US" sz="2000" i="1">
                              <a:latin typeface="Cambria Math" panose="02040503050406030204" pitchFamily="18" charset="0"/>
                            </a:rPr>
                            <m:t>𝐶</m:t>
                          </m:r>
                          <m:r>
                            <a:rPr lang="en-US" sz="2000" i="1">
                              <a:latin typeface="Cambria Math" panose="02040503050406030204" pitchFamily="18" charset="0"/>
                            </a:rPr>
                            <m:t> </m:t>
                          </m:r>
                          <m:sSubSup>
                            <m:sSubSupPr>
                              <m:ctrlPr>
                                <a:rPr lang="en-US" sz="2000" i="1">
                                  <a:latin typeface="Cambria Math" panose="02040503050406030204" pitchFamily="18" charset="0"/>
                                </a:rPr>
                              </m:ctrlPr>
                            </m:sSubSupPr>
                            <m:e>
                              <m:r>
                                <a:rPr lang="en-US" sz="2000" i="1">
                                  <a:latin typeface="Cambria Math" panose="02040503050406030204" pitchFamily="18" charset="0"/>
                                </a:rPr>
                                <m:t>𝑄</m:t>
                              </m:r>
                            </m:e>
                            <m:sub>
                              <m:r>
                                <a:rPr lang="en-US" sz="2000" i="1">
                                  <a:latin typeface="Cambria Math" panose="02040503050406030204" pitchFamily="18" charset="0"/>
                                </a:rPr>
                                <m:t>2</m:t>
                              </m:r>
                            </m:sub>
                            <m:sup>
                              <m:r>
                                <a:rPr lang="en-US" sz="2000" i="1">
                                  <a:latin typeface="Cambria Math" panose="02040503050406030204" pitchFamily="18" charset="0"/>
                                </a:rPr>
                                <m:t>−1</m:t>
                              </m:r>
                            </m:sup>
                          </m:sSubSup>
                          <m:r>
                            <a:rPr lang="en-US" sz="2000" i="1">
                              <a:latin typeface="Cambria Math" panose="02040503050406030204" pitchFamily="18" charset="0"/>
                            </a:rPr>
                            <m:t> </m:t>
                          </m:r>
                          <m:sSup>
                            <m:sSupPr>
                              <m:ctrlPr>
                                <a:rPr lang="en-US" sz="2000" i="1">
                                  <a:latin typeface="Cambria Math" panose="02040503050406030204" pitchFamily="18" charset="0"/>
                                </a:rPr>
                              </m:ctrlPr>
                            </m:sSupPr>
                            <m:e>
                              <m:r>
                                <a:rPr lang="en-US" sz="2000" i="1">
                                  <a:latin typeface="Cambria Math" panose="02040503050406030204" pitchFamily="18" charset="0"/>
                                </a:rPr>
                                <m:t>𝐶</m:t>
                              </m:r>
                            </m:e>
                            <m:sup>
                              <m:r>
                                <a:rPr lang="en-US" sz="2000" i="1">
                                  <a:latin typeface="Cambria Math" panose="02040503050406030204" pitchFamily="18" charset="0"/>
                                </a:rPr>
                                <m:t>𝑇</m:t>
                              </m:r>
                            </m:sup>
                          </m:sSup>
                          <m:sSubSup>
                            <m:sSubSupPr>
                              <m:ctrlPr>
                                <a:rPr lang="en-US" sz="2000" i="1">
                                  <a:latin typeface="Cambria Math" panose="02040503050406030204" pitchFamily="18" charset="0"/>
                                </a:rPr>
                              </m:ctrlPr>
                            </m:sSubSupPr>
                            <m:e>
                              <m:r>
                                <a:rPr lang="en-US" sz="2000" i="1">
                                  <a:latin typeface="Cambria Math" panose="02040503050406030204" pitchFamily="18" charset="0"/>
                                </a:rPr>
                                <m:t>𝐹</m:t>
                              </m:r>
                            </m:e>
                            <m:sub>
                              <m:r>
                                <a:rPr lang="en-US" sz="2000" i="1">
                                  <a:latin typeface="Cambria Math" panose="02040503050406030204" pitchFamily="18" charset="0"/>
                                </a:rPr>
                                <m:t>2</m:t>
                              </m:r>
                            </m:sub>
                            <m:sup>
                              <m:r>
                                <a:rPr lang="en-US" sz="2000" i="1">
                                  <a:latin typeface="Cambria Math" panose="02040503050406030204" pitchFamily="18" charset="0"/>
                                </a:rPr>
                                <m:t>𝑇</m:t>
                              </m:r>
                            </m:sup>
                          </m:sSubSup>
                          <m:sSup>
                            <m:sSupPr>
                              <m:ctrlPr>
                                <a:rPr lang="en-US" sz="2000" i="1">
                                  <a:latin typeface="Cambria Math" panose="02040503050406030204" pitchFamily="18" charset="0"/>
                                </a:rPr>
                              </m:ctrlPr>
                            </m:sSupPr>
                            <m:e>
                              <m:r>
                                <a:rPr lang="en-US" sz="2000" i="1">
                                  <a:latin typeface="Cambria Math" panose="02040503050406030204" pitchFamily="18" charset="0"/>
                                </a:rPr>
                                <m:t>𝐵</m:t>
                              </m:r>
                            </m:e>
                            <m:sup>
                              <m:r>
                                <a:rPr lang="en-US" sz="2000" i="1">
                                  <a:latin typeface="Cambria Math" panose="02040503050406030204" pitchFamily="18" charset="0"/>
                                </a:rPr>
                                <m:t>𝑇</m:t>
                              </m:r>
                            </m:sup>
                          </m:sSup>
                          <m:r>
                            <a:rPr lang="en-US" sz="2000" i="1">
                              <a:latin typeface="Cambria Math" panose="02040503050406030204" pitchFamily="18" charset="0"/>
                            </a:rPr>
                            <m:t>𝑃</m:t>
                          </m:r>
                        </m:e>
                      </m:mr>
                      <m:mr>
                        <m:e/>
                        <m:e>
                          <m:r>
                            <a:rPr lang="en-US" sz="2000" i="1">
                              <a:latin typeface="Cambria Math" panose="02040503050406030204" pitchFamily="18" charset="0"/>
                            </a:rPr>
                            <m:t>    </m:t>
                          </m:r>
                          <m:r>
                            <a:rPr lang="en-US" sz="2000">
                              <a:latin typeface="Cambria Math" panose="02040503050406030204" pitchFamily="18" charset="0"/>
                            </a:rPr>
                            <m:t>+</m:t>
                          </m:r>
                          <m:sSup>
                            <m:sSupPr>
                              <m:ctrlPr>
                                <a:rPr lang="en-US" sz="2000" i="1">
                                  <a:latin typeface="Cambria Math" panose="02040503050406030204" pitchFamily="18" charset="0"/>
                                </a:rPr>
                              </m:ctrlPr>
                            </m:sSupPr>
                            <m:e>
                              <m:r>
                                <a:rPr lang="en-US" sz="2000" i="1">
                                  <a:latin typeface="Cambria Math" panose="02040503050406030204" pitchFamily="18" charset="0"/>
                                </a:rPr>
                                <m:t>𝛾</m:t>
                              </m:r>
                            </m:e>
                            <m:sup>
                              <m:r>
                                <a:rPr lang="en-US" sz="2000" i="1">
                                  <a:latin typeface="Cambria Math" panose="02040503050406030204" pitchFamily="18" charset="0"/>
                                </a:rPr>
                                <m:t>−2</m:t>
                              </m:r>
                            </m:sup>
                          </m:sSup>
                          <m:r>
                            <a:rPr lang="en-US" sz="2000" i="1">
                              <a:latin typeface="Cambria Math" panose="02040503050406030204" pitchFamily="18" charset="0"/>
                            </a:rPr>
                            <m:t>𝑃𝐷</m:t>
                          </m:r>
                          <m:sSup>
                            <m:sSupPr>
                              <m:ctrlPr>
                                <a:rPr lang="en-US" sz="2000" i="1">
                                  <a:latin typeface="Cambria Math" panose="02040503050406030204" pitchFamily="18" charset="0"/>
                                </a:rPr>
                              </m:ctrlPr>
                            </m:sSupPr>
                            <m:e>
                              <m:r>
                                <a:rPr lang="en-US" sz="2000" i="1">
                                  <a:latin typeface="Cambria Math" panose="02040503050406030204" pitchFamily="18" charset="0"/>
                                </a:rPr>
                                <m:t>𝐷</m:t>
                              </m:r>
                            </m:e>
                            <m:sup>
                              <m:r>
                                <a:rPr lang="en-US" sz="2000" i="1">
                                  <a:latin typeface="Cambria Math" panose="02040503050406030204" pitchFamily="18" charset="0"/>
                                </a:rPr>
                                <m:t>𝑇</m:t>
                              </m:r>
                            </m:sup>
                          </m:sSup>
                          <m:r>
                            <a:rPr lang="en-US" sz="2000" i="1">
                              <a:latin typeface="Cambria Math" panose="02040503050406030204" pitchFamily="18" charset="0"/>
                            </a:rPr>
                            <m:t>𝑃</m:t>
                          </m:r>
                          <m:r>
                            <a:rPr lang="en-US" sz="2000">
                              <a:latin typeface="Cambria Math" panose="02040503050406030204" pitchFamily="18" charset="0"/>
                            </a:rPr>
                            <m:t>&lt;</m:t>
                          </m:r>
                          <m:r>
                            <a:rPr lang="en-US" sz="2000" i="1">
                              <a:latin typeface="Cambria Math" panose="02040503050406030204" pitchFamily="18" charset="0"/>
                            </a:rPr>
                            <m:t>0</m:t>
                          </m:r>
                          <m:r>
                            <a:rPr lang="en-US" sz="2000">
                              <a:latin typeface="Cambria Math" panose="02040503050406030204" pitchFamily="18" charset="0"/>
                            </a:rPr>
                            <m:t>.</m:t>
                          </m:r>
                        </m:e>
                      </m:mr>
                    </m:m>
                  </m:oMath>
                </a14:m>
                <a:endParaRPr lang="en-US" sz="2000" dirty="0">
                  <a:latin typeface="Arial" panose="020B0604020202020204" pitchFamily="34" charset="0"/>
                  <a:cs typeface="Arial" panose="020B0604020202020204" pitchFamily="34" charset="0"/>
                </a:endParaRPr>
              </a:p>
              <a:p>
                <a:pPr marL="457200" lvl="1" indent="0" algn="ctr">
                  <a:buNone/>
                </a:pPr>
                <a:r>
                  <a:rPr lang="en-US" sz="1800" b="1" dirty="0"/>
                  <a:t>(This is exactly the ARI form given by the paper in its Case-3 specialization)</a:t>
                </a:r>
              </a:p>
            </p:txBody>
          </p:sp>
        </mc:Choice>
        <mc:Fallback>
          <p:sp>
            <p:nvSpPr>
              <p:cNvPr id="9" name="Content Placeholder 3">
                <a:extLst>
                  <a:ext uri="{FF2B5EF4-FFF2-40B4-BE49-F238E27FC236}">
                    <a16:creationId xmlns:a16="http://schemas.microsoft.com/office/drawing/2014/main" id="{1EE296E3-F068-D711-22D7-853A6A9AEABB}"/>
                  </a:ext>
                </a:extLst>
              </p:cNvPr>
              <p:cNvSpPr>
                <a:spLocks noGrp="1" noRot="1" noChangeAspect="1" noMove="1" noResize="1" noEditPoints="1" noAdjustHandles="1" noChangeArrowheads="1" noChangeShapeType="1" noTextEdit="1"/>
              </p:cNvSpPr>
              <p:nvPr>
                <p:ph sz="half" idx="2"/>
              </p:nvPr>
            </p:nvSpPr>
            <p:spPr>
              <a:xfrm>
                <a:off x="299581" y="1116604"/>
                <a:ext cx="10528840" cy="2042232"/>
              </a:xfrm>
              <a:blipFill>
                <a:blip r:embed="rId4"/>
                <a:stretch>
                  <a:fillRect l="-232" t="-1194"/>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D0C64ED9-C472-C7AF-0F3B-C68AF91DD14B}"/>
                  </a:ext>
                </a:extLst>
              </p:cNvPr>
              <p:cNvSpPr txBox="1">
                <a:spLocks/>
              </p:cNvSpPr>
              <p:nvPr/>
            </p:nvSpPr>
            <p:spPr>
              <a:xfrm>
                <a:off x="187283" y="3158836"/>
                <a:ext cx="9970871" cy="3637248"/>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000" dirty="0">
                    <a:latin typeface="Arial" panose="020B0604020202020204" pitchFamily="34" charset="0"/>
                    <a:cs typeface="Arial" panose="020B0604020202020204" pitchFamily="34" charset="0"/>
                  </a:rPr>
                  <a:t>Expand the merged quadratic term explicitly (for clarity)</a:t>
                </a:r>
              </a:p>
              <a:p>
                <a:pPr marL="0" indent="0">
                  <a:buNone/>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sz="2000" i="1"/>
                          </m:ctrlPr>
                        </m:mPr>
                        <m:mr>
                          <m:e/>
                          <m:e>
                            <m:limLow>
                              <m:limLowPr>
                                <m:ctrlPr>
                                  <a:rPr lang="en-US" sz="2000" i="1"/>
                                </m:ctrlPr>
                              </m:limLowPr>
                              <m:e>
                                <m:limLow>
                                  <m:limLowPr>
                                    <m:ctrlPr>
                                      <a:rPr lang="en-US" sz="2000" i="1"/>
                                    </m:ctrlPr>
                                  </m:limLowPr>
                                  <m:e>
                                    <m:r>
                                      <a:rPr lang="en-US" sz="2000" i="1"/>
                                      <m:t>𝑃𝐴</m:t>
                                    </m:r>
                                    <m:r>
                                      <a:rPr lang="en-US" sz="2000"/>
                                      <m:t>+</m:t>
                                    </m:r>
                                    <m:sSup>
                                      <m:sSupPr>
                                        <m:ctrlPr>
                                          <a:rPr lang="en-US" sz="2000" i="1"/>
                                        </m:ctrlPr>
                                      </m:sSupPr>
                                      <m:e>
                                        <m:r>
                                          <a:rPr lang="en-US" sz="2000" i="1"/>
                                          <m:t>𝐴</m:t>
                                        </m:r>
                                      </m:e>
                                      <m:sup>
                                        <m:r>
                                          <a:rPr lang="en-US" sz="2000" i="1"/>
                                          <m:t>𝑇</m:t>
                                        </m:r>
                                      </m:sup>
                                    </m:sSup>
                                    <m:r>
                                      <a:rPr lang="en-US" sz="2000" i="1"/>
                                      <m:t>𝑃</m:t>
                                    </m:r>
                                    <m:r>
                                      <a:rPr lang="en-US" sz="2000"/>
                                      <m:t>+</m:t>
                                    </m:r>
                                    <m:sSub>
                                      <m:sSubPr>
                                        <m:ctrlPr>
                                          <a:rPr lang="en-US" sz="2000" i="1"/>
                                        </m:ctrlPr>
                                      </m:sSubPr>
                                      <m:e>
                                        <m:r>
                                          <a:rPr lang="en-US" sz="2000" i="1"/>
                                          <m:t>𝑄</m:t>
                                        </m:r>
                                      </m:e>
                                      <m:sub>
                                        <m:r>
                                          <a:rPr lang="en-US" sz="2000" i="1"/>
                                          <m:t>1</m:t>
                                        </m:r>
                                      </m:sub>
                                    </m:sSub>
                                    <m:r>
                                      <a:rPr lang="en-US" sz="2000"/>
                                      <m:t>+</m:t>
                                    </m:r>
                                    <m:sSub>
                                      <m:sSubPr>
                                        <m:ctrlPr>
                                          <a:rPr lang="en-US" sz="2000" i="1"/>
                                        </m:ctrlPr>
                                      </m:sSubPr>
                                      <m:e>
                                        <m:r>
                                          <a:rPr lang="en-US" sz="2000" i="1"/>
                                          <m:t>𝑄</m:t>
                                        </m:r>
                                      </m:e>
                                      <m:sub>
                                        <m:r>
                                          <a:rPr lang="en-US" sz="2000" i="1"/>
                                          <m:t>2</m:t>
                                        </m:r>
                                      </m:sub>
                                    </m:sSub>
                                    <m:r>
                                      <a:rPr lang="en-US" sz="2000"/>
                                      <m:t>+</m:t>
                                    </m:r>
                                    <m:sSup>
                                      <m:sSupPr>
                                        <m:ctrlPr>
                                          <a:rPr lang="en-US" sz="2000" i="1"/>
                                        </m:ctrlPr>
                                      </m:sSupPr>
                                      <m:e>
                                        <m:r>
                                          <a:rPr lang="en-US" sz="2000" i="1"/>
                                          <m:t>𝐿</m:t>
                                        </m:r>
                                      </m:e>
                                      <m:sup>
                                        <m:r>
                                          <a:rPr lang="en-US" sz="2000" i="1"/>
                                          <m:t>𝑇</m:t>
                                        </m:r>
                                      </m:sup>
                                    </m:sSup>
                                    <m:r>
                                      <a:rPr lang="en-US" sz="2000" i="1"/>
                                      <m:t>𝐿</m:t>
                                    </m:r>
                                    <m:r>
                                      <a:rPr lang="en-US" sz="2000"/>
                                      <m:t>+</m:t>
                                    </m:r>
                                    <m:r>
                                      <a:rPr lang="en-US" sz="2000" i="1"/>
                                      <m:t>𝑃</m:t>
                                    </m:r>
                                    <m:sSub>
                                      <m:sSubPr>
                                        <m:ctrlPr>
                                          <a:rPr lang="en-US" sz="2000" i="1"/>
                                        </m:ctrlPr>
                                      </m:sSubPr>
                                      <m:e>
                                        <m:r>
                                          <a:rPr lang="en-US" sz="2000" i="1"/>
                                          <m:t>𝐴</m:t>
                                        </m:r>
                                      </m:e>
                                      <m:sub>
                                        <m:r>
                                          <a:rPr lang="en-US" sz="2000" i="1"/>
                                          <m:t>𝑑</m:t>
                                        </m:r>
                                      </m:sub>
                                    </m:sSub>
                                    <m:sSubSup>
                                      <m:sSubSupPr>
                                        <m:ctrlPr>
                                          <a:rPr lang="en-US" sz="2000" i="1"/>
                                        </m:ctrlPr>
                                      </m:sSubSupPr>
                                      <m:e>
                                        <m:r>
                                          <a:rPr lang="en-US" sz="2000" i="1"/>
                                          <m:t>𝑄</m:t>
                                        </m:r>
                                      </m:e>
                                      <m:sub>
                                        <m:r>
                                          <a:rPr lang="en-US" sz="2000" i="1"/>
                                          <m:t>1</m:t>
                                        </m:r>
                                      </m:sub>
                                      <m:sup>
                                        <m:r>
                                          <a:rPr lang="en-US" sz="2000" i="1"/>
                                          <m:t>−1</m:t>
                                        </m:r>
                                      </m:sup>
                                    </m:sSubSup>
                                    <m:sSubSup>
                                      <m:sSubSupPr>
                                        <m:ctrlPr>
                                          <a:rPr lang="en-US" sz="2000" i="1"/>
                                        </m:ctrlPr>
                                      </m:sSubSupPr>
                                      <m:e>
                                        <m:r>
                                          <a:rPr lang="en-US" sz="2000" i="1"/>
                                          <m:t>𝐴</m:t>
                                        </m:r>
                                      </m:e>
                                      <m:sub>
                                        <m:r>
                                          <a:rPr lang="en-US" sz="2000" i="1"/>
                                          <m:t>𝑑</m:t>
                                        </m:r>
                                      </m:sub>
                                      <m:sup>
                                        <m:r>
                                          <a:rPr lang="en-US" sz="2000" i="1"/>
                                          <m:t>𝑇</m:t>
                                        </m:r>
                                      </m:sup>
                                    </m:sSubSup>
                                    <m:r>
                                      <a:rPr lang="en-US" sz="2000" i="1"/>
                                      <m:t>𝑃</m:t>
                                    </m:r>
                                    <m:r>
                                      <a:rPr lang="en-US" sz="2000"/>
                                      <m:t>+</m:t>
                                    </m:r>
                                    <m:sSup>
                                      <m:sSupPr>
                                        <m:ctrlPr>
                                          <a:rPr lang="en-US" sz="2000" i="1"/>
                                        </m:ctrlPr>
                                      </m:sSupPr>
                                      <m:e>
                                        <m:r>
                                          <a:rPr lang="en-US" sz="2000" i="1"/>
                                          <m:t>𝛾</m:t>
                                        </m:r>
                                      </m:e>
                                      <m:sup>
                                        <m:r>
                                          <a:rPr lang="en-US" sz="2000" i="1"/>
                                          <m:t>−2</m:t>
                                        </m:r>
                                      </m:sup>
                                    </m:sSup>
                                    <m:r>
                                      <a:rPr lang="en-US" sz="2000" i="1"/>
                                      <m:t>𝑃𝐷</m:t>
                                    </m:r>
                                    <m:sSup>
                                      <m:sSupPr>
                                        <m:ctrlPr>
                                          <a:rPr lang="en-US" sz="2000" i="1"/>
                                        </m:ctrlPr>
                                      </m:sSupPr>
                                      <m:e>
                                        <m:r>
                                          <a:rPr lang="en-US" sz="2000" i="1"/>
                                          <m:t>𝐷</m:t>
                                        </m:r>
                                      </m:e>
                                      <m:sup>
                                        <m:r>
                                          <a:rPr lang="en-US" sz="2000" i="1"/>
                                          <m:t>𝑇</m:t>
                                        </m:r>
                                      </m:sup>
                                    </m:sSup>
                                    <m:r>
                                      <a:rPr lang="en-US" sz="2000" i="1"/>
                                      <m:t>𝑃</m:t>
                                    </m:r>
                                  </m:e>
                                  <m:lim>
                                    <m:r>
                                      <a:rPr lang="en-US" sz="2000"/>
                                      <m:t>⏟</m:t>
                                    </m:r>
                                  </m:lim>
                                </m:limLow>
                              </m:e>
                              <m:lim>
                                <m:sSub>
                                  <m:sSubPr>
                                    <m:ctrlPr>
                                      <a:rPr lang="en-US" sz="2000" i="1"/>
                                    </m:ctrlPr>
                                  </m:sSubPr>
                                  <m:e>
                                    <m:r>
                                      <a:rPr lang="en-US" sz="2000" i="1"/>
                                      <m:t>𝛷</m:t>
                                    </m:r>
                                  </m:e>
                                  <m:sub>
                                    <m:r>
                                      <a:rPr lang="en-US" sz="2000" i="1"/>
                                      <m:t>0</m:t>
                                    </m:r>
                                  </m:sub>
                                </m:sSub>
                              </m:lim>
                            </m:limLow>
                          </m:e>
                        </m:mr>
                        <m:mr>
                          <m:e/>
                          <m:e>
                            <m:r>
                              <a:rPr lang="en-US" sz="2000" i="1"/>
                              <m:t> </m:t>
                            </m:r>
                            <m:r>
                              <a:rPr lang="en-US" sz="2000"/>
                              <m:t>+</m:t>
                            </m:r>
                            <m:limLow>
                              <m:limLowPr>
                                <m:ctrlPr>
                                  <a:rPr lang="en-US" sz="2000" i="1"/>
                                </m:ctrlPr>
                              </m:limLowPr>
                              <m:e>
                                <m:limLow>
                                  <m:limLowPr>
                                    <m:ctrlPr>
                                      <a:rPr lang="en-US" sz="2000" i="1"/>
                                    </m:ctrlPr>
                                  </m:limLowPr>
                                  <m:e>
                                    <m:r>
                                      <a:rPr lang="en-US" sz="2000" i="1"/>
                                      <m:t>𝑃</m:t>
                                    </m:r>
                                    <m:sSub>
                                      <m:sSubPr>
                                        <m:ctrlPr>
                                          <a:rPr lang="en-US" sz="2000" i="1"/>
                                        </m:ctrlPr>
                                      </m:sSubPr>
                                      <m:e>
                                        <m:r>
                                          <a:rPr lang="en-US" sz="2000" i="1"/>
                                          <m:t>𝐴</m:t>
                                        </m:r>
                                      </m:e>
                                      <m:sub>
                                        <m:r>
                                          <a:rPr lang="en-US" sz="2000" i="1"/>
                                          <m:t>𝑑</m:t>
                                        </m:r>
                                      </m:sub>
                                    </m:sSub>
                                    <m:sSubSup>
                                      <m:sSubSupPr>
                                        <m:ctrlPr>
                                          <a:rPr lang="en-US" sz="2000" i="1"/>
                                        </m:ctrlPr>
                                      </m:sSubSupPr>
                                      <m:e>
                                        <m:r>
                                          <a:rPr lang="en-US" sz="2000" i="1"/>
                                          <m:t>𝑄</m:t>
                                        </m:r>
                                      </m:e>
                                      <m:sub>
                                        <m:r>
                                          <a:rPr lang="en-US" sz="2000" i="1"/>
                                          <m:t>1</m:t>
                                        </m:r>
                                      </m:sub>
                                      <m:sup>
                                        <m:r>
                                          <a:rPr lang="en-US" sz="2000" i="1"/>
                                          <m:t>−1</m:t>
                                        </m:r>
                                      </m:sup>
                                    </m:sSubSup>
                                    <m:sSup>
                                      <m:sSupPr>
                                        <m:ctrlPr>
                                          <a:rPr lang="en-US" sz="2000" i="1"/>
                                        </m:ctrlPr>
                                      </m:sSupPr>
                                      <m:e>
                                        <m:r>
                                          <a:rPr lang="en-US" sz="2000" i="1"/>
                                          <m:t>𝐶</m:t>
                                        </m:r>
                                      </m:e>
                                      <m:sup>
                                        <m:r>
                                          <a:rPr lang="en-US" sz="2000" i="1"/>
                                          <m:t>𝑇</m:t>
                                        </m:r>
                                      </m:sup>
                                    </m:sSup>
                                    <m:sSubSup>
                                      <m:sSubSupPr>
                                        <m:ctrlPr>
                                          <a:rPr lang="en-US" sz="2000" i="1"/>
                                        </m:ctrlPr>
                                      </m:sSubSupPr>
                                      <m:e>
                                        <m:r>
                                          <a:rPr lang="en-US" sz="2000" i="1"/>
                                          <m:t>𝐹</m:t>
                                        </m:r>
                                      </m:e>
                                      <m:sub>
                                        <m:r>
                                          <a:rPr lang="en-US" sz="2000" i="1"/>
                                          <m:t>1</m:t>
                                        </m:r>
                                      </m:sub>
                                      <m:sup>
                                        <m:r>
                                          <a:rPr lang="en-US" sz="2000" i="1"/>
                                          <m:t>𝑇</m:t>
                                        </m:r>
                                      </m:sup>
                                    </m:sSubSup>
                                    <m:sSup>
                                      <m:sSupPr>
                                        <m:ctrlPr>
                                          <a:rPr lang="en-US" sz="2000" i="1"/>
                                        </m:ctrlPr>
                                      </m:sSupPr>
                                      <m:e>
                                        <m:r>
                                          <a:rPr lang="en-US" sz="2000" i="1"/>
                                          <m:t>𝐵</m:t>
                                        </m:r>
                                      </m:e>
                                      <m:sup>
                                        <m:r>
                                          <a:rPr lang="en-US" sz="2000" i="1"/>
                                          <m:t>𝑇</m:t>
                                        </m:r>
                                      </m:sup>
                                    </m:sSup>
                                    <m:r>
                                      <a:rPr lang="en-US" sz="2000" i="1"/>
                                      <m:t>𝑃</m:t>
                                    </m:r>
                                    <m:r>
                                      <a:rPr lang="en-US" sz="2000"/>
                                      <m:t>+</m:t>
                                    </m:r>
                                    <m:r>
                                      <a:rPr lang="en-US" sz="2000" i="1"/>
                                      <m:t>𝑃𝐵</m:t>
                                    </m:r>
                                    <m:sSub>
                                      <m:sSubPr>
                                        <m:ctrlPr>
                                          <a:rPr lang="en-US" sz="2000" i="1"/>
                                        </m:ctrlPr>
                                      </m:sSubPr>
                                      <m:e>
                                        <m:r>
                                          <a:rPr lang="en-US" sz="2000" i="1"/>
                                          <m:t>𝐹</m:t>
                                        </m:r>
                                      </m:e>
                                      <m:sub>
                                        <m:r>
                                          <a:rPr lang="en-US" sz="2000" i="1"/>
                                          <m:t>1</m:t>
                                        </m:r>
                                      </m:sub>
                                    </m:sSub>
                                    <m:r>
                                      <a:rPr lang="en-US" sz="2000" i="1"/>
                                      <m:t>𝐶</m:t>
                                    </m:r>
                                    <m:sSubSup>
                                      <m:sSubSupPr>
                                        <m:ctrlPr>
                                          <a:rPr lang="en-US" sz="2000" i="1"/>
                                        </m:ctrlPr>
                                      </m:sSubSupPr>
                                      <m:e>
                                        <m:r>
                                          <a:rPr lang="en-US" sz="2000" i="1"/>
                                          <m:t>𝑄</m:t>
                                        </m:r>
                                      </m:e>
                                      <m:sub>
                                        <m:r>
                                          <a:rPr lang="en-US" sz="2000" i="1"/>
                                          <m:t>1</m:t>
                                        </m:r>
                                      </m:sub>
                                      <m:sup>
                                        <m:r>
                                          <a:rPr lang="en-US" sz="2000" i="1"/>
                                          <m:t>−1</m:t>
                                        </m:r>
                                      </m:sup>
                                    </m:sSubSup>
                                    <m:sSubSup>
                                      <m:sSubSupPr>
                                        <m:ctrlPr>
                                          <a:rPr lang="en-US" sz="2000" i="1"/>
                                        </m:ctrlPr>
                                      </m:sSubSupPr>
                                      <m:e>
                                        <m:r>
                                          <a:rPr lang="en-US" sz="2000" i="1"/>
                                          <m:t>𝐴</m:t>
                                        </m:r>
                                      </m:e>
                                      <m:sub>
                                        <m:r>
                                          <a:rPr lang="en-US" sz="2000" i="1"/>
                                          <m:t>𝑑</m:t>
                                        </m:r>
                                      </m:sub>
                                      <m:sup>
                                        <m:r>
                                          <a:rPr lang="en-US" sz="2000" i="1"/>
                                          <m:t>𝑇</m:t>
                                        </m:r>
                                      </m:sup>
                                    </m:sSubSup>
                                    <m:r>
                                      <a:rPr lang="en-US" sz="2000" i="1"/>
                                      <m:t>𝑃</m:t>
                                    </m:r>
                                  </m:e>
                                  <m:lim>
                                    <m:r>
                                      <a:rPr lang="en-US" sz="2000"/>
                                      <m:t>⏟</m:t>
                                    </m:r>
                                  </m:lim>
                                </m:limLow>
                              </m:e>
                              <m:lim>
                                <m:r>
                                  <m:rPr>
                                    <m:nor/>
                                  </m:rPr>
                                  <a:rPr lang="en-US" sz="2000">
                                    <a:latin typeface="Arial" panose="020B0604020202020204" pitchFamily="34" charset="0"/>
                                    <a:cs typeface="Arial" panose="020B0604020202020204" pitchFamily="34" charset="0"/>
                                  </a:rPr>
                                  <m:t>linear</m:t>
                                </m:r>
                                <m:r>
                                  <m:rPr>
                                    <m:nor/>
                                  </m:rPr>
                                  <a:rPr lang="en-US" sz="2000">
                                    <a:latin typeface="Arial" panose="020B0604020202020204" pitchFamily="34" charset="0"/>
                                    <a:cs typeface="Arial" panose="020B0604020202020204" pitchFamily="34" charset="0"/>
                                  </a:rPr>
                                  <m:t> </m:t>
                                </m:r>
                                <m:r>
                                  <m:rPr>
                                    <m:nor/>
                                  </m:rPr>
                                  <a:rPr lang="en-US" sz="2000">
                                    <a:latin typeface="Arial" panose="020B0604020202020204" pitchFamily="34" charset="0"/>
                                    <a:cs typeface="Arial" panose="020B0604020202020204" pitchFamily="34" charset="0"/>
                                  </a:rPr>
                                  <m:t>in</m:t>
                                </m:r>
                                <m:r>
                                  <m:rPr>
                                    <m:nor/>
                                  </m:rPr>
                                  <a:rPr lang="en-US" sz="2000">
                                    <a:latin typeface="Arial" panose="020B0604020202020204" pitchFamily="34" charset="0"/>
                                    <a:cs typeface="Arial" panose="020B0604020202020204" pitchFamily="34" charset="0"/>
                                  </a:rPr>
                                  <m:t> </m:t>
                                </m:r>
                                <m:sSub>
                                  <m:sSubPr>
                                    <m:ctrlPr>
                                      <a:rPr lang="en-US" sz="2000" i="1"/>
                                    </m:ctrlPr>
                                  </m:sSubPr>
                                  <m:e>
                                    <m:r>
                                      <a:rPr lang="en-US" sz="2000" i="1"/>
                                      <m:t>𝐹</m:t>
                                    </m:r>
                                  </m:e>
                                  <m:sub>
                                    <m:r>
                                      <a:rPr lang="en-US" sz="2000" i="1"/>
                                      <m:t>1</m:t>
                                    </m:r>
                                  </m:sub>
                                </m:sSub>
                              </m:lim>
                            </m:limLow>
                          </m:e>
                        </m:mr>
                        <m:mr>
                          <m:e/>
                          <m:e>
                            <m:r>
                              <a:rPr lang="en-US" sz="2000" i="1"/>
                              <m:t> </m:t>
                            </m:r>
                            <m:r>
                              <a:rPr lang="en-US" sz="2000"/>
                              <m:t>+</m:t>
                            </m:r>
                            <m:limLow>
                              <m:limLowPr>
                                <m:ctrlPr>
                                  <a:rPr lang="en-US" sz="2000" i="1"/>
                                </m:ctrlPr>
                              </m:limLowPr>
                              <m:e>
                                <m:limLow>
                                  <m:limLowPr>
                                    <m:ctrlPr>
                                      <a:rPr lang="en-US" sz="2000" i="1"/>
                                    </m:ctrlPr>
                                  </m:limLowPr>
                                  <m:e>
                                    <m:r>
                                      <a:rPr lang="en-US" sz="2000" i="1"/>
                                      <m:t>𝑃𝐵</m:t>
                                    </m:r>
                                    <m:sSub>
                                      <m:sSubPr>
                                        <m:ctrlPr>
                                          <a:rPr lang="en-US" sz="2000" i="1"/>
                                        </m:ctrlPr>
                                      </m:sSubPr>
                                      <m:e>
                                        <m:r>
                                          <a:rPr lang="en-US" sz="2000" i="1"/>
                                          <m:t>𝐹</m:t>
                                        </m:r>
                                      </m:e>
                                      <m:sub>
                                        <m:r>
                                          <a:rPr lang="en-US" sz="2000" i="1"/>
                                          <m:t>1</m:t>
                                        </m:r>
                                      </m:sub>
                                    </m:sSub>
                                    <m:r>
                                      <a:rPr lang="en-US" sz="2000" i="1"/>
                                      <m:t>𝐶</m:t>
                                    </m:r>
                                    <m:sSubSup>
                                      <m:sSubSupPr>
                                        <m:ctrlPr>
                                          <a:rPr lang="en-US" sz="2000" i="1"/>
                                        </m:ctrlPr>
                                      </m:sSubSupPr>
                                      <m:e>
                                        <m:r>
                                          <a:rPr lang="en-US" sz="2000" i="1"/>
                                          <m:t>𝑄</m:t>
                                        </m:r>
                                      </m:e>
                                      <m:sub>
                                        <m:r>
                                          <a:rPr lang="en-US" sz="2000" i="1"/>
                                          <m:t>1</m:t>
                                        </m:r>
                                      </m:sub>
                                      <m:sup>
                                        <m:r>
                                          <a:rPr lang="en-US" sz="2000" i="1"/>
                                          <m:t>−1</m:t>
                                        </m:r>
                                      </m:sup>
                                    </m:sSubSup>
                                    <m:sSup>
                                      <m:sSupPr>
                                        <m:ctrlPr>
                                          <a:rPr lang="en-US" sz="2000" i="1"/>
                                        </m:ctrlPr>
                                      </m:sSupPr>
                                      <m:e>
                                        <m:r>
                                          <a:rPr lang="en-US" sz="2000" i="1"/>
                                          <m:t>𝐶</m:t>
                                        </m:r>
                                      </m:e>
                                      <m:sup>
                                        <m:r>
                                          <a:rPr lang="en-US" sz="2000" i="1"/>
                                          <m:t>𝑇</m:t>
                                        </m:r>
                                      </m:sup>
                                    </m:sSup>
                                    <m:sSubSup>
                                      <m:sSubSupPr>
                                        <m:ctrlPr>
                                          <a:rPr lang="en-US" sz="2000" i="1"/>
                                        </m:ctrlPr>
                                      </m:sSubSupPr>
                                      <m:e>
                                        <m:r>
                                          <a:rPr lang="en-US" sz="2000" i="1"/>
                                          <m:t>𝐹</m:t>
                                        </m:r>
                                      </m:e>
                                      <m:sub>
                                        <m:r>
                                          <a:rPr lang="en-US" sz="2000" i="1"/>
                                          <m:t>1</m:t>
                                        </m:r>
                                      </m:sub>
                                      <m:sup>
                                        <m:r>
                                          <a:rPr lang="en-US" sz="2000" i="1"/>
                                          <m:t>𝑇</m:t>
                                        </m:r>
                                      </m:sup>
                                    </m:sSubSup>
                                    <m:sSup>
                                      <m:sSupPr>
                                        <m:ctrlPr>
                                          <a:rPr lang="en-US" sz="2000" i="1"/>
                                        </m:ctrlPr>
                                      </m:sSupPr>
                                      <m:e>
                                        <m:r>
                                          <a:rPr lang="en-US" sz="2000" i="1"/>
                                          <m:t>𝐵</m:t>
                                        </m:r>
                                      </m:e>
                                      <m:sup>
                                        <m:r>
                                          <a:rPr lang="en-US" sz="2000" i="1"/>
                                          <m:t>𝑇</m:t>
                                        </m:r>
                                      </m:sup>
                                    </m:sSup>
                                    <m:r>
                                      <a:rPr lang="en-US" sz="2000" i="1"/>
                                      <m:t>𝑃</m:t>
                                    </m:r>
                                  </m:e>
                                  <m:lim>
                                    <m:r>
                                      <a:rPr lang="en-US" sz="2000"/>
                                      <m:t>⏟</m:t>
                                    </m:r>
                                  </m:lim>
                                </m:limLow>
                              </m:e>
                              <m:lim>
                                <m:r>
                                  <m:rPr>
                                    <m:nor/>
                                  </m:rPr>
                                  <a:rPr lang="en-US" sz="2000">
                                    <a:latin typeface="Arial" panose="020B0604020202020204" pitchFamily="34" charset="0"/>
                                    <a:cs typeface="Arial" panose="020B0604020202020204" pitchFamily="34" charset="0"/>
                                  </a:rPr>
                                  <m:t>quadratic</m:t>
                                </m:r>
                                <m:r>
                                  <m:rPr>
                                    <m:nor/>
                                  </m:rPr>
                                  <a:rPr lang="en-US" sz="2000">
                                    <a:latin typeface="Arial" panose="020B0604020202020204" pitchFamily="34" charset="0"/>
                                    <a:cs typeface="Arial" panose="020B0604020202020204" pitchFamily="34" charset="0"/>
                                  </a:rPr>
                                  <m:t> </m:t>
                                </m:r>
                                <m:r>
                                  <m:rPr>
                                    <m:nor/>
                                  </m:rPr>
                                  <a:rPr lang="en-US" sz="2000">
                                    <a:latin typeface="Arial" panose="020B0604020202020204" pitchFamily="34" charset="0"/>
                                    <a:cs typeface="Arial" panose="020B0604020202020204" pitchFamily="34" charset="0"/>
                                  </a:rPr>
                                  <m:t>in</m:t>
                                </m:r>
                                <m:r>
                                  <m:rPr>
                                    <m:nor/>
                                  </m:rPr>
                                  <a:rPr lang="en-US" sz="2000">
                                    <a:latin typeface="Arial" panose="020B0604020202020204" pitchFamily="34" charset="0"/>
                                    <a:cs typeface="Arial" panose="020B0604020202020204" pitchFamily="34" charset="0"/>
                                  </a:rPr>
                                  <m:t> </m:t>
                                </m:r>
                                <m:sSub>
                                  <m:sSubPr>
                                    <m:ctrlPr>
                                      <a:rPr lang="en-US" sz="2000" i="1"/>
                                    </m:ctrlPr>
                                  </m:sSubPr>
                                  <m:e>
                                    <m:r>
                                      <a:rPr lang="en-US" sz="2000" i="1"/>
                                      <m:t>𝐹</m:t>
                                    </m:r>
                                  </m:e>
                                  <m:sub>
                                    <m:r>
                                      <a:rPr lang="en-US" sz="2000" i="1"/>
                                      <m:t>1</m:t>
                                    </m:r>
                                  </m:sub>
                                </m:sSub>
                              </m:lim>
                            </m:limLow>
                          </m:e>
                        </m:mr>
                        <m:mr>
                          <m:e/>
                          <m:e>
                            <m:r>
                              <a:rPr lang="en-US" sz="2000" i="1"/>
                              <m:t> </m:t>
                            </m:r>
                            <m:r>
                              <a:rPr lang="en-US" sz="2000"/>
                              <m:t>+</m:t>
                            </m:r>
                            <m:limLow>
                              <m:limLowPr>
                                <m:ctrlPr>
                                  <a:rPr lang="en-US" sz="2000" i="1"/>
                                </m:ctrlPr>
                              </m:limLowPr>
                              <m:e>
                                <m:limLow>
                                  <m:limLowPr>
                                    <m:ctrlPr>
                                      <a:rPr lang="en-US" sz="2000" i="1"/>
                                    </m:ctrlPr>
                                  </m:limLowPr>
                                  <m:e>
                                    <m:r>
                                      <a:rPr lang="en-US" sz="2000" i="1"/>
                                      <m:t>𝑃𝐵</m:t>
                                    </m:r>
                                    <m:sSub>
                                      <m:sSubPr>
                                        <m:ctrlPr>
                                          <a:rPr lang="en-US" sz="2000" i="1"/>
                                        </m:ctrlPr>
                                      </m:sSubPr>
                                      <m:e>
                                        <m:r>
                                          <a:rPr lang="en-US" sz="2000" i="1"/>
                                          <m:t>𝐹</m:t>
                                        </m:r>
                                      </m:e>
                                      <m:sub>
                                        <m:r>
                                          <a:rPr lang="en-US" sz="2000" i="1"/>
                                          <m:t>2</m:t>
                                        </m:r>
                                      </m:sub>
                                    </m:sSub>
                                    <m:r>
                                      <a:rPr lang="en-US" sz="2000" i="1"/>
                                      <m:t>𝐶</m:t>
                                    </m:r>
                                    <m:sSubSup>
                                      <m:sSubSupPr>
                                        <m:ctrlPr>
                                          <a:rPr lang="en-US" sz="2000" i="1"/>
                                        </m:ctrlPr>
                                      </m:sSubSupPr>
                                      <m:e>
                                        <m:r>
                                          <a:rPr lang="en-US" sz="2000" i="1"/>
                                          <m:t>𝑄</m:t>
                                        </m:r>
                                      </m:e>
                                      <m:sub>
                                        <m:r>
                                          <a:rPr lang="en-US" sz="2000" i="1"/>
                                          <m:t>2</m:t>
                                        </m:r>
                                      </m:sub>
                                      <m:sup>
                                        <m:r>
                                          <a:rPr lang="en-US" sz="2000" i="1"/>
                                          <m:t>−1</m:t>
                                        </m:r>
                                      </m:sup>
                                    </m:sSubSup>
                                    <m:sSup>
                                      <m:sSupPr>
                                        <m:ctrlPr>
                                          <a:rPr lang="en-US" sz="2000" i="1"/>
                                        </m:ctrlPr>
                                      </m:sSupPr>
                                      <m:e>
                                        <m:r>
                                          <a:rPr lang="en-US" sz="2000" i="1"/>
                                          <m:t>𝐶</m:t>
                                        </m:r>
                                      </m:e>
                                      <m:sup>
                                        <m:r>
                                          <a:rPr lang="en-US" sz="2000" i="1"/>
                                          <m:t>𝑇</m:t>
                                        </m:r>
                                      </m:sup>
                                    </m:sSup>
                                    <m:sSubSup>
                                      <m:sSubSupPr>
                                        <m:ctrlPr>
                                          <a:rPr lang="en-US" sz="2000" i="1"/>
                                        </m:ctrlPr>
                                      </m:sSubSupPr>
                                      <m:e>
                                        <m:r>
                                          <a:rPr lang="en-US" sz="2000" i="1"/>
                                          <m:t>𝐹</m:t>
                                        </m:r>
                                      </m:e>
                                      <m:sub>
                                        <m:r>
                                          <a:rPr lang="en-US" sz="2000" i="1"/>
                                          <m:t>2</m:t>
                                        </m:r>
                                      </m:sub>
                                      <m:sup>
                                        <m:r>
                                          <a:rPr lang="en-US" sz="2000" i="1"/>
                                          <m:t>𝑇</m:t>
                                        </m:r>
                                      </m:sup>
                                    </m:sSubSup>
                                    <m:sSup>
                                      <m:sSupPr>
                                        <m:ctrlPr>
                                          <a:rPr lang="en-US" sz="2000" i="1"/>
                                        </m:ctrlPr>
                                      </m:sSupPr>
                                      <m:e>
                                        <m:r>
                                          <a:rPr lang="en-US" sz="2000" i="1"/>
                                          <m:t>𝐵</m:t>
                                        </m:r>
                                      </m:e>
                                      <m:sup>
                                        <m:r>
                                          <a:rPr lang="en-US" sz="2000" i="1"/>
                                          <m:t>𝑇</m:t>
                                        </m:r>
                                      </m:sup>
                                    </m:sSup>
                                    <m:r>
                                      <a:rPr lang="en-US" sz="2000" i="1"/>
                                      <m:t>𝑃</m:t>
                                    </m:r>
                                  </m:e>
                                  <m:lim>
                                    <m:r>
                                      <a:rPr lang="en-US" sz="2000"/>
                                      <m:t>⏟</m:t>
                                    </m:r>
                                  </m:lim>
                                </m:limLow>
                              </m:e>
                              <m:lim>
                                <m:r>
                                  <m:rPr>
                                    <m:nor/>
                                  </m:rPr>
                                  <a:rPr lang="en-US" sz="2000">
                                    <a:latin typeface="Arial" panose="020B0604020202020204" pitchFamily="34" charset="0"/>
                                    <a:cs typeface="Arial" panose="020B0604020202020204" pitchFamily="34" charset="0"/>
                                  </a:rPr>
                                  <m:t>quadratic</m:t>
                                </m:r>
                                <m:r>
                                  <m:rPr>
                                    <m:nor/>
                                  </m:rPr>
                                  <a:rPr lang="en-US" sz="2000">
                                    <a:latin typeface="Arial" panose="020B0604020202020204" pitchFamily="34" charset="0"/>
                                    <a:cs typeface="Arial" panose="020B0604020202020204" pitchFamily="34" charset="0"/>
                                  </a:rPr>
                                  <m:t> </m:t>
                                </m:r>
                                <m:r>
                                  <m:rPr>
                                    <m:nor/>
                                  </m:rPr>
                                  <a:rPr lang="en-US" sz="2000">
                                    <a:latin typeface="Arial" panose="020B0604020202020204" pitchFamily="34" charset="0"/>
                                    <a:cs typeface="Arial" panose="020B0604020202020204" pitchFamily="34" charset="0"/>
                                  </a:rPr>
                                  <m:t>in</m:t>
                                </m:r>
                                <m:r>
                                  <m:rPr>
                                    <m:nor/>
                                  </m:rPr>
                                  <a:rPr lang="en-US" sz="2000">
                                    <a:latin typeface="Arial" panose="020B0604020202020204" pitchFamily="34" charset="0"/>
                                    <a:cs typeface="Arial" panose="020B0604020202020204" pitchFamily="34" charset="0"/>
                                  </a:rPr>
                                  <m:t> </m:t>
                                </m:r>
                                <m:sSub>
                                  <m:sSubPr>
                                    <m:ctrlPr>
                                      <a:rPr lang="en-US" sz="2000" i="1"/>
                                    </m:ctrlPr>
                                  </m:sSubPr>
                                  <m:e>
                                    <m:r>
                                      <a:rPr lang="en-US" sz="2000" i="1"/>
                                      <m:t>𝐹</m:t>
                                    </m:r>
                                  </m:e>
                                  <m:sub>
                                    <m:r>
                                      <a:rPr lang="en-US" sz="2000" i="1"/>
                                      <m:t>2</m:t>
                                    </m:r>
                                  </m:sub>
                                </m:sSub>
                              </m:lim>
                            </m:limLow>
                            <m:r>
                              <a:rPr lang="en-US" sz="2000"/>
                              <m:t>&lt;</m:t>
                            </m:r>
                            <m:r>
                              <a:rPr lang="en-US" sz="2000" i="1"/>
                              <m:t>0</m:t>
                            </m:r>
                            <m:r>
                              <a:rPr lang="en-US" sz="2000"/>
                              <m:t>.</m:t>
                            </m:r>
                          </m:e>
                        </m:mr>
                      </m:m>
                    </m:oMath>
                  </m:oMathPara>
                </a14:m>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p:txBody>
          </p:sp>
        </mc:Choice>
        <mc:Fallback>
          <p:sp>
            <p:nvSpPr>
              <p:cNvPr id="4" name="Content Placeholder 3">
                <a:extLst>
                  <a:ext uri="{FF2B5EF4-FFF2-40B4-BE49-F238E27FC236}">
                    <a16:creationId xmlns:a16="http://schemas.microsoft.com/office/drawing/2014/main" id="{D0C64ED9-C472-C7AF-0F3B-C68AF91DD14B}"/>
                  </a:ext>
                </a:extLst>
              </p:cNvPr>
              <p:cNvSpPr txBox="1">
                <a:spLocks noRot="1" noChangeAspect="1" noMove="1" noResize="1" noEditPoints="1" noAdjustHandles="1" noChangeArrowheads="1" noChangeShapeType="1" noTextEdit="1"/>
              </p:cNvSpPr>
              <p:nvPr/>
            </p:nvSpPr>
            <p:spPr>
              <a:xfrm>
                <a:off x="187283" y="3158836"/>
                <a:ext cx="9970871" cy="3637248"/>
              </a:xfrm>
              <a:prstGeom prst="rect">
                <a:avLst/>
              </a:prstGeom>
              <a:blipFill>
                <a:blip r:embed="rId5"/>
                <a:stretch>
                  <a:fillRect l="-306" t="-670" b="-1675"/>
                </a:stretch>
              </a:blipFill>
            </p:spPr>
            <p:txBody>
              <a:bodyPr/>
              <a:lstStyle/>
              <a:p>
                <a:r>
                  <a:rPr lang="en-US">
                    <a:noFill/>
                  </a:rPr>
                  <a:t> </a:t>
                </a:r>
              </a:p>
            </p:txBody>
          </p:sp>
        </mc:Fallback>
      </mc:AlternateContent>
      <p:sp>
        <p:nvSpPr>
          <p:cNvPr id="5" name="Slide Number Placeholder 2">
            <a:extLst>
              <a:ext uri="{FF2B5EF4-FFF2-40B4-BE49-F238E27FC236}">
                <a16:creationId xmlns:a16="http://schemas.microsoft.com/office/drawing/2014/main" id="{1597E486-3F93-5938-F05F-4E5F2F60063E}"/>
              </a:ext>
            </a:extLst>
          </p:cNvPr>
          <p:cNvSpPr>
            <a:spLocks noGrp="1"/>
          </p:cNvSpPr>
          <p:nvPr>
            <p:ph type="sldNum" sz="quarter" idx="12"/>
          </p:nvPr>
        </p:nvSpPr>
        <p:spPr>
          <a:xfrm>
            <a:off x="7795578" y="6141113"/>
            <a:ext cx="1096432" cy="716887"/>
          </a:xfrm>
        </p:spPr>
        <p:txBody>
          <a:bodyPr/>
          <a:lstStyle/>
          <a:p>
            <a:r>
              <a:rPr lang="en-US" dirty="0"/>
              <a:t>14</a:t>
            </a:r>
          </a:p>
        </p:txBody>
      </p:sp>
    </p:spTree>
    <p:extLst>
      <p:ext uri="{BB962C8B-B14F-4D97-AF65-F5344CB8AC3E}">
        <p14:creationId xmlns:p14="http://schemas.microsoft.com/office/powerpoint/2010/main" val="2954858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fade">
                                      <p:cBhvr>
                                        <p:cTn id="22" dur="1000"/>
                                        <p:tgtEl>
                                          <p:spTgt spid="4">
                                            <p:txEl>
                                              <p:pRg st="0" end="0"/>
                                            </p:txEl>
                                          </p:spTgt>
                                        </p:tgtEl>
                                      </p:cBhvr>
                                    </p:animEffect>
                                    <p:anim calcmode="lin" valueType="num">
                                      <p:cBhvr>
                                        <p:cTn id="23"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4">
                                            <p:txEl>
                                              <p:pRg st="1" end="1"/>
                                            </p:txEl>
                                          </p:spTgt>
                                        </p:tgtEl>
                                        <p:attrNameLst>
                                          <p:attrName>style.visibility</p:attrName>
                                        </p:attrNameLst>
                                      </p:cBhvr>
                                      <p:to>
                                        <p:strVal val="visible"/>
                                      </p:to>
                                    </p:set>
                                    <p:animEffect transition="in" filter="fade">
                                      <p:cBhvr>
                                        <p:cTn id="29" dur="1000"/>
                                        <p:tgtEl>
                                          <p:spTgt spid="4">
                                            <p:txEl>
                                              <p:pRg st="1" end="1"/>
                                            </p:txEl>
                                          </p:spTgt>
                                        </p:tgtEl>
                                      </p:cBhvr>
                                    </p:animEffect>
                                    <p:anim calcmode="lin" valueType="num">
                                      <p:cBhvr>
                                        <p:cTn id="30"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3902A8-5957-2D18-94F0-7A4249072B8E}"/>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07985EA7-6F7C-CF8B-B926-899D71F76691}"/>
                  </a:ext>
                </a:extLst>
              </p:cNvPr>
              <p:cNvSpPr>
                <a:spLocks noGrp="1"/>
              </p:cNvSpPr>
              <p:nvPr>
                <p:ph type="title"/>
              </p:nvPr>
            </p:nvSpPr>
            <p:spPr>
              <a:xfrm>
                <a:off x="299581" y="476421"/>
                <a:ext cx="9642440" cy="887659"/>
              </a:xfrm>
            </p:spPr>
            <p:txBody>
              <a:bodyPr>
                <a:normAutofit fontScale="90000"/>
              </a:bodyPr>
              <a:lstStyle/>
              <a:p>
                <a:r>
                  <a:rPr lang="en-US" b="1" dirty="0">
                    <a:latin typeface="Arial" panose="020B0604020202020204" pitchFamily="34" charset="0"/>
                    <a:cs typeface="Arial" panose="020B0604020202020204" pitchFamily="34" charset="0"/>
                  </a:rPr>
                  <a:t>Left and right multiply by </a:t>
                </a:r>
                <a14:m>
                  <m:oMath xmlns:m="http://schemas.openxmlformats.org/officeDocument/2006/math">
                    <m:r>
                      <a:rPr lang="en-US" b="1" i="1"/>
                      <m:t>𝑿</m:t>
                    </m:r>
                    <m:r>
                      <a:rPr lang="en-US" b="1"/>
                      <m:t>=</m:t>
                    </m:r>
                    <m:sSup>
                      <m:sSupPr>
                        <m:ctrlPr>
                          <a:rPr lang="en-US" b="1" i="1"/>
                        </m:ctrlPr>
                      </m:sSupPr>
                      <m:e>
                        <m:r>
                          <a:rPr lang="en-US" b="1" i="1"/>
                          <m:t>𝑷</m:t>
                        </m:r>
                      </m:e>
                      <m:sup>
                        <m:r>
                          <a:rPr lang="en-US" b="1" i="1"/>
                          <m:t>−</m:t>
                        </m:r>
                        <m:r>
                          <a:rPr lang="en-US" b="1" i="1"/>
                          <m:t>𝟏</m:t>
                        </m:r>
                      </m:sup>
                    </m:sSup>
                  </m:oMath>
                </a14:m>
                <a:r>
                  <a:rPr lang="en-US" b="1" dirty="0">
                    <a:latin typeface="Arial" panose="020B0604020202020204" pitchFamily="34" charset="0"/>
                    <a:cs typeface="Arial" panose="020B0604020202020204" pitchFamily="34" charset="0"/>
                  </a:rPr>
                  <a:t> (linearization)</a:t>
                </a:r>
              </a:p>
            </p:txBody>
          </p:sp>
        </mc:Choice>
        <mc:Fallback>
          <p:sp>
            <p:nvSpPr>
              <p:cNvPr id="2" name="Title 1">
                <a:extLst>
                  <a:ext uri="{FF2B5EF4-FFF2-40B4-BE49-F238E27FC236}">
                    <a16:creationId xmlns:a16="http://schemas.microsoft.com/office/drawing/2014/main" id="{07985EA7-6F7C-CF8B-B926-899D71F76691}"/>
                  </a:ext>
                </a:extLst>
              </p:cNvPr>
              <p:cNvSpPr>
                <a:spLocks noGrp="1" noRot="1" noChangeAspect="1" noMove="1" noResize="1" noEditPoints="1" noAdjustHandles="1" noChangeArrowheads="1" noChangeShapeType="1" noTextEdit="1"/>
              </p:cNvSpPr>
              <p:nvPr>
                <p:ph type="title"/>
              </p:nvPr>
            </p:nvSpPr>
            <p:spPr>
              <a:xfrm>
                <a:off x="299581" y="476421"/>
                <a:ext cx="9642440" cy="887659"/>
              </a:xfrm>
              <a:blipFill>
                <a:blip r:embed="rId3"/>
                <a:stretch>
                  <a:fillRect l="-1580" t="-7534"/>
                </a:stretch>
              </a:blipFill>
            </p:spPr>
            <p:txBody>
              <a:bodyPr/>
              <a:lstStyle/>
              <a:p>
                <a:r>
                  <a:rPr lang="en-US">
                    <a:noFill/>
                  </a:rPr>
                  <a:t> </a:t>
                </a:r>
              </a:p>
            </p:txBody>
          </p:sp>
        </mc:Fallback>
      </mc:AlternateContent>
      <p:sp>
        <p:nvSpPr>
          <p:cNvPr id="6" name="Content Placeholder 3">
            <a:extLst>
              <a:ext uri="{FF2B5EF4-FFF2-40B4-BE49-F238E27FC236}">
                <a16:creationId xmlns:a16="http://schemas.microsoft.com/office/drawing/2014/main" id="{C978E8E0-B6F9-BA47-5653-7D5D527D71F8}"/>
              </a:ext>
            </a:extLst>
          </p:cNvPr>
          <p:cNvSpPr txBox="1">
            <a:spLocks/>
          </p:cNvSpPr>
          <p:nvPr/>
        </p:nvSpPr>
        <p:spPr>
          <a:xfrm>
            <a:off x="187283" y="4207555"/>
            <a:ext cx="7047705"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0F09F2CA-A431-4744-926D-DC49C836453B}"/>
                  </a:ext>
                </a:extLst>
              </p:cNvPr>
              <p:cNvSpPr txBox="1">
                <a:spLocks/>
              </p:cNvSpPr>
              <p:nvPr/>
            </p:nvSpPr>
            <p:spPr>
              <a:xfrm>
                <a:off x="299581" y="1230283"/>
                <a:ext cx="9970871" cy="515129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dirty="0"/>
                  <a:t>Multiply (5.1) on left and right by </a:t>
                </a:r>
                <a14:m>
                  <m:oMath xmlns:m="http://schemas.openxmlformats.org/officeDocument/2006/math">
                    <m:r>
                      <a:rPr lang="en-US" i="1"/>
                      <m:t>𝑋</m:t>
                    </m:r>
                  </m:oMath>
                </a14:m>
                <a:r>
                  <a:rPr lang="en-US" dirty="0"/>
                  <a:t>. Use </a:t>
                </a:r>
                <a14:m>
                  <m:oMath xmlns:m="http://schemas.openxmlformats.org/officeDocument/2006/math">
                    <m:r>
                      <a:rPr lang="en-US" i="1"/>
                      <m:t>𝑋𝑃</m:t>
                    </m:r>
                    <m:r>
                      <a:rPr lang="en-US"/>
                      <m:t>=</m:t>
                    </m:r>
                    <m:r>
                      <a:rPr lang="en-US" i="1"/>
                      <m:t>𝐼</m:t>
                    </m:r>
                  </m:oMath>
                </a14:m>
                <a:r>
                  <a:rPr lang="en-US" dirty="0"/>
                  <a:t>. Term-wise:</a:t>
                </a:r>
              </a:p>
              <a:p>
                <a:pPr lvl="1">
                  <a:buFont typeface="Courier New" panose="02070309020205020404" pitchFamily="49" charset="0"/>
                  <a:buChar char="o"/>
                </a:pPr>
                <a14:m>
                  <m:oMath xmlns:m="http://schemas.openxmlformats.org/officeDocument/2006/math">
                    <m:r>
                      <a:rPr lang="en-US" sz="1800" i="1"/>
                      <m:t>𝑋</m:t>
                    </m:r>
                    <m:d>
                      <m:dPr>
                        <m:ctrlPr>
                          <a:rPr lang="en-US" sz="1800" i="1"/>
                        </m:ctrlPr>
                      </m:dPr>
                      <m:e>
                        <m:r>
                          <a:rPr lang="en-US" sz="1800" i="1"/>
                          <m:t>𝑃𝐴</m:t>
                        </m:r>
                        <m:r>
                          <a:rPr lang="en-US" sz="1800"/>
                          <m:t>+</m:t>
                        </m:r>
                        <m:sSup>
                          <m:sSupPr>
                            <m:ctrlPr>
                              <a:rPr lang="en-US" sz="1800" i="1"/>
                            </m:ctrlPr>
                          </m:sSupPr>
                          <m:e>
                            <m:r>
                              <a:rPr lang="en-US" sz="1800" i="1"/>
                              <m:t>𝐴</m:t>
                            </m:r>
                          </m:e>
                          <m:sup>
                            <m:r>
                              <a:rPr lang="en-US" sz="1800" i="1"/>
                              <m:t>𝑇</m:t>
                            </m:r>
                          </m:sup>
                        </m:sSup>
                        <m:r>
                          <a:rPr lang="en-US" sz="1800" i="1"/>
                          <m:t>𝑃</m:t>
                        </m:r>
                      </m:e>
                    </m:d>
                    <m:r>
                      <a:rPr lang="en-US" sz="1800" i="1"/>
                      <m:t>𝑋</m:t>
                    </m:r>
                    <m:r>
                      <a:rPr lang="en-US" sz="1800"/>
                      <m:t>=</m:t>
                    </m:r>
                    <m:r>
                      <a:rPr lang="en-US" sz="1800" i="1"/>
                      <m:t>𝐴𝑋</m:t>
                    </m:r>
                    <m:r>
                      <a:rPr lang="en-US" sz="1800"/>
                      <m:t>+</m:t>
                    </m:r>
                    <m:r>
                      <a:rPr lang="en-US" sz="1800" i="1"/>
                      <m:t>𝑋</m:t>
                    </m:r>
                    <m:sSup>
                      <m:sSupPr>
                        <m:ctrlPr>
                          <a:rPr lang="en-US" sz="1800" i="1"/>
                        </m:ctrlPr>
                      </m:sSupPr>
                      <m:e>
                        <m:r>
                          <a:rPr lang="en-US" sz="1800" i="1"/>
                          <m:t>𝐴</m:t>
                        </m:r>
                      </m:e>
                      <m:sup>
                        <m:r>
                          <a:rPr lang="en-US" sz="1800" i="1"/>
                          <m:t>𝑇</m:t>
                        </m:r>
                      </m:sup>
                    </m:sSup>
                    <m:r>
                      <a:rPr lang="en-US" sz="1800"/>
                      <m:t>.</m:t>
                    </m:r>
                  </m:oMath>
                </a14:m>
                <a:endParaRPr lang="en-US" sz="1800" dirty="0"/>
              </a:p>
              <a:p>
                <a:pPr lvl="1">
                  <a:buFont typeface="Courier New" panose="02070309020205020404" pitchFamily="49" charset="0"/>
                  <a:buChar char="o"/>
                </a:pPr>
                <a14:m>
                  <m:oMath xmlns:m="http://schemas.openxmlformats.org/officeDocument/2006/math">
                    <m:r>
                      <a:rPr lang="en-US" sz="1800" i="1"/>
                      <m:t>𝑋</m:t>
                    </m:r>
                    <m:d>
                      <m:dPr>
                        <m:ctrlPr>
                          <a:rPr lang="en-US" sz="1800" i="1"/>
                        </m:ctrlPr>
                      </m:dPr>
                      <m:e>
                        <m:sSub>
                          <m:sSubPr>
                            <m:ctrlPr>
                              <a:rPr lang="en-US" sz="1800" i="1"/>
                            </m:ctrlPr>
                          </m:sSubPr>
                          <m:e>
                            <m:r>
                              <a:rPr lang="en-US" sz="1800" i="1"/>
                              <m:t>𝑄</m:t>
                            </m:r>
                          </m:e>
                          <m:sub>
                            <m:r>
                              <a:rPr lang="en-US" sz="1800" i="1"/>
                              <m:t>1</m:t>
                            </m:r>
                          </m:sub>
                        </m:sSub>
                        <m:r>
                          <a:rPr lang="en-US" sz="1800"/>
                          <m:t>+</m:t>
                        </m:r>
                        <m:sSub>
                          <m:sSubPr>
                            <m:ctrlPr>
                              <a:rPr lang="en-US" sz="1800" i="1"/>
                            </m:ctrlPr>
                          </m:sSubPr>
                          <m:e>
                            <m:r>
                              <a:rPr lang="en-US" sz="1800" i="1"/>
                              <m:t>𝑄</m:t>
                            </m:r>
                          </m:e>
                          <m:sub>
                            <m:r>
                              <a:rPr lang="en-US" sz="1800" i="1"/>
                              <m:t>2</m:t>
                            </m:r>
                          </m:sub>
                        </m:sSub>
                      </m:e>
                    </m:d>
                    <m:r>
                      <a:rPr lang="en-US" sz="1800" i="1"/>
                      <m:t>𝑋</m:t>
                    </m:r>
                    <m:r>
                      <a:rPr lang="en-US" sz="1800"/>
                      <m:t>=</m:t>
                    </m:r>
                    <m:r>
                      <a:rPr lang="en-US" sz="1800" i="1"/>
                      <m:t>𝑋</m:t>
                    </m:r>
                    <m:sSub>
                      <m:sSubPr>
                        <m:ctrlPr>
                          <a:rPr lang="en-US" sz="1800" i="1"/>
                        </m:ctrlPr>
                      </m:sSubPr>
                      <m:e>
                        <m:r>
                          <a:rPr lang="en-US" sz="1800" i="1"/>
                          <m:t>𝑄</m:t>
                        </m:r>
                      </m:e>
                      <m:sub>
                        <m:r>
                          <a:rPr lang="en-US" sz="1800" i="1"/>
                          <m:t>1</m:t>
                        </m:r>
                      </m:sub>
                    </m:sSub>
                    <m:r>
                      <a:rPr lang="en-US" sz="1800" i="1"/>
                      <m:t>𝑋</m:t>
                    </m:r>
                    <m:r>
                      <a:rPr lang="en-US" sz="1800"/>
                      <m:t>+</m:t>
                    </m:r>
                    <m:r>
                      <a:rPr lang="en-US" sz="1800" i="1"/>
                      <m:t>𝑋</m:t>
                    </m:r>
                    <m:sSub>
                      <m:sSubPr>
                        <m:ctrlPr>
                          <a:rPr lang="en-US" sz="1800" i="1"/>
                        </m:ctrlPr>
                      </m:sSubPr>
                      <m:e>
                        <m:r>
                          <a:rPr lang="en-US" sz="1800" i="1"/>
                          <m:t>𝑄</m:t>
                        </m:r>
                      </m:e>
                      <m:sub>
                        <m:r>
                          <a:rPr lang="en-US" sz="1800" i="1"/>
                          <m:t>2</m:t>
                        </m:r>
                      </m:sub>
                    </m:sSub>
                    <m:r>
                      <a:rPr lang="en-US" sz="1800" i="1"/>
                      <m:t>𝑋</m:t>
                    </m:r>
                  </m:oMath>
                </a14:m>
                <a:endParaRPr lang="en-US" sz="1800" dirty="0"/>
              </a:p>
              <a:p>
                <a:pPr lvl="1">
                  <a:buFont typeface="Courier New" panose="02070309020205020404" pitchFamily="49" charset="0"/>
                  <a:buChar char="o"/>
                </a:pPr>
                <a14:m>
                  <m:oMath xmlns:m="http://schemas.openxmlformats.org/officeDocument/2006/math">
                    <m:r>
                      <a:rPr lang="en-US" sz="1800" i="1"/>
                      <m:t>𝑋</m:t>
                    </m:r>
                    <m:sSup>
                      <m:sSupPr>
                        <m:ctrlPr>
                          <a:rPr lang="en-US" sz="1800" i="1"/>
                        </m:ctrlPr>
                      </m:sSupPr>
                      <m:e>
                        <m:r>
                          <a:rPr lang="en-US" sz="1800" i="1"/>
                          <m:t>𝐿</m:t>
                        </m:r>
                      </m:e>
                      <m:sup>
                        <m:r>
                          <a:rPr lang="en-US" sz="1800" i="1"/>
                          <m:t>𝑇</m:t>
                        </m:r>
                      </m:sup>
                    </m:sSup>
                    <m:r>
                      <a:rPr lang="en-US" sz="1800" i="1"/>
                      <m:t>𝐿𝑋</m:t>
                    </m:r>
                    <m:r>
                      <a:rPr lang="en-US" sz="1800"/>
                      <m:t>=</m:t>
                    </m:r>
                    <m:r>
                      <a:rPr lang="en-US" sz="1800" i="1"/>
                      <m:t>𝑋</m:t>
                    </m:r>
                    <m:sSup>
                      <m:sSupPr>
                        <m:ctrlPr>
                          <a:rPr lang="en-US" sz="1800" i="1"/>
                        </m:ctrlPr>
                      </m:sSupPr>
                      <m:e>
                        <m:r>
                          <a:rPr lang="en-US" sz="1800" i="1"/>
                          <m:t>𝐿</m:t>
                        </m:r>
                      </m:e>
                      <m:sup>
                        <m:r>
                          <a:rPr lang="en-US" sz="1800" i="1"/>
                          <m:t>𝑇</m:t>
                        </m:r>
                      </m:sup>
                    </m:sSup>
                    <m:r>
                      <a:rPr lang="en-US" sz="1800" i="1"/>
                      <m:t>𝐿𝑋</m:t>
                    </m:r>
                  </m:oMath>
                </a14:m>
                <a:r>
                  <a:rPr lang="en-US" sz="1800" dirty="0"/>
                  <a:t>.</a:t>
                </a:r>
              </a:p>
              <a:p>
                <a:pPr lvl="0"/>
                <a:r>
                  <a:rPr lang="en-US" dirty="0"/>
                  <a:t>For controller quadratic terms: </a:t>
                </a:r>
                <a:endParaRPr lang="en-US" i="1" dirty="0"/>
              </a:p>
              <a:p>
                <a:pPr marL="0" lvl="0" indent="0">
                  <a:buNone/>
                </a:pPr>
                <a14:m>
                  <m:oMathPara xmlns:m="http://schemas.openxmlformats.org/officeDocument/2006/math">
                    <m:oMathParaPr>
                      <m:jc m:val="centerGroup"/>
                    </m:oMathParaPr>
                    <m:oMath xmlns:m="http://schemas.openxmlformats.org/officeDocument/2006/math">
                      <m:r>
                        <a:rPr lang="en-US" i="1"/>
                        <m:t>𝑋</m:t>
                      </m:r>
                      <m:d>
                        <m:dPr>
                          <m:ctrlPr>
                            <a:rPr lang="en-US" i="1"/>
                          </m:ctrlPr>
                        </m:dPr>
                        <m:e>
                          <m:r>
                            <a:rPr lang="en-US" i="1"/>
                            <m:t>𝑃𝐵</m:t>
                          </m:r>
                          <m:sSub>
                            <m:sSubPr>
                              <m:ctrlPr>
                                <a:rPr lang="en-US" i="1"/>
                              </m:ctrlPr>
                            </m:sSubPr>
                            <m:e>
                              <m:r>
                                <a:rPr lang="en-US" i="1"/>
                                <m:t>𝐹</m:t>
                              </m:r>
                            </m:e>
                            <m:sub>
                              <m:r>
                                <a:rPr lang="en-US" i="1"/>
                                <m:t>2</m:t>
                              </m:r>
                            </m:sub>
                          </m:sSub>
                          <m:r>
                            <a:rPr lang="en-US" i="1"/>
                            <m:t>𝐶</m:t>
                          </m:r>
                          <m:sSubSup>
                            <m:sSubSupPr>
                              <m:ctrlPr>
                                <a:rPr lang="en-US" i="1"/>
                              </m:ctrlPr>
                            </m:sSubSupPr>
                            <m:e>
                              <m:r>
                                <a:rPr lang="en-US" i="1"/>
                                <m:t>𝑄</m:t>
                              </m:r>
                            </m:e>
                            <m:sub>
                              <m:r>
                                <a:rPr lang="en-US" i="1"/>
                                <m:t>2</m:t>
                              </m:r>
                            </m:sub>
                            <m:sup>
                              <m:r>
                                <a:rPr lang="en-US" i="1"/>
                                <m:t>−1</m:t>
                              </m:r>
                            </m:sup>
                          </m:sSubSup>
                          <m:sSup>
                            <m:sSupPr>
                              <m:ctrlPr>
                                <a:rPr lang="en-US" i="1"/>
                              </m:ctrlPr>
                            </m:sSupPr>
                            <m:e>
                              <m:r>
                                <a:rPr lang="en-US" i="1"/>
                                <m:t>𝐶</m:t>
                              </m:r>
                            </m:e>
                            <m:sup>
                              <m:r>
                                <a:rPr lang="en-US" i="1"/>
                                <m:t>𝑇</m:t>
                              </m:r>
                            </m:sup>
                          </m:sSup>
                          <m:sSubSup>
                            <m:sSubSupPr>
                              <m:ctrlPr>
                                <a:rPr lang="en-US" i="1"/>
                              </m:ctrlPr>
                            </m:sSubSupPr>
                            <m:e>
                              <m:r>
                                <a:rPr lang="en-US" i="1"/>
                                <m:t>𝐹</m:t>
                              </m:r>
                            </m:e>
                            <m:sub>
                              <m:r>
                                <a:rPr lang="en-US" i="1"/>
                                <m:t>2</m:t>
                              </m:r>
                            </m:sub>
                            <m:sup>
                              <m:r>
                                <a:rPr lang="en-US" i="1"/>
                                <m:t>𝑇</m:t>
                              </m:r>
                            </m:sup>
                          </m:sSubSup>
                          <m:sSup>
                            <m:sSupPr>
                              <m:ctrlPr>
                                <a:rPr lang="en-US" i="1"/>
                              </m:ctrlPr>
                            </m:sSupPr>
                            <m:e>
                              <m:r>
                                <a:rPr lang="en-US" i="1"/>
                                <m:t>𝐵</m:t>
                              </m:r>
                            </m:e>
                            <m:sup>
                              <m:r>
                                <a:rPr lang="en-US" i="1"/>
                                <m:t>𝑇</m:t>
                              </m:r>
                            </m:sup>
                          </m:sSup>
                          <m:r>
                            <a:rPr lang="en-US" i="1"/>
                            <m:t>𝑃</m:t>
                          </m:r>
                        </m:e>
                      </m:d>
                      <m:r>
                        <a:rPr lang="en-US" i="1"/>
                        <m:t>𝑋</m:t>
                      </m:r>
                      <m:r>
                        <a:rPr lang="en-US"/>
                        <m:t>=</m:t>
                      </m:r>
                      <m:r>
                        <a:rPr lang="en-US" i="1"/>
                        <m:t>𝐵</m:t>
                      </m:r>
                      <m:sSub>
                        <m:sSubPr>
                          <m:ctrlPr>
                            <a:rPr lang="en-US" i="1"/>
                          </m:ctrlPr>
                        </m:sSubPr>
                        <m:e>
                          <m:r>
                            <a:rPr lang="en-US" i="1"/>
                            <m:t>𝐹</m:t>
                          </m:r>
                        </m:e>
                        <m:sub>
                          <m:r>
                            <a:rPr lang="en-US" i="1"/>
                            <m:t>2</m:t>
                          </m:r>
                        </m:sub>
                      </m:sSub>
                      <m:r>
                        <a:rPr lang="en-US" i="1"/>
                        <m:t>𝐶</m:t>
                      </m:r>
                      <m:sSubSup>
                        <m:sSubSupPr>
                          <m:ctrlPr>
                            <a:rPr lang="en-US" i="1"/>
                          </m:ctrlPr>
                        </m:sSubSupPr>
                        <m:e>
                          <m:r>
                            <a:rPr lang="en-US" i="1"/>
                            <m:t>𝑄</m:t>
                          </m:r>
                        </m:e>
                        <m:sub>
                          <m:r>
                            <a:rPr lang="en-US" i="1"/>
                            <m:t>2</m:t>
                          </m:r>
                        </m:sub>
                        <m:sup>
                          <m:r>
                            <a:rPr lang="en-US" i="1"/>
                            <m:t>−1</m:t>
                          </m:r>
                        </m:sup>
                      </m:sSubSup>
                      <m:sSup>
                        <m:sSupPr>
                          <m:ctrlPr>
                            <a:rPr lang="en-US" i="1"/>
                          </m:ctrlPr>
                        </m:sSupPr>
                        <m:e>
                          <m:r>
                            <a:rPr lang="en-US" i="1"/>
                            <m:t>𝐶</m:t>
                          </m:r>
                        </m:e>
                        <m:sup>
                          <m:r>
                            <a:rPr lang="en-US" i="1"/>
                            <m:t>𝑇</m:t>
                          </m:r>
                        </m:sup>
                      </m:sSup>
                      <m:sSubSup>
                        <m:sSubSupPr>
                          <m:ctrlPr>
                            <a:rPr lang="en-US" i="1"/>
                          </m:ctrlPr>
                        </m:sSubSupPr>
                        <m:e>
                          <m:r>
                            <a:rPr lang="en-US" i="1"/>
                            <m:t>𝐹</m:t>
                          </m:r>
                        </m:e>
                        <m:sub>
                          <m:r>
                            <a:rPr lang="en-US" i="1"/>
                            <m:t>2</m:t>
                          </m:r>
                        </m:sub>
                        <m:sup>
                          <m:r>
                            <a:rPr lang="en-US" i="1"/>
                            <m:t>𝑇</m:t>
                          </m:r>
                        </m:sup>
                      </m:sSubSup>
                      <m:sSup>
                        <m:sSupPr>
                          <m:ctrlPr>
                            <a:rPr lang="en-US" i="1"/>
                          </m:ctrlPr>
                        </m:sSupPr>
                        <m:e>
                          <m:r>
                            <a:rPr lang="en-US" i="1"/>
                            <m:t>𝐵</m:t>
                          </m:r>
                        </m:e>
                        <m:sup>
                          <m:r>
                            <a:rPr lang="en-US" i="1"/>
                            <m:t>𝑇</m:t>
                          </m:r>
                        </m:sup>
                      </m:sSup>
                      <m:r>
                        <a:rPr lang="en-US"/>
                        <m:t>.</m:t>
                      </m:r>
                    </m:oMath>
                  </m:oMathPara>
                </a14:m>
                <a:endParaRPr lang="en-US" dirty="0"/>
              </a:p>
              <a:p>
                <a:pPr lvl="0"/>
                <a:r>
                  <a:rPr lang="en-US" dirty="0"/>
                  <a:t>For the merged terms the cross terms linear in </a:t>
                </a:r>
                <a14:m>
                  <m:oMath xmlns:m="http://schemas.openxmlformats.org/officeDocument/2006/math">
                    <m:sSub>
                      <m:sSubPr>
                        <m:ctrlPr>
                          <a:rPr lang="en-US" i="1"/>
                        </m:ctrlPr>
                      </m:sSubPr>
                      <m:e>
                        <m:r>
                          <a:rPr lang="en-US" i="1"/>
                          <m:t>𝐹</m:t>
                        </m:r>
                      </m:e>
                      <m:sub>
                        <m:r>
                          <a:rPr lang="en-US" i="1"/>
                          <m:t>1</m:t>
                        </m:r>
                      </m:sub>
                    </m:sSub>
                  </m:oMath>
                </a14:m>
                <a:r>
                  <a:rPr lang="en-US" dirty="0"/>
                  <a:t> become objects like </a:t>
                </a:r>
                <a14:m>
                  <m:oMath xmlns:m="http://schemas.openxmlformats.org/officeDocument/2006/math">
                    <m:sSub>
                      <m:sSubPr>
                        <m:ctrlPr>
                          <a:rPr lang="en-US" i="1"/>
                        </m:ctrlPr>
                      </m:sSubPr>
                      <m:e>
                        <m:r>
                          <a:rPr lang="en-US" i="1"/>
                          <m:t>𝐴</m:t>
                        </m:r>
                      </m:e>
                      <m:sub>
                        <m:r>
                          <a:rPr lang="en-US" i="1"/>
                          <m:t>𝑑</m:t>
                        </m:r>
                      </m:sub>
                    </m:sSub>
                    <m:sSubSup>
                      <m:sSubSupPr>
                        <m:ctrlPr>
                          <a:rPr lang="en-US" i="1"/>
                        </m:ctrlPr>
                      </m:sSubSupPr>
                      <m:e>
                        <m:r>
                          <a:rPr lang="en-US" i="1"/>
                          <m:t>𝑄</m:t>
                        </m:r>
                      </m:e>
                      <m:sub>
                        <m:r>
                          <a:rPr lang="en-US" i="1"/>
                          <m:t>1</m:t>
                        </m:r>
                      </m:sub>
                      <m:sup>
                        <m:r>
                          <a:rPr lang="en-US" i="1"/>
                          <m:t>−1</m:t>
                        </m:r>
                      </m:sup>
                    </m:sSubSup>
                    <m:sSup>
                      <m:sSupPr>
                        <m:ctrlPr>
                          <a:rPr lang="en-US" i="1"/>
                        </m:ctrlPr>
                      </m:sSupPr>
                      <m:e>
                        <m:r>
                          <a:rPr lang="en-US" i="1"/>
                          <m:t>𝐶</m:t>
                        </m:r>
                      </m:e>
                      <m:sup>
                        <m:r>
                          <a:rPr lang="en-US" i="1"/>
                          <m:t>𝑇</m:t>
                        </m:r>
                      </m:sup>
                    </m:sSup>
                    <m:sSubSup>
                      <m:sSubSupPr>
                        <m:ctrlPr>
                          <a:rPr lang="en-US" i="1"/>
                        </m:ctrlPr>
                      </m:sSubSupPr>
                      <m:e>
                        <m:r>
                          <a:rPr lang="en-US" i="1"/>
                          <m:t>𝐹</m:t>
                        </m:r>
                      </m:e>
                      <m:sub>
                        <m:r>
                          <a:rPr lang="en-US" i="1"/>
                          <m:t>1</m:t>
                        </m:r>
                      </m:sub>
                      <m:sup>
                        <m:r>
                          <a:rPr lang="en-US" i="1"/>
                          <m:t>𝑇</m:t>
                        </m:r>
                      </m:sup>
                    </m:sSubSup>
                    <m:sSup>
                      <m:sSupPr>
                        <m:ctrlPr>
                          <a:rPr lang="en-US" i="1"/>
                        </m:ctrlPr>
                      </m:sSupPr>
                      <m:e>
                        <m:r>
                          <a:rPr lang="en-US" i="1"/>
                          <m:t>𝐵</m:t>
                        </m:r>
                      </m:e>
                      <m:sup>
                        <m:r>
                          <a:rPr lang="en-US" i="1"/>
                          <m:t>𝑇</m:t>
                        </m:r>
                      </m:sup>
                    </m:sSup>
                  </m:oMath>
                </a14:m>
                <a:r>
                  <a:rPr lang="en-US" dirty="0"/>
                  <a:t> (independent of </a:t>
                </a:r>
                <a14:m>
                  <m:oMath xmlns:m="http://schemas.openxmlformats.org/officeDocument/2006/math">
                    <m:r>
                      <a:rPr lang="en-US" i="1"/>
                      <m:t>𝑃</m:t>
                    </m:r>
                  </m:oMath>
                </a14:m>
                <a:r>
                  <a:rPr lang="en-US" dirty="0"/>
                  <a:t> after multiplication).</a:t>
                </a:r>
              </a:p>
              <a:p>
                <a:r>
                  <a:rPr lang="en-US" dirty="0"/>
                  <a:t>So after multiplication we have (paper Eq.(20) specialized):</a:t>
                </a:r>
              </a:p>
              <a:p>
                <a:pPr marL="0" indent="0">
                  <a:buNone/>
                </a:pPr>
                <a14:m>
                  <m:oMathPara xmlns:m="http://schemas.openxmlformats.org/officeDocument/2006/math">
                    <m:oMathParaPr>
                      <m:jc m:val="centerGroup"/>
                    </m:oMathParaPr>
                    <m:oMath xmlns:m="http://schemas.openxmlformats.org/officeDocument/2006/math">
                      <m:m>
                        <m:mPr>
                          <m:plcHide m:val="on"/>
                          <m:mcs>
                            <m:mc>
                              <m:mcPr>
                                <m:count m:val="2"/>
                                <m:mcJc m:val="center"/>
                              </m:mcPr>
                            </m:mc>
                          </m:mcs>
                          <m:ctrlPr>
                            <a:rPr lang="en-US" i="1"/>
                          </m:ctrlPr>
                        </m:mPr>
                        <m:mr>
                          <m:e>
                            <m:r>
                              <a:rPr lang="en-US" i="1"/>
                              <m:t>𝐴𝑋</m:t>
                            </m:r>
                            <m:r>
                              <a:rPr lang="en-US"/>
                              <m:t>+</m:t>
                            </m:r>
                            <m:r>
                              <a:rPr lang="en-US" i="1"/>
                              <m:t>𝑋</m:t>
                            </m:r>
                            <m:sSup>
                              <m:sSupPr>
                                <m:ctrlPr>
                                  <a:rPr lang="en-US" i="1"/>
                                </m:ctrlPr>
                              </m:sSupPr>
                              <m:e>
                                <m:r>
                                  <a:rPr lang="en-US" i="1"/>
                                  <m:t>𝐴</m:t>
                                </m:r>
                              </m:e>
                              <m:sup>
                                <m:r>
                                  <a:rPr lang="en-US" i="1"/>
                                  <m:t>𝑇</m:t>
                                </m:r>
                              </m:sup>
                            </m:sSup>
                          </m:e>
                          <m:e>
                            <m:r>
                              <a:rPr lang="en-US"/>
                              <m:t>+</m:t>
                            </m:r>
                            <m:r>
                              <a:rPr lang="en-US" i="1"/>
                              <m:t>𝑋</m:t>
                            </m:r>
                            <m:d>
                              <m:dPr>
                                <m:ctrlPr>
                                  <a:rPr lang="en-US" i="1"/>
                                </m:ctrlPr>
                              </m:dPr>
                              <m:e>
                                <m:sSub>
                                  <m:sSubPr>
                                    <m:ctrlPr>
                                      <a:rPr lang="en-US" i="1"/>
                                    </m:ctrlPr>
                                  </m:sSubPr>
                                  <m:e>
                                    <m:r>
                                      <a:rPr lang="en-US" i="1"/>
                                      <m:t>𝑄</m:t>
                                    </m:r>
                                  </m:e>
                                  <m:sub>
                                    <m:r>
                                      <a:rPr lang="en-US" i="1"/>
                                      <m:t>1</m:t>
                                    </m:r>
                                  </m:sub>
                                </m:sSub>
                                <m:r>
                                  <a:rPr lang="en-US"/>
                                  <m:t>+</m:t>
                                </m:r>
                                <m:sSub>
                                  <m:sSubPr>
                                    <m:ctrlPr>
                                      <a:rPr lang="en-US" i="1"/>
                                    </m:ctrlPr>
                                  </m:sSubPr>
                                  <m:e>
                                    <m:r>
                                      <a:rPr lang="en-US" i="1"/>
                                      <m:t>𝑄</m:t>
                                    </m:r>
                                  </m:e>
                                  <m:sub>
                                    <m:r>
                                      <a:rPr lang="en-US" i="1"/>
                                      <m:t>2</m:t>
                                    </m:r>
                                  </m:sub>
                                </m:sSub>
                              </m:e>
                            </m:d>
                            <m:r>
                              <a:rPr lang="en-US" i="1"/>
                              <m:t>𝑋</m:t>
                            </m:r>
                            <m:r>
                              <a:rPr lang="en-US"/>
                              <m:t>+</m:t>
                            </m:r>
                            <m:r>
                              <a:rPr lang="en-US" i="1"/>
                              <m:t>𝑋</m:t>
                            </m:r>
                            <m:sSup>
                              <m:sSupPr>
                                <m:ctrlPr>
                                  <a:rPr lang="en-US" i="1"/>
                                </m:ctrlPr>
                              </m:sSupPr>
                              <m:e>
                                <m:r>
                                  <a:rPr lang="en-US" i="1"/>
                                  <m:t>𝐿</m:t>
                                </m:r>
                              </m:e>
                              <m:sup>
                                <m:r>
                                  <a:rPr lang="en-US" i="1"/>
                                  <m:t>𝑇</m:t>
                                </m:r>
                              </m:sup>
                            </m:sSup>
                            <m:r>
                              <a:rPr lang="en-US" i="1"/>
                              <m:t>𝐿𝑋</m:t>
                            </m:r>
                          </m:e>
                        </m:mr>
                        <m:mr>
                          <m:e/>
                          <m:e>
                            <m:r>
                              <a:rPr lang="en-US" i="1"/>
                              <m:t> </m:t>
                            </m:r>
                            <m:r>
                              <a:rPr lang="en-US"/>
                              <m:t>+</m:t>
                            </m:r>
                            <m:sSub>
                              <m:sSubPr>
                                <m:ctrlPr>
                                  <a:rPr lang="en-US" i="1"/>
                                </m:ctrlPr>
                              </m:sSubPr>
                              <m:e>
                                <m:r>
                                  <a:rPr lang="en-US" i="1"/>
                                  <m:t>𝐴</m:t>
                                </m:r>
                              </m:e>
                              <m:sub>
                                <m:r>
                                  <a:rPr lang="en-US" i="1"/>
                                  <m:t>𝑑</m:t>
                                </m:r>
                              </m:sub>
                            </m:sSub>
                            <m:sSubSup>
                              <m:sSubSupPr>
                                <m:ctrlPr>
                                  <a:rPr lang="en-US" i="1"/>
                                </m:ctrlPr>
                              </m:sSubSupPr>
                              <m:e>
                                <m:r>
                                  <a:rPr lang="en-US" i="1"/>
                                  <m:t>𝑄</m:t>
                                </m:r>
                              </m:e>
                              <m:sub>
                                <m:r>
                                  <a:rPr lang="en-US" i="1"/>
                                  <m:t>1</m:t>
                                </m:r>
                              </m:sub>
                              <m:sup>
                                <m:r>
                                  <a:rPr lang="en-US" i="1"/>
                                  <m:t>−1</m:t>
                                </m:r>
                              </m:sup>
                            </m:sSubSup>
                            <m:sSubSup>
                              <m:sSubSupPr>
                                <m:ctrlPr>
                                  <a:rPr lang="en-US" i="1"/>
                                </m:ctrlPr>
                              </m:sSubSupPr>
                              <m:e>
                                <m:r>
                                  <a:rPr lang="en-US" i="1"/>
                                  <m:t>𝐴</m:t>
                                </m:r>
                              </m:e>
                              <m:sub>
                                <m:r>
                                  <a:rPr lang="en-US" i="1"/>
                                  <m:t>𝑑</m:t>
                                </m:r>
                              </m:sub>
                              <m:sup>
                                <m:r>
                                  <a:rPr lang="en-US" i="1"/>
                                  <m:t>𝑇</m:t>
                                </m:r>
                              </m:sup>
                            </m:sSubSup>
                          </m:e>
                        </m:mr>
                        <m:mr>
                          <m:e/>
                          <m:e>
                            <m:r>
                              <a:rPr lang="en-US" i="1"/>
                              <m:t> </m:t>
                            </m:r>
                            <m:r>
                              <a:rPr lang="en-US"/>
                              <m:t>+</m:t>
                            </m:r>
                            <m:sSub>
                              <m:sSubPr>
                                <m:ctrlPr>
                                  <a:rPr lang="en-US" i="1"/>
                                </m:ctrlPr>
                              </m:sSubPr>
                              <m:e>
                                <m:r>
                                  <a:rPr lang="en-US" i="1"/>
                                  <m:t>𝐴</m:t>
                                </m:r>
                              </m:e>
                              <m:sub>
                                <m:r>
                                  <a:rPr lang="en-US" i="1"/>
                                  <m:t>𝑑</m:t>
                                </m:r>
                              </m:sub>
                            </m:sSub>
                            <m:sSubSup>
                              <m:sSubSupPr>
                                <m:ctrlPr>
                                  <a:rPr lang="en-US" i="1"/>
                                </m:ctrlPr>
                              </m:sSubSupPr>
                              <m:e>
                                <m:r>
                                  <a:rPr lang="en-US" i="1"/>
                                  <m:t>𝑄</m:t>
                                </m:r>
                              </m:e>
                              <m:sub>
                                <m:r>
                                  <a:rPr lang="en-US" i="1"/>
                                  <m:t>1</m:t>
                                </m:r>
                              </m:sub>
                              <m:sup>
                                <m:r>
                                  <a:rPr lang="en-US" i="1"/>
                                  <m:t>−1</m:t>
                                </m:r>
                              </m:sup>
                            </m:sSubSup>
                            <m:sSup>
                              <m:sSupPr>
                                <m:ctrlPr>
                                  <a:rPr lang="en-US" i="1"/>
                                </m:ctrlPr>
                              </m:sSupPr>
                              <m:e>
                                <m:r>
                                  <a:rPr lang="en-US" i="1"/>
                                  <m:t>𝐶</m:t>
                                </m:r>
                              </m:e>
                              <m:sup>
                                <m:r>
                                  <a:rPr lang="en-US" i="1"/>
                                  <m:t>𝑇</m:t>
                                </m:r>
                              </m:sup>
                            </m:sSup>
                            <m:sSubSup>
                              <m:sSubSupPr>
                                <m:ctrlPr>
                                  <a:rPr lang="en-US" i="1"/>
                                </m:ctrlPr>
                              </m:sSubSupPr>
                              <m:e>
                                <m:r>
                                  <a:rPr lang="en-US" i="1"/>
                                  <m:t>𝐹</m:t>
                                </m:r>
                              </m:e>
                              <m:sub>
                                <m:r>
                                  <a:rPr lang="en-US" i="1"/>
                                  <m:t>1</m:t>
                                </m:r>
                              </m:sub>
                              <m:sup>
                                <m:r>
                                  <a:rPr lang="en-US" i="1"/>
                                  <m:t>𝑇</m:t>
                                </m:r>
                              </m:sup>
                            </m:sSubSup>
                            <m:sSup>
                              <m:sSupPr>
                                <m:ctrlPr>
                                  <a:rPr lang="en-US" i="1"/>
                                </m:ctrlPr>
                              </m:sSupPr>
                              <m:e>
                                <m:r>
                                  <a:rPr lang="en-US" i="1"/>
                                  <m:t>𝐵</m:t>
                                </m:r>
                              </m:e>
                              <m:sup>
                                <m:r>
                                  <a:rPr lang="en-US" i="1"/>
                                  <m:t>𝑇</m:t>
                                </m:r>
                              </m:sup>
                            </m:sSup>
                            <m:r>
                              <a:rPr lang="en-US"/>
                              <m:t>+</m:t>
                            </m:r>
                            <m:r>
                              <a:rPr lang="en-US" i="1"/>
                              <m:t>𝐵</m:t>
                            </m:r>
                            <m:sSub>
                              <m:sSubPr>
                                <m:ctrlPr>
                                  <a:rPr lang="en-US" i="1"/>
                                </m:ctrlPr>
                              </m:sSubPr>
                              <m:e>
                                <m:r>
                                  <a:rPr lang="en-US" i="1"/>
                                  <m:t>𝐹</m:t>
                                </m:r>
                              </m:e>
                              <m:sub>
                                <m:r>
                                  <a:rPr lang="en-US" i="1"/>
                                  <m:t>1</m:t>
                                </m:r>
                              </m:sub>
                            </m:sSub>
                            <m:r>
                              <a:rPr lang="en-US" i="1"/>
                              <m:t>𝐶</m:t>
                            </m:r>
                            <m:sSubSup>
                              <m:sSubSupPr>
                                <m:ctrlPr>
                                  <a:rPr lang="en-US" i="1"/>
                                </m:ctrlPr>
                              </m:sSubSupPr>
                              <m:e>
                                <m:r>
                                  <a:rPr lang="en-US" i="1"/>
                                  <m:t>𝑄</m:t>
                                </m:r>
                              </m:e>
                              <m:sub>
                                <m:r>
                                  <a:rPr lang="en-US" i="1"/>
                                  <m:t>1</m:t>
                                </m:r>
                              </m:sub>
                              <m:sup>
                                <m:r>
                                  <a:rPr lang="en-US" i="1"/>
                                  <m:t>−1</m:t>
                                </m:r>
                              </m:sup>
                            </m:sSubSup>
                            <m:sSubSup>
                              <m:sSubSupPr>
                                <m:ctrlPr>
                                  <a:rPr lang="en-US" i="1"/>
                                </m:ctrlPr>
                              </m:sSubSupPr>
                              <m:e>
                                <m:r>
                                  <a:rPr lang="en-US" i="1"/>
                                  <m:t>𝐴</m:t>
                                </m:r>
                              </m:e>
                              <m:sub>
                                <m:r>
                                  <a:rPr lang="en-US" i="1"/>
                                  <m:t>𝑑</m:t>
                                </m:r>
                              </m:sub>
                              <m:sup>
                                <m:r>
                                  <a:rPr lang="en-US" i="1"/>
                                  <m:t>𝑇</m:t>
                                </m:r>
                              </m:sup>
                            </m:sSubSup>
                          </m:e>
                        </m:mr>
                        <m:mr>
                          <m:e/>
                          <m:e>
                            <m:r>
                              <a:rPr lang="en-US" i="1"/>
                              <m:t> </m:t>
                            </m:r>
                            <m:r>
                              <a:rPr lang="en-US"/>
                              <m:t>+</m:t>
                            </m:r>
                            <m:r>
                              <a:rPr lang="en-US" i="1"/>
                              <m:t>𝐵</m:t>
                            </m:r>
                            <m:sSub>
                              <m:sSubPr>
                                <m:ctrlPr>
                                  <a:rPr lang="en-US" i="1"/>
                                </m:ctrlPr>
                              </m:sSubPr>
                              <m:e>
                                <m:r>
                                  <a:rPr lang="en-US" i="1"/>
                                  <m:t>𝐹</m:t>
                                </m:r>
                              </m:e>
                              <m:sub>
                                <m:r>
                                  <a:rPr lang="en-US" i="1"/>
                                  <m:t>1</m:t>
                                </m:r>
                              </m:sub>
                            </m:sSub>
                            <m:r>
                              <a:rPr lang="en-US" i="1"/>
                              <m:t>𝐶</m:t>
                            </m:r>
                            <m:sSubSup>
                              <m:sSubSupPr>
                                <m:ctrlPr>
                                  <a:rPr lang="en-US" i="1"/>
                                </m:ctrlPr>
                              </m:sSubSupPr>
                              <m:e>
                                <m:r>
                                  <a:rPr lang="en-US" i="1"/>
                                  <m:t>𝑄</m:t>
                                </m:r>
                              </m:e>
                              <m:sub>
                                <m:r>
                                  <a:rPr lang="en-US" i="1"/>
                                  <m:t>1</m:t>
                                </m:r>
                              </m:sub>
                              <m:sup>
                                <m:r>
                                  <a:rPr lang="en-US" i="1"/>
                                  <m:t>−1</m:t>
                                </m:r>
                              </m:sup>
                            </m:sSubSup>
                            <m:sSup>
                              <m:sSupPr>
                                <m:ctrlPr>
                                  <a:rPr lang="en-US" i="1"/>
                                </m:ctrlPr>
                              </m:sSupPr>
                              <m:e>
                                <m:r>
                                  <a:rPr lang="en-US" i="1"/>
                                  <m:t>𝐶</m:t>
                                </m:r>
                              </m:e>
                              <m:sup>
                                <m:r>
                                  <a:rPr lang="en-US" i="1"/>
                                  <m:t>𝑇</m:t>
                                </m:r>
                              </m:sup>
                            </m:sSup>
                            <m:sSubSup>
                              <m:sSubSupPr>
                                <m:ctrlPr>
                                  <a:rPr lang="en-US" i="1"/>
                                </m:ctrlPr>
                              </m:sSubSupPr>
                              <m:e>
                                <m:r>
                                  <a:rPr lang="en-US" i="1"/>
                                  <m:t>𝐹</m:t>
                                </m:r>
                              </m:e>
                              <m:sub>
                                <m:r>
                                  <a:rPr lang="en-US" i="1"/>
                                  <m:t>1</m:t>
                                </m:r>
                              </m:sub>
                              <m:sup>
                                <m:r>
                                  <a:rPr lang="en-US" i="1"/>
                                  <m:t>𝑇</m:t>
                                </m:r>
                              </m:sup>
                            </m:sSubSup>
                            <m:sSup>
                              <m:sSupPr>
                                <m:ctrlPr>
                                  <a:rPr lang="en-US" i="1"/>
                                </m:ctrlPr>
                              </m:sSupPr>
                              <m:e>
                                <m:r>
                                  <a:rPr lang="en-US" i="1"/>
                                  <m:t>𝐵</m:t>
                                </m:r>
                              </m:e>
                              <m:sup>
                                <m:r>
                                  <a:rPr lang="en-US" i="1"/>
                                  <m:t>𝑇</m:t>
                                </m:r>
                              </m:sup>
                            </m:sSup>
                            <m:r>
                              <a:rPr lang="en-US"/>
                              <m:t>+</m:t>
                            </m:r>
                            <m:r>
                              <a:rPr lang="en-US" i="1"/>
                              <m:t>𝐵</m:t>
                            </m:r>
                            <m:sSub>
                              <m:sSubPr>
                                <m:ctrlPr>
                                  <a:rPr lang="en-US" i="1"/>
                                </m:ctrlPr>
                              </m:sSubPr>
                              <m:e>
                                <m:r>
                                  <a:rPr lang="en-US" i="1"/>
                                  <m:t>𝐹</m:t>
                                </m:r>
                              </m:e>
                              <m:sub>
                                <m:r>
                                  <a:rPr lang="en-US" i="1"/>
                                  <m:t>2</m:t>
                                </m:r>
                              </m:sub>
                            </m:sSub>
                            <m:r>
                              <a:rPr lang="en-US" i="1"/>
                              <m:t>𝐶</m:t>
                            </m:r>
                            <m:sSubSup>
                              <m:sSubSupPr>
                                <m:ctrlPr>
                                  <a:rPr lang="en-US" i="1"/>
                                </m:ctrlPr>
                              </m:sSubSupPr>
                              <m:e>
                                <m:r>
                                  <a:rPr lang="en-US" i="1"/>
                                  <m:t>𝑄</m:t>
                                </m:r>
                              </m:e>
                              <m:sub>
                                <m:r>
                                  <a:rPr lang="en-US" i="1"/>
                                  <m:t>2</m:t>
                                </m:r>
                              </m:sub>
                              <m:sup>
                                <m:r>
                                  <a:rPr lang="en-US" i="1"/>
                                  <m:t>−1</m:t>
                                </m:r>
                              </m:sup>
                            </m:sSubSup>
                            <m:sSup>
                              <m:sSupPr>
                                <m:ctrlPr>
                                  <a:rPr lang="en-US" i="1"/>
                                </m:ctrlPr>
                              </m:sSupPr>
                              <m:e>
                                <m:r>
                                  <a:rPr lang="en-US" i="1"/>
                                  <m:t>𝐶</m:t>
                                </m:r>
                              </m:e>
                              <m:sup>
                                <m:r>
                                  <a:rPr lang="en-US" i="1"/>
                                  <m:t>𝑇</m:t>
                                </m:r>
                              </m:sup>
                            </m:sSup>
                            <m:sSubSup>
                              <m:sSubSupPr>
                                <m:ctrlPr>
                                  <a:rPr lang="en-US" i="1"/>
                                </m:ctrlPr>
                              </m:sSubSupPr>
                              <m:e>
                                <m:r>
                                  <a:rPr lang="en-US" i="1"/>
                                  <m:t>𝐹</m:t>
                                </m:r>
                              </m:e>
                              <m:sub>
                                <m:r>
                                  <a:rPr lang="en-US" i="1"/>
                                  <m:t>2</m:t>
                                </m:r>
                              </m:sub>
                              <m:sup>
                                <m:r>
                                  <a:rPr lang="en-US" i="1"/>
                                  <m:t>𝑇</m:t>
                                </m:r>
                              </m:sup>
                            </m:sSubSup>
                            <m:sSup>
                              <m:sSupPr>
                                <m:ctrlPr>
                                  <a:rPr lang="en-US" i="1"/>
                                </m:ctrlPr>
                              </m:sSupPr>
                              <m:e>
                                <m:r>
                                  <a:rPr lang="en-US" i="1"/>
                                  <m:t>𝐵</m:t>
                                </m:r>
                              </m:e>
                              <m:sup>
                                <m:r>
                                  <a:rPr lang="en-US" i="1"/>
                                  <m:t>𝑇</m:t>
                                </m:r>
                              </m:sup>
                            </m:sSup>
                          </m:e>
                        </m:mr>
                        <m:mr>
                          <m:e/>
                          <m:e>
                            <m:r>
                              <a:rPr lang="en-US" i="1"/>
                              <m:t> </m:t>
                            </m:r>
                            <m:r>
                              <a:rPr lang="en-US"/>
                              <m:t>+</m:t>
                            </m:r>
                            <m:sSup>
                              <m:sSupPr>
                                <m:ctrlPr>
                                  <a:rPr lang="en-US" i="1"/>
                                </m:ctrlPr>
                              </m:sSupPr>
                              <m:e>
                                <m:r>
                                  <a:rPr lang="en-US" i="1"/>
                                  <m:t>𝛾</m:t>
                                </m:r>
                              </m:e>
                              <m:sup>
                                <m:r>
                                  <a:rPr lang="en-US" i="1"/>
                                  <m:t>−2</m:t>
                                </m:r>
                              </m:sup>
                            </m:sSup>
                            <m:r>
                              <a:rPr lang="en-US" i="1"/>
                              <m:t>𝐷</m:t>
                            </m:r>
                            <m:sSup>
                              <m:sSupPr>
                                <m:ctrlPr>
                                  <a:rPr lang="en-US" i="1"/>
                                </m:ctrlPr>
                              </m:sSupPr>
                              <m:e>
                                <m:r>
                                  <a:rPr lang="en-US" i="1"/>
                                  <m:t>𝐷</m:t>
                                </m:r>
                              </m:e>
                              <m:sup>
                                <m:r>
                                  <a:rPr lang="en-US" i="1"/>
                                  <m:t>𝑇</m:t>
                                </m:r>
                              </m:sup>
                            </m:sSup>
                            <m:r>
                              <a:rPr lang="en-US"/>
                              <m:t>&lt;</m:t>
                            </m:r>
                            <m:r>
                              <a:rPr lang="en-US" i="1"/>
                              <m:t>0</m:t>
                            </m:r>
                            <m:r>
                              <a:rPr lang="en-US"/>
                              <m:t>.</m:t>
                            </m:r>
                          </m:e>
                        </m:mr>
                      </m:m>
                    </m:oMath>
                  </m:oMathPara>
                </a14:m>
                <a:endParaRPr lang="en-US" dirty="0"/>
              </a:p>
              <a:p>
                <a:pPr marL="0" indent="0">
                  <a:buNone/>
                </a:pPr>
                <a:endParaRPr lang="en-US" dirty="0"/>
              </a:p>
              <a:p>
                <a:pPr marL="0" indent="0">
                  <a:buNone/>
                </a:pPr>
                <a:endParaRPr lang="en-US" sz="2000" dirty="0">
                  <a:latin typeface="Arial" panose="020B0604020202020204" pitchFamily="34" charset="0"/>
                  <a:cs typeface="Arial" panose="020B0604020202020204" pitchFamily="34" charset="0"/>
                </a:endParaRPr>
              </a:p>
            </p:txBody>
          </p:sp>
        </mc:Choice>
        <mc:Fallback>
          <p:sp>
            <p:nvSpPr>
              <p:cNvPr id="4" name="Content Placeholder 3">
                <a:extLst>
                  <a:ext uri="{FF2B5EF4-FFF2-40B4-BE49-F238E27FC236}">
                    <a16:creationId xmlns:a16="http://schemas.microsoft.com/office/drawing/2014/main" id="{0F09F2CA-A431-4744-926D-DC49C836453B}"/>
                  </a:ext>
                </a:extLst>
              </p:cNvPr>
              <p:cNvSpPr txBox="1">
                <a:spLocks noRot="1" noChangeAspect="1" noMove="1" noResize="1" noEditPoints="1" noAdjustHandles="1" noChangeArrowheads="1" noChangeShapeType="1" noTextEdit="1"/>
              </p:cNvSpPr>
              <p:nvPr/>
            </p:nvSpPr>
            <p:spPr>
              <a:xfrm>
                <a:off x="299581" y="1230283"/>
                <a:ext cx="9970871" cy="5151296"/>
              </a:xfrm>
              <a:prstGeom prst="rect">
                <a:avLst/>
              </a:prstGeom>
              <a:blipFill>
                <a:blip r:embed="rId4"/>
                <a:stretch>
                  <a:fillRect l="-122" t="-828"/>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8" name="Content Placeholder 3">
                <a:extLst>
                  <a:ext uri="{FF2B5EF4-FFF2-40B4-BE49-F238E27FC236}">
                    <a16:creationId xmlns:a16="http://schemas.microsoft.com/office/drawing/2014/main" id="{B0DC3434-ED9A-D812-708F-295B669F2D3C}"/>
                  </a:ext>
                </a:extLst>
              </p:cNvPr>
              <p:cNvSpPr txBox="1">
                <a:spLocks/>
              </p:cNvSpPr>
              <p:nvPr/>
            </p:nvSpPr>
            <p:spPr>
              <a:xfrm>
                <a:off x="4263661" y="1629284"/>
                <a:ext cx="4978884" cy="115653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0">
                  <a:buFont typeface="Courier New" panose="02070309020205020404" pitchFamily="49" charset="0"/>
                  <a:buChar char="o"/>
                </a:pPr>
                <a14:m>
                  <m:oMath xmlns:m="http://schemas.openxmlformats.org/officeDocument/2006/math">
                    <m:r>
                      <a:rPr lang="en-US" i="1">
                        <a:latin typeface="Cambria Math" panose="02040503050406030204" pitchFamily="18" charset="0"/>
                      </a:rPr>
                      <m:t>𝑋</m:t>
                    </m:r>
                    <m:d>
                      <m:dPr>
                        <m:ctrlPr>
                          <a:rPr lang="en-US" i="1">
                            <a:latin typeface="Cambria Math" panose="02040503050406030204" pitchFamily="18" charset="0"/>
                          </a:rPr>
                        </m:ctrlPr>
                      </m:dPr>
                      <m:e>
                        <m:r>
                          <a:rPr lang="en-US" i="1">
                            <a:latin typeface="Cambria Math" panose="02040503050406030204" pitchFamily="18" charset="0"/>
                          </a:rPr>
                          <m:t>𝑃</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𝑑</m:t>
                            </m:r>
                          </m:sub>
                        </m:sSub>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1</m:t>
                            </m:r>
                          </m:sub>
                          <m:sup>
                            <m:r>
                              <a:rPr lang="en-US" i="1">
                                <a:latin typeface="Cambria Math" panose="02040503050406030204" pitchFamily="18" charset="0"/>
                              </a:rPr>
                              <m:t>−1</m:t>
                            </m:r>
                          </m:sup>
                        </m:sSubSup>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𝑑</m:t>
                            </m:r>
                          </m:sub>
                          <m:sup>
                            <m:r>
                              <a:rPr lang="en-US" i="1">
                                <a:latin typeface="Cambria Math" panose="02040503050406030204" pitchFamily="18" charset="0"/>
                              </a:rPr>
                              <m:t>𝑇</m:t>
                            </m:r>
                          </m:sup>
                        </m:sSubSup>
                        <m:r>
                          <a:rPr lang="en-US" i="1">
                            <a:latin typeface="Cambria Math" panose="02040503050406030204" pitchFamily="18" charset="0"/>
                          </a:rPr>
                          <m:t>𝑃</m:t>
                        </m:r>
                      </m:e>
                    </m:d>
                    <m:r>
                      <a:rPr lang="en-US" i="1">
                        <a:latin typeface="Cambria Math" panose="02040503050406030204" pitchFamily="18" charset="0"/>
                      </a:rPr>
                      <m:t>𝑋</m:t>
                    </m:r>
                    <m:r>
                      <a:rPr lang="en-US">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𝑑</m:t>
                        </m:r>
                      </m:sub>
                    </m:sSub>
                    <m:sSubSup>
                      <m:sSubSupPr>
                        <m:ctrlPr>
                          <a:rPr lang="en-US" i="1">
                            <a:latin typeface="Cambria Math" panose="02040503050406030204" pitchFamily="18" charset="0"/>
                          </a:rPr>
                        </m:ctrlPr>
                      </m:sSubSupPr>
                      <m:e>
                        <m:r>
                          <a:rPr lang="en-US" i="1">
                            <a:latin typeface="Cambria Math" panose="02040503050406030204" pitchFamily="18" charset="0"/>
                          </a:rPr>
                          <m:t>𝑄</m:t>
                        </m:r>
                      </m:e>
                      <m:sub>
                        <m:r>
                          <a:rPr lang="en-US" i="1">
                            <a:latin typeface="Cambria Math" panose="02040503050406030204" pitchFamily="18" charset="0"/>
                          </a:rPr>
                          <m:t>1</m:t>
                        </m:r>
                      </m:sub>
                      <m:sup>
                        <m:r>
                          <a:rPr lang="en-US" i="1">
                            <a:latin typeface="Cambria Math" panose="02040503050406030204" pitchFamily="18" charset="0"/>
                          </a:rPr>
                          <m:t>−1</m:t>
                        </m:r>
                      </m:sup>
                    </m:sSubSup>
                    <m:sSubSup>
                      <m:sSubSupPr>
                        <m:ctrlPr>
                          <a:rPr lang="en-US" i="1">
                            <a:latin typeface="Cambria Math" panose="02040503050406030204" pitchFamily="18" charset="0"/>
                          </a:rPr>
                        </m:ctrlPr>
                      </m:sSubSupPr>
                      <m:e>
                        <m:r>
                          <a:rPr lang="en-US" i="1">
                            <a:latin typeface="Cambria Math" panose="02040503050406030204" pitchFamily="18" charset="0"/>
                          </a:rPr>
                          <m:t>𝐴</m:t>
                        </m:r>
                      </m:e>
                      <m:sub>
                        <m:r>
                          <a:rPr lang="en-US" i="1">
                            <a:latin typeface="Cambria Math" panose="02040503050406030204" pitchFamily="18" charset="0"/>
                          </a:rPr>
                          <m:t>𝑑</m:t>
                        </m:r>
                      </m:sub>
                      <m:sup>
                        <m:r>
                          <a:rPr lang="en-US" i="1">
                            <a:latin typeface="Cambria Math" panose="02040503050406030204" pitchFamily="18" charset="0"/>
                          </a:rPr>
                          <m:t>𝑇</m:t>
                        </m:r>
                      </m:sup>
                    </m:sSubSup>
                    <m:r>
                      <a:rPr lang="en-US">
                        <a:latin typeface="Cambria Math" panose="02040503050406030204" pitchFamily="18" charset="0"/>
                      </a:rPr>
                      <m:t>.</m:t>
                    </m:r>
                  </m:oMath>
                </a14:m>
                <a:endParaRPr lang="en-US" dirty="0"/>
              </a:p>
              <a:p>
                <a:pPr lvl="0">
                  <a:buFont typeface="Courier New" panose="02070309020205020404" pitchFamily="49" charset="0"/>
                  <a:buChar char="o"/>
                </a:pPr>
                <a14:m>
                  <m:oMath xmlns:m="http://schemas.openxmlformats.org/officeDocument/2006/math">
                    <m:r>
                      <a:rPr lang="en-US" i="1">
                        <a:latin typeface="Cambria Math" panose="02040503050406030204" pitchFamily="18" charset="0"/>
                      </a:rPr>
                      <m:t>𝑋</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−2</m:t>
                            </m:r>
                          </m:sup>
                        </m:sSup>
                        <m:r>
                          <a:rPr lang="en-US" i="1">
                            <a:latin typeface="Cambria Math" panose="02040503050406030204" pitchFamily="18" charset="0"/>
                          </a:rPr>
                          <m:t>𝑃𝐷</m:t>
                        </m:r>
                        <m:sSup>
                          <m:sSupPr>
                            <m:ctrlPr>
                              <a:rPr lang="en-US" i="1">
                                <a:latin typeface="Cambria Math" panose="02040503050406030204" pitchFamily="18" charset="0"/>
                              </a:rPr>
                            </m:ctrlPr>
                          </m:sSupPr>
                          <m:e>
                            <m:r>
                              <a:rPr lang="en-US" i="1">
                                <a:latin typeface="Cambria Math" panose="02040503050406030204" pitchFamily="18" charset="0"/>
                              </a:rPr>
                              <m:t>𝐷</m:t>
                            </m:r>
                          </m:e>
                          <m:sup>
                            <m:r>
                              <a:rPr lang="en-US" i="1">
                                <a:latin typeface="Cambria Math" panose="02040503050406030204" pitchFamily="18" charset="0"/>
                              </a:rPr>
                              <m:t>𝑇</m:t>
                            </m:r>
                          </m:sup>
                        </m:sSup>
                        <m:r>
                          <a:rPr lang="en-US" i="1">
                            <a:latin typeface="Cambria Math" panose="02040503050406030204" pitchFamily="18" charset="0"/>
                          </a:rPr>
                          <m:t>𝑃</m:t>
                        </m:r>
                      </m:e>
                    </m:d>
                    <m:r>
                      <a:rPr lang="en-US" i="1">
                        <a:latin typeface="Cambria Math" panose="02040503050406030204" pitchFamily="18" charset="0"/>
                      </a:rPr>
                      <m:t>𝑋</m:t>
                    </m:r>
                    <m:r>
                      <a:rPr lang="en-US">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𝛾</m:t>
                        </m:r>
                      </m:e>
                      <m:sup>
                        <m:r>
                          <a:rPr lang="en-US" i="1">
                            <a:latin typeface="Cambria Math" panose="02040503050406030204" pitchFamily="18" charset="0"/>
                          </a:rPr>
                          <m:t>−2</m:t>
                        </m:r>
                      </m:sup>
                    </m:sSup>
                    <m:r>
                      <a:rPr lang="en-US" i="1">
                        <a:latin typeface="Cambria Math" panose="02040503050406030204" pitchFamily="18" charset="0"/>
                      </a:rPr>
                      <m:t>𝐷</m:t>
                    </m:r>
                    <m:sSup>
                      <m:sSupPr>
                        <m:ctrlPr>
                          <a:rPr lang="en-US" i="1">
                            <a:latin typeface="Cambria Math" panose="02040503050406030204" pitchFamily="18" charset="0"/>
                          </a:rPr>
                        </m:ctrlPr>
                      </m:sSupPr>
                      <m:e>
                        <m:r>
                          <a:rPr lang="en-US" i="1">
                            <a:latin typeface="Cambria Math" panose="02040503050406030204" pitchFamily="18" charset="0"/>
                          </a:rPr>
                          <m:t>𝐷</m:t>
                        </m:r>
                      </m:e>
                      <m:sup>
                        <m:r>
                          <a:rPr lang="en-US" i="1">
                            <a:latin typeface="Cambria Math" panose="02040503050406030204" pitchFamily="18" charset="0"/>
                          </a:rPr>
                          <m:t>𝑇</m:t>
                        </m:r>
                      </m:sup>
                    </m:sSup>
                    <m:r>
                      <a:rPr lang="en-US">
                        <a:latin typeface="Cambria Math" panose="02040503050406030204" pitchFamily="18" charset="0"/>
                      </a:rPr>
                      <m:t>.</m:t>
                    </m:r>
                  </m:oMath>
                </a14:m>
                <a:endParaRPr lang="en-US" dirty="0"/>
              </a:p>
            </p:txBody>
          </p:sp>
        </mc:Choice>
        <mc:Fallback>
          <p:sp>
            <p:nvSpPr>
              <p:cNvPr id="8" name="Content Placeholder 3">
                <a:extLst>
                  <a:ext uri="{FF2B5EF4-FFF2-40B4-BE49-F238E27FC236}">
                    <a16:creationId xmlns:a16="http://schemas.microsoft.com/office/drawing/2014/main" id="{B0DC3434-ED9A-D812-708F-295B669F2D3C}"/>
                  </a:ext>
                </a:extLst>
              </p:cNvPr>
              <p:cNvSpPr txBox="1">
                <a:spLocks noRot="1" noChangeAspect="1" noMove="1" noResize="1" noEditPoints="1" noAdjustHandles="1" noChangeArrowheads="1" noChangeShapeType="1" noTextEdit="1"/>
              </p:cNvSpPr>
              <p:nvPr/>
            </p:nvSpPr>
            <p:spPr>
              <a:xfrm>
                <a:off x="4263661" y="1629284"/>
                <a:ext cx="4978884" cy="1156533"/>
              </a:xfrm>
              <a:prstGeom prst="rect">
                <a:avLst/>
              </a:prstGeom>
              <a:blipFill>
                <a:blip r:embed="rId5"/>
                <a:stretch>
                  <a:fillRect l="-245"/>
                </a:stretch>
              </a:blipFill>
            </p:spPr>
            <p:txBody>
              <a:bodyPr/>
              <a:lstStyle/>
              <a:p>
                <a:r>
                  <a:rPr lang="en-US">
                    <a:noFill/>
                  </a:rPr>
                  <a:t> </a:t>
                </a:r>
              </a:p>
            </p:txBody>
          </p:sp>
        </mc:Fallback>
      </mc:AlternateContent>
      <p:sp>
        <p:nvSpPr>
          <p:cNvPr id="10" name="Slide Number Placeholder 2">
            <a:extLst>
              <a:ext uri="{FF2B5EF4-FFF2-40B4-BE49-F238E27FC236}">
                <a16:creationId xmlns:a16="http://schemas.microsoft.com/office/drawing/2014/main" id="{3C3FAFE1-12EA-1F17-A265-A7E816B67882}"/>
              </a:ext>
            </a:extLst>
          </p:cNvPr>
          <p:cNvSpPr>
            <a:spLocks noGrp="1"/>
          </p:cNvSpPr>
          <p:nvPr>
            <p:ph type="sldNum" sz="quarter" idx="12"/>
          </p:nvPr>
        </p:nvSpPr>
        <p:spPr>
          <a:xfrm>
            <a:off x="7795578" y="6141113"/>
            <a:ext cx="1096432" cy="716887"/>
          </a:xfrm>
        </p:spPr>
        <p:txBody>
          <a:bodyPr/>
          <a:lstStyle/>
          <a:p>
            <a:r>
              <a:rPr lang="en-US" dirty="0"/>
              <a:t>15</a:t>
            </a:r>
          </a:p>
        </p:txBody>
      </p:sp>
    </p:spTree>
    <p:extLst>
      <p:ext uri="{BB962C8B-B14F-4D97-AF65-F5344CB8AC3E}">
        <p14:creationId xmlns:p14="http://schemas.microsoft.com/office/powerpoint/2010/main" val="9960440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4">
                                            <p:txEl>
                                              <p:pRg st="4" end="4"/>
                                            </p:txEl>
                                          </p:spTgt>
                                        </p:tgtEl>
                                        <p:attrNameLst>
                                          <p:attrName>style.visibility</p:attrName>
                                        </p:attrNameLst>
                                      </p:cBhvr>
                                      <p:to>
                                        <p:strVal val="visible"/>
                                      </p:to>
                                    </p:set>
                                    <p:animEffect transition="in" filter="fade">
                                      <p:cBhvr>
                                        <p:cTn id="29" dur="1000"/>
                                        <p:tgtEl>
                                          <p:spTgt spid="4">
                                            <p:txEl>
                                              <p:pRg st="4" end="4"/>
                                            </p:txEl>
                                          </p:spTgt>
                                        </p:tgtEl>
                                      </p:cBhvr>
                                    </p:animEffect>
                                    <p:anim calcmode="lin" valueType="num">
                                      <p:cBhvr>
                                        <p:cTn id="30"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grpId="0" nodeType="clickEffect">
                                  <p:stCondLst>
                                    <p:cond delay="0"/>
                                  </p:stCondLst>
                                  <p:childTnLst>
                                    <p:set>
                                      <p:cBhvr>
                                        <p:cTn id="35" dur="1" fill="hold">
                                          <p:stCondLst>
                                            <p:cond delay="0"/>
                                          </p:stCondLst>
                                        </p:cTn>
                                        <p:tgtEl>
                                          <p:spTgt spid="4">
                                            <p:txEl>
                                              <p:pRg st="5" end="5"/>
                                            </p:txEl>
                                          </p:spTgt>
                                        </p:tgtEl>
                                        <p:attrNameLst>
                                          <p:attrName>style.visibility</p:attrName>
                                        </p:attrNameLst>
                                      </p:cBhvr>
                                      <p:to>
                                        <p:strVal val="visible"/>
                                      </p:to>
                                    </p:set>
                                    <p:animEffect transition="in" filter="fade">
                                      <p:cBhvr>
                                        <p:cTn id="36" dur="1000"/>
                                        <p:tgtEl>
                                          <p:spTgt spid="4">
                                            <p:txEl>
                                              <p:pRg st="5" end="5"/>
                                            </p:txEl>
                                          </p:spTgt>
                                        </p:tgtEl>
                                      </p:cBhvr>
                                    </p:animEffect>
                                    <p:anim calcmode="lin" valueType="num">
                                      <p:cBhvr>
                                        <p:cTn id="37"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4">
                                            <p:txEl>
                                              <p:pRg st="6" end="6"/>
                                            </p:txEl>
                                          </p:spTgt>
                                        </p:tgtEl>
                                        <p:attrNameLst>
                                          <p:attrName>style.visibility</p:attrName>
                                        </p:attrNameLst>
                                      </p:cBhvr>
                                      <p:to>
                                        <p:strVal val="visible"/>
                                      </p:to>
                                    </p:set>
                                    <p:animEffect transition="in" filter="fade">
                                      <p:cBhvr>
                                        <p:cTn id="43" dur="1000"/>
                                        <p:tgtEl>
                                          <p:spTgt spid="4">
                                            <p:txEl>
                                              <p:pRg st="6" end="6"/>
                                            </p:txEl>
                                          </p:spTgt>
                                        </p:tgtEl>
                                      </p:cBhvr>
                                    </p:animEffect>
                                    <p:anim calcmode="lin" valueType="num">
                                      <p:cBhvr>
                                        <p:cTn id="44"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4">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4">
                                            <p:txEl>
                                              <p:pRg st="7" end="7"/>
                                            </p:txEl>
                                          </p:spTgt>
                                        </p:tgtEl>
                                        <p:attrNameLst>
                                          <p:attrName>style.visibility</p:attrName>
                                        </p:attrNameLst>
                                      </p:cBhvr>
                                      <p:to>
                                        <p:strVal val="visible"/>
                                      </p:to>
                                    </p:set>
                                    <p:animEffect transition="in" filter="fade">
                                      <p:cBhvr>
                                        <p:cTn id="50" dur="1000"/>
                                        <p:tgtEl>
                                          <p:spTgt spid="4">
                                            <p:txEl>
                                              <p:pRg st="7" end="7"/>
                                            </p:txEl>
                                          </p:spTgt>
                                        </p:tgtEl>
                                      </p:cBhvr>
                                    </p:animEffect>
                                    <p:anim calcmode="lin" valueType="num">
                                      <p:cBhvr>
                                        <p:cTn id="51"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42" presetClass="entr" presetSubtype="0" fill="hold" grpId="0" nodeType="clickEffect">
                                  <p:stCondLst>
                                    <p:cond delay="0"/>
                                  </p:stCondLst>
                                  <p:childTnLst>
                                    <p:set>
                                      <p:cBhvr>
                                        <p:cTn id="56" dur="1" fill="hold">
                                          <p:stCondLst>
                                            <p:cond delay="0"/>
                                          </p:stCondLst>
                                        </p:cTn>
                                        <p:tgtEl>
                                          <p:spTgt spid="4">
                                            <p:txEl>
                                              <p:pRg st="8" end="8"/>
                                            </p:txEl>
                                          </p:spTgt>
                                        </p:tgtEl>
                                        <p:attrNameLst>
                                          <p:attrName>style.visibility</p:attrName>
                                        </p:attrNameLst>
                                      </p:cBhvr>
                                      <p:to>
                                        <p:strVal val="visible"/>
                                      </p:to>
                                    </p:set>
                                    <p:animEffect transition="in" filter="fade">
                                      <p:cBhvr>
                                        <p:cTn id="57" dur="1000"/>
                                        <p:tgtEl>
                                          <p:spTgt spid="4">
                                            <p:txEl>
                                              <p:pRg st="8" end="8"/>
                                            </p:txEl>
                                          </p:spTgt>
                                        </p:tgtEl>
                                      </p:cBhvr>
                                    </p:animEffect>
                                    <p:anim calcmode="lin" valueType="num">
                                      <p:cBhvr>
                                        <p:cTn id="58" dur="1000" fill="hold"/>
                                        <p:tgtEl>
                                          <p:spTgt spid="4">
                                            <p:txEl>
                                              <p:pRg st="8" end="8"/>
                                            </p:txEl>
                                          </p:spTgt>
                                        </p:tgtEl>
                                        <p:attrNameLst>
                                          <p:attrName>ppt_x</p:attrName>
                                        </p:attrNameLst>
                                      </p:cBhvr>
                                      <p:tavLst>
                                        <p:tav tm="0">
                                          <p:val>
                                            <p:strVal val="#ppt_x"/>
                                          </p:val>
                                        </p:tav>
                                        <p:tav tm="100000">
                                          <p:val>
                                            <p:strVal val="#ppt_x"/>
                                          </p:val>
                                        </p:tav>
                                      </p:tavLst>
                                    </p:anim>
                                    <p:anim calcmode="lin" valueType="num">
                                      <p:cBhvr>
                                        <p:cTn id="59" dur="1000" fill="hold"/>
                                        <p:tgtEl>
                                          <p:spTgt spid="4">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0" fill="hold">
                      <p:stCondLst>
                        <p:cond delay="indefinite"/>
                      </p:stCondLst>
                      <p:childTnLst>
                        <p:par>
                          <p:cTn id="61" fill="hold">
                            <p:stCondLst>
                              <p:cond delay="0"/>
                            </p:stCondLst>
                            <p:childTnLst>
                              <p:par>
                                <p:cTn id="62" presetID="42" presetClass="entr" presetSubtype="0" fill="hold" grpId="0" nodeType="clickEffect">
                                  <p:stCondLst>
                                    <p:cond delay="0"/>
                                  </p:stCondLst>
                                  <p:childTnLst>
                                    <p:set>
                                      <p:cBhvr>
                                        <p:cTn id="63" dur="1" fill="hold">
                                          <p:stCondLst>
                                            <p:cond delay="0"/>
                                          </p:stCondLst>
                                        </p:cTn>
                                        <p:tgtEl>
                                          <p:spTgt spid="8">
                                            <p:txEl>
                                              <p:pRg st="0" end="0"/>
                                            </p:txEl>
                                          </p:spTgt>
                                        </p:tgtEl>
                                        <p:attrNameLst>
                                          <p:attrName>style.visibility</p:attrName>
                                        </p:attrNameLst>
                                      </p:cBhvr>
                                      <p:to>
                                        <p:strVal val="visible"/>
                                      </p:to>
                                    </p:set>
                                    <p:animEffect transition="in" filter="fade">
                                      <p:cBhvr>
                                        <p:cTn id="64" dur="1000"/>
                                        <p:tgtEl>
                                          <p:spTgt spid="8">
                                            <p:txEl>
                                              <p:pRg st="0" end="0"/>
                                            </p:txEl>
                                          </p:spTgt>
                                        </p:tgtEl>
                                      </p:cBhvr>
                                    </p:animEffect>
                                    <p:anim calcmode="lin" valueType="num">
                                      <p:cBhvr>
                                        <p:cTn id="65" dur="1000" fill="hold"/>
                                        <p:tgtEl>
                                          <p:spTgt spid="8">
                                            <p:txEl>
                                              <p:pRg st="0" end="0"/>
                                            </p:txEl>
                                          </p:spTgt>
                                        </p:tgtEl>
                                        <p:attrNameLst>
                                          <p:attrName>ppt_x</p:attrName>
                                        </p:attrNameLst>
                                      </p:cBhvr>
                                      <p:tavLst>
                                        <p:tav tm="0">
                                          <p:val>
                                            <p:strVal val="#ppt_x"/>
                                          </p:val>
                                        </p:tav>
                                        <p:tav tm="100000">
                                          <p:val>
                                            <p:strVal val="#ppt_x"/>
                                          </p:val>
                                        </p:tav>
                                      </p:tavLst>
                                    </p:anim>
                                    <p:anim calcmode="lin" valueType="num">
                                      <p:cBhvr>
                                        <p:cTn id="66" dur="1000" fill="hold"/>
                                        <p:tgtEl>
                                          <p:spTgt spid="8">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42" presetClass="entr" presetSubtype="0" fill="hold" grpId="0" nodeType="clickEffect">
                                  <p:stCondLst>
                                    <p:cond delay="0"/>
                                  </p:stCondLst>
                                  <p:childTnLst>
                                    <p:set>
                                      <p:cBhvr>
                                        <p:cTn id="70" dur="1" fill="hold">
                                          <p:stCondLst>
                                            <p:cond delay="0"/>
                                          </p:stCondLst>
                                        </p:cTn>
                                        <p:tgtEl>
                                          <p:spTgt spid="8">
                                            <p:txEl>
                                              <p:pRg st="1" end="1"/>
                                            </p:txEl>
                                          </p:spTgt>
                                        </p:tgtEl>
                                        <p:attrNameLst>
                                          <p:attrName>style.visibility</p:attrName>
                                        </p:attrNameLst>
                                      </p:cBhvr>
                                      <p:to>
                                        <p:strVal val="visible"/>
                                      </p:to>
                                    </p:set>
                                    <p:animEffect transition="in" filter="fade">
                                      <p:cBhvr>
                                        <p:cTn id="71" dur="1000"/>
                                        <p:tgtEl>
                                          <p:spTgt spid="8">
                                            <p:txEl>
                                              <p:pRg st="1" end="1"/>
                                            </p:txEl>
                                          </p:spTgt>
                                        </p:tgtEl>
                                      </p:cBhvr>
                                    </p:animEffect>
                                    <p:anim calcmode="lin" valueType="num">
                                      <p:cBhvr>
                                        <p:cTn id="72" dur="1000" fill="hold"/>
                                        <p:tgtEl>
                                          <p:spTgt spid="8">
                                            <p:txEl>
                                              <p:pRg st="1" end="1"/>
                                            </p:txEl>
                                          </p:spTgt>
                                        </p:tgtEl>
                                        <p:attrNameLst>
                                          <p:attrName>ppt_x</p:attrName>
                                        </p:attrNameLst>
                                      </p:cBhvr>
                                      <p:tavLst>
                                        <p:tav tm="0">
                                          <p:val>
                                            <p:strVal val="#ppt_x"/>
                                          </p:val>
                                        </p:tav>
                                        <p:tav tm="100000">
                                          <p:val>
                                            <p:strVal val="#ppt_x"/>
                                          </p:val>
                                        </p:tav>
                                      </p:tavLst>
                                    </p:anim>
                                    <p:anim calcmode="lin" valueType="num">
                                      <p:cBhvr>
                                        <p:cTn id="73" dur="1000" fill="hold"/>
                                        <p:tgtEl>
                                          <p:spTgt spid="8">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P spid="8" grpId="0" uiExpand="1"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1030D-4DF7-43FE-CA56-0D5206ABC8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434FE58-062F-8AF8-4818-723B35EF0A6B}"/>
              </a:ext>
            </a:extLst>
          </p:cNvPr>
          <p:cNvSpPr>
            <a:spLocks noGrp="1"/>
          </p:cNvSpPr>
          <p:nvPr>
            <p:ph type="title"/>
          </p:nvPr>
        </p:nvSpPr>
        <p:spPr>
          <a:xfrm>
            <a:off x="299581" y="476422"/>
            <a:ext cx="10039396" cy="604234"/>
          </a:xfrm>
        </p:spPr>
        <p:txBody>
          <a:bodyPr>
            <a:normAutofit fontScale="90000"/>
          </a:bodyPr>
          <a:lstStyle/>
          <a:p>
            <a:r>
              <a:rPr lang="en-US" b="1" dirty="0">
                <a:latin typeface="Arial" panose="020B0604020202020204" pitchFamily="34" charset="0"/>
                <a:cs typeface="Arial" panose="020B0604020202020204" pitchFamily="34" charset="0"/>
              </a:rPr>
              <a:t>Reverse Schur complement → Final LMI (1/3)</a:t>
            </a:r>
          </a:p>
        </p:txBody>
      </p:sp>
      <p:sp>
        <p:nvSpPr>
          <p:cNvPr id="6" name="Content Placeholder 3">
            <a:extLst>
              <a:ext uri="{FF2B5EF4-FFF2-40B4-BE49-F238E27FC236}">
                <a16:creationId xmlns:a16="http://schemas.microsoft.com/office/drawing/2014/main" id="{45367C67-D7A0-20B5-66DC-DB56A7D38589}"/>
              </a:ext>
            </a:extLst>
          </p:cNvPr>
          <p:cNvSpPr txBox="1">
            <a:spLocks/>
          </p:cNvSpPr>
          <p:nvPr/>
        </p:nvSpPr>
        <p:spPr>
          <a:xfrm>
            <a:off x="187283" y="4207555"/>
            <a:ext cx="7047705"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9165FB89-04D6-03FD-7108-1345AF8439C1}"/>
                  </a:ext>
                </a:extLst>
              </p:cNvPr>
              <p:cNvSpPr txBox="1">
                <a:spLocks/>
              </p:cNvSpPr>
              <p:nvPr/>
            </p:nvSpPr>
            <p:spPr>
              <a:xfrm>
                <a:off x="299581" y="1230283"/>
                <a:ext cx="10989103" cy="515129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000" dirty="0"/>
                  <a:t>We now build a symmetric block matrix whose Schur complement is the left side of (7.1). The idea is:</a:t>
                </a:r>
              </a:p>
              <a:p>
                <a:pPr lvl="1">
                  <a:buFont typeface="Courier New" panose="02070309020205020404" pitchFamily="49" charset="0"/>
                  <a:buChar char="o"/>
                </a:pPr>
                <a:r>
                  <a:rPr lang="en-US" sz="2000" dirty="0"/>
                  <a:t>Put </a:t>
                </a:r>
                <a14:m>
                  <m:oMath xmlns:m="http://schemas.openxmlformats.org/officeDocument/2006/math">
                    <m:r>
                      <a:rPr lang="en-US" sz="2000" i="1"/>
                      <m:t>𝐴𝑋</m:t>
                    </m:r>
                    <m:r>
                      <a:rPr lang="en-US" sz="2000"/>
                      <m:t>+</m:t>
                    </m:r>
                    <m:r>
                      <a:rPr lang="en-US" sz="2000" i="1"/>
                      <m:t>𝑋</m:t>
                    </m:r>
                    <m:sSup>
                      <m:sSupPr>
                        <m:ctrlPr>
                          <a:rPr lang="en-US" sz="2000" i="1"/>
                        </m:ctrlPr>
                      </m:sSupPr>
                      <m:e>
                        <m:r>
                          <a:rPr lang="en-US" sz="2000" i="1"/>
                          <m:t>𝐴</m:t>
                        </m:r>
                      </m:e>
                      <m:sup>
                        <m:r>
                          <a:rPr lang="en-US" sz="2000" i="1"/>
                          <m:t>𝑇</m:t>
                        </m:r>
                      </m:sup>
                    </m:sSup>
                  </m:oMath>
                </a14:m>
                <a:r>
                  <a:rPr lang="en-US" sz="2000" dirty="0"/>
                  <a:t> in the (1,1) block.</a:t>
                </a:r>
              </a:p>
              <a:p>
                <a:pPr lvl="1">
                  <a:buFont typeface="Courier New" panose="02070309020205020404" pitchFamily="49" charset="0"/>
                  <a:buChar char="o"/>
                </a:pPr>
                <a:r>
                  <a:rPr lang="en-US" sz="2000" dirty="0"/>
                  <a:t>Use an off-diagonal block with </a:t>
                </a:r>
                <a14:m>
                  <m:oMath xmlns:m="http://schemas.openxmlformats.org/officeDocument/2006/math">
                    <m:r>
                      <a:rPr lang="en-US" sz="2000" i="1"/>
                      <m:t>𝑋</m:t>
                    </m:r>
                  </m:oMath>
                </a14:m>
                <a:r>
                  <a:rPr lang="en-US" sz="2000" dirty="0"/>
                  <a:t> and </a:t>
                </a:r>
                <a14:m>
                  <m:oMath xmlns:m="http://schemas.openxmlformats.org/officeDocument/2006/math">
                    <m:r>
                      <a:rPr lang="en-US" sz="2000" i="1"/>
                      <m:t>−</m:t>
                    </m:r>
                    <m:sSub>
                      <m:sSubPr>
                        <m:ctrlPr>
                          <a:rPr lang="en-US" sz="2000" i="1"/>
                        </m:ctrlPr>
                      </m:sSubPr>
                      <m:e>
                        <m:r>
                          <a:rPr lang="en-US" sz="2000" i="1"/>
                          <m:t>𝑄</m:t>
                        </m:r>
                      </m:e>
                      <m:sub>
                        <m:r>
                          <a:rPr lang="en-US" sz="2000" i="1"/>
                          <m:t>𝑇</m:t>
                        </m:r>
                      </m:sub>
                    </m:sSub>
                  </m:oMath>
                </a14:m>
                <a:r>
                  <a:rPr lang="en-US" sz="2000" dirty="0"/>
                  <a:t> to represent </a:t>
                </a:r>
                <a14:m>
                  <m:oMath xmlns:m="http://schemas.openxmlformats.org/officeDocument/2006/math">
                    <m:r>
                      <a:rPr lang="en-US" sz="2000" i="1"/>
                      <m:t>𝑋</m:t>
                    </m:r>
                    <m:sSubSup>
                      <m:sSubSupPr>
                        <m:ctrlPr>
                          <a:rPr lang="en-US" sz="2000" i="1"/>
                        </m:ctrlPr>
                      </m:sSubSupPr>
                      <m:e>
                        <m:r>
                          <a:rPr lang="en-US" sz="2000" i="1"/>
                          <m:t>𝑄</m:t>
                        </m:r>
                      </m:e>
                      <m:sub>
                        <m:r>
                          <a:rPr lang="en-US" sz="2000" i="1"/>
                          <m:t>𝑇</m:t>
                        </m:r>
                      </m:sub>
                      <m:sup>
                        <m:r>
                          <a:rPr lang="en-US" sz="2000" i="1"/>
                          <m:t>−1</m:t>
                        </m:r>
                      </m:sup>
                    </m:sSubSup>
                    <m:r>
                      <a:rPr lang="en-US" sz="2000" i="1"/>
                      <m:t>𝑋</m:t>
                    </m:r>
                    <m:r>
                      <a:rPr lang="en-US" sz="2000"/>
                      <m:t>≈</m:t>
                    </m:r>
                    <m:r>
                      <a:rPr lang="en-US" sz="2000" i="1"/>
                      <m:t>𝑋</m:t>
                    </m:r>
                    <m:d>
                      <m:dPr>
                        <m:ctrlPr>
                          <a:rPr lang="en-US" sz="2000" i="1"/>
                        </m:ctrlPr>
                      </m:dPr>
                      <m:e>
                        <m:sSub>
                          <m:sSubPr>
                            <m:ctrlPr>
                              <a:rPr lang="en-US" sz="2000" i="1"/>
                            </m:ctrlPr>
                          </m:sSubPr>
                          <m:e>
                            <m:r>
                              <a:rPr lang="en-US" sz="2000" i="1"/>
                              <m:t>𝑄</m:t>
                            </m:r>
                          </m:e>
                          <m:sub>
                            <m:r>
                              <a:rPr lang="en-US" sz="2000" i="1"/>
                              <m:t>1</m:t>
                            </m:r>
                          </m:sub>
                        </m:sSub>
                        <m:r>
                          <a:rPr lang="en-US" sz="2000"/>
                          <m:t>+</m:t>
                        </m:r>
                        <m:sSub>
                          <m:sSubPr>
                            <m:ctrlPr>
                              <a:rPr lang="en-US" sz="2000" i="1"/>
                            </m:ctrlPr>
                          </m:sSubPr>
                          <m:e>
                            <m:r>
                              <a:rPr lang="en-US" sz="2000" i="1"/>
                              <m:t>𝑄</m:t>
                            </m:r>
                          </m:e>
                          <m:sub>
                            <m:r>
                              <a:rPr lang="en-US" sz="2000" i="1"/>
                              <m:t>2</m:t>
                            </m:r>
                          </m:sub>
                        </m:sSub>
                      </m:e>
                    </m:d>
                    <m:r>
                      <a:rPr lang="en-US" sz="2000" i="1"/>
                      <m:t>𝑋</m:t>
                    </m:r>
                  </m:oMath>
                </a14:m>
                <a:r>
                  <a:rPr lang="en-US" sz="2000" dirty="0"/>
                  <a:t>.</a:t>
                </a:r>
              </a:p>
              <a:p>
                <a:pPr lvl="1">
                  <a:buFont typeface="Courier New" panose="02070309020205020404" pitchFamily="49" charset="0"/>
                  <a:buChar char="o"/>
                </a:pPr>
                <a:r>
                  <a:rPr lang="en-US" sz="2000" dirty="0"/>
                  <a:t>Use </a:t>
                </a:r>
                <a14:m>
                  <m:oMath xmlns:m="http://schemas.openxmlformats.org/officeDocument/2006/math">
                    <m:r>
                      <a:rPr lang="en-US" sz="2000" i="1"/>
                      <m:t>𝐿𝑋</m:t>
                    </m:r>
                  </m:oMath>
                </a14:m>
                <a:r>
                  <a:rPr lang="en-US" sz="2000" dirty="0"/>
                  <a:t> and </a:t>
                </a:r>
                <a14:m>
                  <m:oMath xmlns:m="http://schemas.openxmlformats.org/officeDocument/2006/math">
                    <m:r>
                      <a:rPr lang="en-US" sz="2000" i="1"/>
                      <m:t>−</m:t>
                    </m:r>
                    <m:r>
                      <a:rPr lang="en-US" sz="2000" i="1"/>
                      <m:t>𝐼</m:t>
                    </m:r>
                  </m:oMath>
                </a14:m>
                <a:r>
                  <a:rPr lang="en-US" sz="2000" dirty="0"/>
                  <a:t> to generate </a:t>
                </a:r>
                <a14:m>
                  <m:oMath xmlns:m="http://schemas.openxmlformats.org/officeDocument/2006/math">
                    <m:r>
                      <a:rPr lang="en-US" sz="2000" i="1"/>
                      <m:t>𝑋</m:t>
                    </m:r>
                    <m:sSup>
                      <m:sSupPr>
                        <m:ctrlPr>
                          <a:rPr lang="en-US" sz="2000" i="1"/>
                        </m:ctrlPr>
                      </m:sSupPr>
                      <m:e>
                        <m:r>
                          <a:rPr lang="en-US" sz="2000" i="1"/>
                          <m:t>𝐿</m:t>
                        </m:r>
                      </m:e>
                      <m:sup>
                        <m:r>
                          <a:rPr lang="en-US" sz="2000" i="1"/>
                          <m:t>𝑇</m:t>
                        </m:r>
                      </m:sup>
                    </m:sSup>
                    <m:r>
                      <a:rPr lang="en-US" sz="2000" i="1"/>
                      <m:t>𝐿𝑋</m:t>
                    </m:r>
                  </m:oMath>
                </a14:m>
                <a:r>
                  <a:rPr lang="en-US" sz="2000" dirty="0"/>
                  <a:t>.</a:t>
                </a:r>
              </a:p>
              <a:p>
                <a:pPr lvl="1">
                  <a:buFont typeface="Courier New" panose="02070309020205020404" pitchFamily="49" charset="0"/>
                  <a:buChar char="o"/>
                </a:pPr>
                <a:r>
                  <a:rPr lang="en-US" sz="2000" dirty="0"/>
                  <a:t>Use </a:t>
                </a:r>
                <a14:m>
                  <m:oMath xmlns:m="http://schemas.openxmlformats.org/officeDocument/2006/math">
                    <m:sSub>
                      <m:sSubPr>
                        <m:ctrlPr>
                          <a:rPr lang="en-US" sz="2000" i="1"/>
                        </m:ctrlPr>
                      </m:sSubPr>
                      <m:e>
                        <m:r>
                          <a:rPr lang="en-US" sz="2000" i="1"/>
                          <m:t>𝐴</m:t>
                        </m:r>
                      </m:e>
                      <m:sub>
                        <m:r>
                          <a:rPr lang="en-US" sz="2000" i="1"/>
                          <m:t>𝑑</m:t>
                        </m:r>
                      </m:sub>
                    </m:sSub>
                    <m:r>
                      <a:rPr lang="en-US" sz="2000"/>
                      <m:t>+</m:t>
                    </m:r>
                    <m:r>
                      <a:rPr lang="en-US" sz="2000" i="1"/>
                      <m:t>𝐵</m:t>
                    </m:r>
                    <m:sSub>
                      <m:sSubPr>
                        <m:ctrlPr>
                          <a:rPr lang="en-US" sz="2000" i="1"/>
                        </m:ctrlPr>
                      </m:sSubPr>
                      <m:e>
                        <m:r>
                          <a:rPr lang="en-US" sz="2000" i="1"/>
                          <m:t>𝐹</m:t>
                        </m:r>
                      </m:e>
                      <m:sub>
                        <m:r>
                          <a:rPr lang="en-US" sz="2000" i="1"/>
                          <m:t>1</m:t>
                        </m:r>
                      </m:sub>
                    </m:sSub>
                    <m:r>
                      <a:rPr lang="en-US" sz="2000" i="1"/>
                      <m:t>𝐶</m:t>
                    </m:r>
                  </m:oMath>
                </a14:m>
                <a:r>
                  <a:rPr lang="en-US" sz="2000" dirty="0"/>
                  <a:t> and </a:t>
                </a:r>
                <a14:m>
                  <m:oMath xmlns:m="http://schemas.openxmlformats.org/officeDocument/2006/math">
                    <m:r>
                      <a:rPr lang="en-US" sz="2000" i="1"/>
                      <m:t>−</m:t>
                    </m:r>
                    <m:sSub>
                      <m:sSubPr>
                        <m:ctrlPr>
                          <a:rPr lang="en-US" sz="2000" i="1"/>
                        </m:ctrlPr>
                      </m:sSubPr>
                      <m:e>
                        <m:r>
                          <a:rPr lang="en-US" sz="2000" i="1"/>
                          <m:t>𝑄</m:t>
                        </m:r>
                      </m:e>
                      <m:sub>
                        <m:r>
                          <a:rPr lang="en-US" sz="2000" i="1"/>
                          <m:t>1</m:t>
                        </m:r>
                      </m:sub>
                    </m:sSub>
                  </m:oMath>
                </a14:m>
                <a:r>
                  <a:rPr lang="en-US" sz="2000" dirty="0"/>
                  <a:t> to produce the </a:t>
                </a:r>
                <a14:m>
                  <m:oMath xmlns:m="http://schemas.openxmlformats.org/officeDocument/2006/math">
                    <m:d>
                      <m:dPr>
                        <m:ctrlPr>
                          <a:rPr lang="en-US" sz="2000" i="1"/>
                        </m:ctrlPr>
                      </m:dPr>
                      <m:e>
                        <m:sSub>
                          <m:sSubPr>
                            <m:ctrlPr>
                              <a:rPr lang="en-US" sz="2000" i="1"/>
                            </m:ctrlPr>
                          </m:sSubPr>
                          <m:e>
                            <m:r>
                              <a:rPr lang="en-US" sz="2000" i="1"/>
                              <m:t>𝐴</m:t>
                            </m:r>
                          </m:e>
                          <m:sub>
                            <m:r>
                              <a:rPr lang="en-US" sz="2000" i="1"/>
                              <m:t>𝑑</m:t>
                            </m:r>
                          </m:sub>
                        </m:sSub>
                        <m:r>
                          <a:rPr lang="en-US" sz="2000"/>
                          <m:t>+</m:t>
                        </m:r>
                        <m:r>
                          <a:rPr lang="en-US" sz="2000" i="1"/>
                          <m:t>𝐵</m:t>
                        </m:r>
                        <m:sSub>
                          <m:sSubPr>
                            <m:ctrlPr>
                              <a:rPr lang="en-US" sz="2000" i="1"/>
                            </m:ctrlPr>
                          </m:sSubPr>
                          <m:e>
                            <m:r>
                              <a:rPr lang="en-US" sz="2000" i="1"/>
                              <m:t>𝐹</m:t>
                            </m:r>
                          </m:e>
                          <m:sub>
                            <m:r>
                              <a:rPr lang="en-US" sz="2000" i="1"/>
                              <m:t>1</m:t>
                            </m:r>
                          </m:sub>
                        </m:sSub>
                        <m:r>
                          <a:rPr lang="en-US" sz="2000" i="1"/>
                          <m:t>𝐶</m:t>
                        </m:r>
                      </m:e>
                    </m:d>
                    <m:sSubSup>
                      <m:sSubSupPr>
                        <m:ctrlPr>
                          <a:rPr lang="en-US" sz="2000" i="1"/>
                        </m:ctrlPr>
                      </m:sSubSupPr>
                      <m:e>
                        <m:r>
                          <a:rPr lang="en-US" sz="2000" i="1"/>
                          <m:t>𝑄</m:t>
                        </m:r>
                      </m:e>
                      <m:sub>
                        <m:r>
                          <a:rPr lang="en-US" sz="2000" i="1"/>
                          <m:t>1</m:t>
                        </m:r>
                      </m:sub>
                      <m:sup>
                        <m:r>
                          <a:rPr lang="en-US" sz="2000" i="1"/>
                          <m:t>−1</m:t>
                        </m:r>
                      </m:sup>
                    </m:sSubSup>
                    <m:sSup>
                      <m:sSupPr>
                        <m:ctrlPr>
                          <a:rPr lang="en-US" sz="2000" i="1"/>
                        </m:ctrlPr>
                      </m:sSupPr>
                      <m:e>
                        <m:d>
                          <m:dPr>
                            <m:ctrlPr>
                              <a:rPr lang="en-US" sz="2000" i="1"/>
                            </m:ctrlPr>
                          </m:dPr>
                          <m:e>
                            <m:sSub>
                              <m:sSubPr>
                                <m:ctrlPr>
                                  <a:rPr lang="en-US" sz="2000" i="1"/>
                                </m:ctrlPr>
                              </m:sSubPr>
                              <m:e>
                                <m:r>
                                  <a:rPr lang="en-US" sz="2000" i="1"/>
                                  <m:t>𝐴</m:t>
                                </m:r>
                              </m:e>
                              <m:sub>
                                <m:r>
                                  <a:rPr lang="en-US" sz="2000" i="1"/>
                                  <m:t>𝑑</m:t>
                                </m:r>
                              </m:sub>
                            </m:sSub>
                            <m:r>
                              <a:rPr lang="en-US" sz="2000"/>
                              <m:t>+</m:t>
                            </m:r>
                            <m:r>
                              <a:rPr lang="en-US" sz="2000" i="1"/>
                              <m:t>𝐵</m:t>
                            </m:r>
                            <m:sSub>
                              <m:sSubPr>
                                <m:ctrlPr>
                                  <a:rPr lang="en-US" sz="2000" i="1"/>
                                </m:ctrlPr>
                              </m:sSubPr>
                              <m:e>
                                <m:r>
                                  <a:rPr lang="en-US" sz="2000" i="1"/>
                                  <m:t>𝐹</m:t>
                                </m:r>
                              </m:e>
                              <m:sub>
                                <m:r>
                                  <a:rPr lang="en-US" sz="2000" i="1"/>
                                  <m:t>1</m:t>
                                </m:r>
                              </m:sub>
                            </m:sSub>
                            <m:r>
                              <a:rPr lang="en-US" sz="2000" i="1"/>
                              <m:t>𝐶</m:t>
                            </m:r>
                          </m:e>
                        </m:d>
                      </m:e>
                      <m:sup>
                        <m:r>
                          <a:rPr lang="en-US" sz="2000" i="1"/>
                          <m:t>𝑇</m:t>
                        </m:r>
                      </m:sup>
                    </m:sSup>
                  </m:oMath>
                </a14:m>
                <a:r>
                  <a:rPr lang="en-US" sz="2000" dirty="0"/>
                  <a:t> block </a:t>
                </a:r>
              </a:p>
              <a:p>
                <a:pPr marL="457200" lvl="1" indent="0">
                  <a:buNone/>
                </a:pPr>
                <a:r>
                  <a:rPr lang="en-US" sz="2000" dirty="0"/>
                  <a:t>    (when Schur complemented).</a:t>
                </a:r>
              </a:p>
              <a:p>
                <a:pPr lvl="1">
                  <a:buFont typeface="Courier New" panose="02070309020205020404" pitchFamily="49" charset="0"/>
                  <a:buChar char="o"/>
                </a:pPr>
                <a:r>
                  <a:rPr lang="en-US" sz="2000" dirty="0"/>
                  <a:t>Use </a:t>
                </a:r>
                <a14:m>
                  <m:oMath xmlns:m="http://schemas.openxmlformats.org/officeDocument/2006/math">
                    <m:r>
                      <a:rPr lang="en-US" sz="2000" i="1"/>
                      <m:t>𝐵</m:t>
                    </m:r>
                    <m:sSub>
                      <m:sSubPr>
                        <m:ctrlPr>
                          <a:rPr lang="en-US" sz="2000" i="1"/>
                        </m:ctrlPr>
                      </m:sSubPr>
                      <m:e>
                        <m:r>
                          <a:rPr lang="en-US" sz="2000" i="1"/>
                          <m:t>𝐹</m:t>
                        </m:r>
                      </m:e>
                      <m:sub>
                        <m:r>
                          <a:rPr lang="en-US" sz="2000" i="1"/>
                          <m:t>2</m:t>
                        </m:r>
                      </m:sub>
                    </m:sSub>
                    <m:r>
                      <a:rPr lang="en-US" sz="2000" i="1"/>
                      <m:t>𝐶</m:t>
                    </m:r>
                  </m:oMath>
                </a14:m>
                <a:r>
                  <a:rPr lang="en-US" sz="2000" dirty="0"/>
                  <a:t> and </a:t>
                </a:r>
                <a14:m>
                  <m:oMath xmlns:m="http://schemas.openxmlformats.org/officeDocument/2006/math">
                    <m:r>
                      <a:rPr lang="en-US" sz="2000" i="1"/>
                      <m:t>−</m:t>
                    </m:r>
                    <m:sSub>
                      <m:sSubPr>
                        <m:ctrlPr>
                          <a:rPr lang="en-US" sz="2000" i="1"/>
                        </m:ctrlPr>
                      </m:sSubPr>
                      <m:e>
                        <m:r>
                          <a:rPr lang="en-US" sz="2000" i="1"/>
                          <m:t>𝑄</m:t>
                        </m:r>
                      </m:e>
                      <m:sub>
                        <m:r>
                          <a:rPr lang="en-US" sz="2000" i="1"/>
                          <m:t>2</m:t>
                        </m:r>
                      </m:sub>
                    </m:sSub>
                  </m:oMath>
                </a14:m>
                <a:r>
                  <a:rPr lang="en-US" sz="2000" dirty="0"/>
                  <a:t> similarly for the </a:t>
                </a:r>
                <a14:m>
                  <m:oMath xmlns:m="http://schemas.openxmlformats.org/officeDocument/2006/math">
                    <m:sSub>
                      <m:sSubPr>
                        <m:ctrlPr>
                          <a:rPr lang="en-US" sz="2000" i="1"/>
                        </m:ctrlPr>
                      </m:sSubPr>
                      <m:e>
                        <m:r>
                          <a:rPr lang="en-US" sz="2000" i="1"/>
                          <m:t>𝐹</m:t>
                        </m:r>
                      </m:e>
                      <m:sub>
                        <m:r>
                          <a:rPr lang="en-US" sz="2000" i="1"/>
                          <m:t>2</m:t>
                        </m:r>
                      </m:sub>
                    </m:sSub>
                  </m:oMath>
                </a14:m>
                <a:r>
                  <a:rPr lang="en-US" sz="2000" dirty="0"/>
                  <a:t> quadratic term.</a:t>
                </a:r>
              </a:p>
              <a:p>
                <a:pPr lvl="1">
                  <a:buFont typeface="Courier New" panose="02070309020205020404" pitchFamily="49" charset="0"/>
                  <a:buChar char="o"/>
                </a:pPr>
                <a:r>
                  <a:rPr lang="en-US" sz="2000" dirty="0"/>
                  <a:t>Use </a:t>
                </a:r>
                <a14:m>
                  <m:oMath xmlns:m="http://schemas.openxmlformats.org/officeDocument/2006/math">
                    <m:r>
                      <a:rPr lang="en-US" sz="2000" i="1"/>
                      <m:t>𝐷</m:t>
                    </m:r>
                  </m:oMath>
                </a14:m>
                <a:r>
                  <a:rPr lang="en-US" sz="2000" dirty="0"/>
                  <a:t> and </a:t>
                </a:r>
                <a14:m>
                  <m:oMath xmlns:m="http://schemas.openxmlformats.org/officeDocument/2006/math">
                    <m:r>
                      <a:rPr lang="en-US" sz="2000" i="1"/>
                      <m:t>−</m:t>
                    </m:r>
                    <m:sSup>
                      <m:sSupPr>
                        <m:ctrlPr>
                          <a:rPr lang="en-US" sz="2000" i="1"/>
                        </m:ctrlPr>
                      </m:sSupPr>
                      <m:e>
                        <m:r>
                          <a:rPr lang="en-US" sz="2000" i="1"/>
                          <m:t>𝛾</m:t>
                        </m:r>
                      </m:e>
                      <m:sup>
                        <m:r>
                          <a:rPr lang="en-US" sz="2000" i="1"/>
                          <m:t>2</m:t>
                        </m:r>
                      </m:sup>
                    </m:sSup>
                    <m:r>
                      <a:rPr lang="en-US" sz="2000" i="1"/>
                      <m:t>𝐼</m:t>
                    </m:r>
                  </m:oMath>
                </a14:m>
                <a:r>
                  <a:rPr lang="en-US" sz="2000" dirty="0"/>
                  <a:t> to produce the disturbance term.</a:t>
                </a:r>
              </a:p>
              <a:p>
                <a:pPr marL="0" indent="0">
                  <a:buNone/>
                </a:pPr>
                <a:endParaRPr lang="en-US" sz="2000" dirty="0"/>
              </a:p>
              <a:p>
                <a:pPr marL="0" indent="0">
                  <a:buNone/>
                </a:pPr>
                <a:endParaRPr lang="en-US" sz="2000" dirty="0"/>
              </a:p>
              <a:p>
                <a:pPr marL="0" indent="0">
                  <a:buNone/>
                </a:pPr>
                <a:endParaRPr lang="en-US" sz="2400" dirty="0">
                  <a:latin typeface="Arial" panose="020B0604020202020204" pitchFamily="34" charset="0"/>
                  <a:cs typeface="Arial" panose="020B0604020202020204" pitchFamily="34" charset="0"/>
                </a:endParaRPr>
              </a:p>
            </p:txBody>
          </p:sp>
        </mc:Choice>
        <mc:Fallback>
          <p:sp>
            <p:nvSpPr>
              <p:cNvPr id="4" name="Content Placeholder 3">
                <a:extLst>
                  <a:ext uri="{FF2B5EF4-FFF2-40B4-BE49-F238E27FC236}">
                    <a16:creationId xmlns:a16="http://schemas.microsoft.com/office/drawing/2014/main" id="{9165FB89-04D6-03FD-7108-1345AF8439C1}"/>
                  </a:ext>
                </a:extLst>
              </p:cNvPr>
              <p:cNvSpPr txBox="1">
                <a:spLocks noRot="1" noChangeAspect="1" noMove="1" noResize="1" noEditPoints="1" noAdjustHandles="1" noChangeArrowheads="1" noChangeShapeType="1" noTextEdit="1"/>
              </p:cNvSpPr>
              <p:nvPr/>
            </p:nvSpPr>
            <p:spPr>
              <a:xfrm>
                <a:off x="299581" y="1230283"/>
                <a:ext cx="10989103" cy="5151296"/>
              </a:xfrm>
              <a:prstGeom prst="rect">
                <a:avLst/>
              </a:prstGeom>
              <a:blipFill>
                <a:blip r:embed="rId3"/>
                <a:stretch>
                  <a:fillRect l="-222" t="-828"/>
                </a:stretch>
              </a:blipFill>
            </p:spPr>
            <p:txBody>
              <a:bodyPr/>
              <a:lstStyle/>
              <a:p>
                <a:r>
                  <a:rPr lang="en-US">
                    <a:noFill/>
                  </a:rPr>
                  <a:t> </a:t>
                </a:r>
              </a:p>
            </p:txBody>
          </p:sp>
        </mc:Fallback>
      </mc:AlternateContent>
      <p:sp>
        <p:nvSpPr>
          <p:cNvPr id="5" name="Slide Number Placeholder 2">
            <a:extLst>
              <a:ext uri="{FF2B5EF4-FFF2-40B4-BE49-F238E27FC236}">
                <a16:creationId xmlns:a16="http://schemas.microsoft.com/office/drawing/2014/main" id="{96AF35E2-AF0D-376C-8DDD-FCAB92662141}"/>
              </a:ext>
            </a:extLst>
          </p:cNvPr>
          <p:cNvSpPr>
            <a:spLocks noGrp="1"/>
          </p:cNvSpPr>
          <p:nvPr>
            <p:ph type="sldNum" sz="quarter" idx="12"/>
          </p:nvPr>
        </p:nvSpPr>
        <p:spPr>
          <a:xfrm>
            <a:off x="7795578" y="6141113"/>
            <a:ext cx="1096432" cy="716887"/>
          </a:xfrm>
        </p:spPr>
        <p:txBody>
          <a:bodyPr/>
          <a:lstStyle/>
          <a:p>
            <a:r>
              <a:rPr lang="en-US" dirty="0"/>
              <a:t>16</a:t>
            </a:r>
          </a:p>
        </p:txBody>
      </p:sp>
    </p:spTree>
    <p:extLst>
      <p:ext uri="{BB962C8B-B14F-4D97-AF65-F5344CB8AC3E}">
        <p14:creationId xmlns:p14="http://schemas.microsoft.com/office/powerpoint/2010/main" val="3887232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1000"/>
                                        <p:tgtEl>
                                          <p:spTgt spid="4">
                                            <p:txEl>
                                              <p:pRg st="4" end="4"/>
                                            </p:txEl>
                                          </p:spTgt>
                                        </p:tgtEl>
                                      </p:cBhvr>
                                    </p:animEffect>
                                    <p:anim calcmode="lin" valueType="num">
                                      <p:cBhvr>
                                        <p:cTn id="2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1000"/>
                                        <p:tgtEl>
                                          <p:spTgt spid="4">
                                            <p:txEl>
                                              <p:pRg st="5" end="5"/>
                                            </p:txEl>
                                          </p:spTgt>
                                        </p:tgtEl>
                                      </p:cBhvr>
                                    </p:animEffect>
                                    <p:anim calcmode="lin" valueType="num">
                                      <p:cBhvr>
                                        <p:cTn id="3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grpId="0" nodeType="with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fade">
                                      <p:cBhvr>
                                        <p:cTn id="37" dur="1000"/>
                                        <p:tgtEl>
                                          <p:spTgt spid="4">
                                            <p:txEl>
                                              <p:pRg st="6" end="6"/>
                                            </p:txEl>
                                          </p:spTgt>
                                        </p:tgtEl>
                                      </p:cBhvr>
                                    </p:animEffect>
                                    <p:anim calcmode="lin" valueType="num">
                                      <p:cBhvr>
                                        <p:cTn id="38" dur="1000" fill="hold"/>
                                        <p:tgtEl>
                                          <p:spTgt spid="4">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4">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fade">
                                      <p:cBhvr>
                                        <p:cTn id="42" dur="1000"/>
                                        <p:tgtEl>
                                          <p:spTgt spid="4">
                                            <p:txEl>
                                              <p:pRg st="7" end="7"/>
                                            </p:txEl>
                                          </p:spTgt>
                                        </p:tgtEl>
                                      </p:cBhvr>
                                    </p:animEffect>
                                    <p:anim calcmode="lin" valueType="num">
                                      <p:cBhvr>
                                        <p:cTn id="43" dur="1000" fill="hold"/>
                                        <p:tgtEl>
                                          <p:spTgt spid="4">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4">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174BC3-8ABB-80ED-8EFD-6B02E72D82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88BCA-90D2-DDAE-719D-FB55958D49CE}"/>
              </a:ext>
            </a:extLst>
          </p:cNvPr>
          <p:cNvSpPr>
            <a:spLocks noGrp="1"/>
          </p:cNvSpPr>
          <p:nvPr>
            <p:ph type="title"/>
          </p:nvPr>
        </p:nvSpPr>
        <p:spPr>
          <a:xfrm>
            <a:off x="299581" y="476422"/>
            <a:ext cx="10039396" cy="604234"/>
          </a:xfrm>
        </p:spPr>
        <p:txBody>
          <a:bodyPr>
            <a:normAutofit fontScale="90000"/>
          </a:bodyPr>
          <a:lstStyle/>
          <a:p>
            <a:r>
              <a:rPr lang="en-US" b="1" dirty="0">
                <a:latin typeface="Arial" panose="020B0604020202020204" pitchFamily="34" charset="0"/>
                <a:cs typeface="Arial" panose="020B0604020202020204" pitchFamily="34" charset="0"/>
              </a:rPr>
              <a:t>Reverse Schur complement → Final LMI (2/3)</a:t>
            </a:r>
          </a:p>
        </p:txBody>
      </p:sp>
      <p:sp>
        <p:nvSpPr>
          <p:cNvPr id="6" name="Content Placeholder 3">
            <a:extLst>
              <a:ext uri="{FF2B5EF4-FFF2-40B4-BE49-F238E27FC236}">
                <a16:creationId xmlns:a16="http://schemas.microsoft.com/office/drawing/2014/main" id="{907F1066-6233-1704-0CAF-346D80592F0D}"/>
              </a:ext>
            </a:extLst>
          </p:cNvPr>
          <p:cNvSpPr txBox="1">
            <a:spLocks/>
          </p:cNvSpPr>
          <p:nvPr/>
        </p:nvSpPr>
        <p:spPr>
          <a:xfrm>
            <a:off x="187283" y="4207555"/>
            <a:ext cx="7047705"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42BC51EF-29B1-B81B-B660-3DF2F6B87BAE}"/>
                  </a:ext>
                </a:extLst>
              </p:cNvPr>
              <p:cNvSpPr txBox="1">
                <a:spLocks/>
              </p:cNvSpPr>
              <p:nvPr/>
            </p:nvSpPr>
            <p:spPr>
              <a:xfrm>
                <a:off x="299582" y="1230283"/>
                <a:ext cx="9110426" cy="515129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0"/>
                <a:r>
                  <a:rPr lang="en-US" sz="2200" dirty="0">
                    <a:latin typeface="Arial" panose="020B0604020202020204" pitchFamily="34" charset="0"/>
                    <a:cs typeface="Arial" panose="020B0604020202020204" pitchFamily="34" charset="0"/>
                  </a:rPr>
                  <a:t>Schur complement of the lower-right </a:t>
                </a:r>
                <a14:m>
                  <m:oMath xmlns:m="http://schemas.openxmlformats.org/officeDocument/2006/math">
                    <m:r>
                      <a:rPr lang="en-US" sz="2200" i="1"/>
                      <m:t>5</m:t>
                    </m:r>
                    <m:r>
                      <a:rPr lang="en-US" sz="2200"/>
                      <m:t>×</m:t>
                    </m:r>
                    <m:r>
                      <a:rPr lang="en-US" sz="2200" i="1"/>
                      <m:t>5</m:t>
                    </m:r>
                  </m:oMath>
                </a14:m>
                <a:r>
                  <a:rPr lang="en-US" sz="2200" dirty="0">
                    <a:latin typeface="Arial" panose="020B0604020202020204" pitchFamily="34" charset="0"/>
                    <a:cs typeface="Arial" panose="020B0604020202020204" pitchFamily="34" charset="0"/>
                  </a:rPr>
                  <a:t> block yields top-left block minus cross-term contributions:</a:t>
                </a:r>
              </a:p>
              <a:p>
                <a:pPr lvl="1">
                  <a:buFont typeface="Courier New" panose="02070309020205020404" pitchFamily="49" charset="0"/>
                  <a:buChar char="o"/>
                </a:pPr>
                <a:r>
                  <a:rPr lang="en-US" sz="2200" dirty="0">
                    <a:latin typeface="Arial" panose="020B0604020202020204" pitchFamily="34" charset="0"/>
                    <a:cs typeface="Arial" panose="020B0604020202020204" pitchFamily="34" charset="0"/>
                  </a:rPr>
                  <a:t>The </a:t>
                </a:r>
                <a14:m>
                  <m:oMath xmlns:m="http://schemas.openxmlformats.org/officeDocument/2006/math">
                    <m:r>
                      <a:rPr lang="en-US" sz="2200" i="1"/>
                      <m:t>𝑋</m:t>
                    </m:r>
                    <m:r>
                      <a:rPr lang="en-US" sz="2200"/>
                      <m:t>,</m:t>
                    </m:r>
                    <m:r>
                      <a:rPr lang="en-US" sz="2200" i="1"/>
                      <m:t>−</m:t>
                    </m:r>
                    <m:sSub>
                      <m:sSubPr>
                        <m:ctrlPr>
                          <a:rPr lang="en-US" sz="2200" i="1"/>
                        </m:ctrlPr>
                      </m:sSubPr>
                      <m:e>
                        <m:r>
                          <a:rPr lang="en-US" sz="2200" i="1"/>
                          <m:t>𝑄</m:t>
                        </m:r>
                      </m:e>
                      <m:sub>
                        <m:r>
                          <a:rPr lang="en-US" sz="2200" i="1"/>
                          <m:t>𝑇</m:t>
                        </m:r>
                      </m:sub>
                    </m:sSub>
                  </m:oMath>
                </a14:m>
                <a:r>
                  <a:rPr lang="en-US" sz="2200" dirty="0">
                    <a:latin typeface="Arial" panose="020B0604020202020204" pitchFamily="34" charset="0"/>
                    <a:cs typeface="Arial" panose="020B0604020202020204" pitchFamily="34" charset="0"/>
                  </a:rPr>
                  <a:t> pair gives </a:t>
                </a:r>
                <a14:m>
                  <m:oMath xmlns:m="http://schemas.openxmlformats.org/officeDocument/2006/math">
                    <m:r>
                      <a:rPr lang="en-US" sz="2200" i="1"/>
                      <m:t>𝑋</m:t>
                    </m:r>
                    <m:sSubSup>
                      <m:sSubSupPr>
                        <m:ctrlPr>
                          <a:rPr lang="en-US" sz="2200" i="1"/>
                        </m:ctrlPr>
                      </m:sSubSupPr>
                      <m:e>
                        <m:r>
                          <a:rPr lang="en-US" sz="2200" i="1"/>
                          <m:t>𝑄</m:t>
                        </m:r>
                      </m:e>
                      <m:sub>
                        <m:r>
                          <a:rPr lang="en-US" sz="2200" i="1"/>
                          <m:t>𝑇</m:t>
                        </m:r>
                      </m:sub>
                      <m:sup>
                        <m:r>
                          <a:rPr lang="en-US" sz="2200" i="1"/>
                          <m:t>−1</m:t>
                        </m:r>
                      </m:sup>
                    </m:sSubSup>
                    <m:r>
                      <a:rPr lang="en-US" sz="2200" i="1"/>
                      <m:t>𝑋</m:t>
                    </m:r>
                  </m:oMath>
                </a14:m>
                <a:r>
                  <a:rPr lang="en-US" sz="2200" dirty="0">
                    <a:latin typeface="Arial" panose="020B0604020202020204" pitchFamily="34" charset="0"/>
                    <a:cs typeface="Arial" panose="020B0604020202020204" pitchFamily="34" charset="0"/>
                  </a:rPr>
                  <a:t>, which stands in for </a:t>
                </a:r>
                <a14:m>
                  <m:oMath xmlns:m="http://schemas.openxmlformats.org/officeDocument/2006/math">
                    <m:r>
                      <a:rPr lang="en-US" sz="2200" i="1"/>
                      <m:t>𝑋</m:t>
                    </m:r>
                    <m:d>
                      <m:dPr>
                        <m:ctrlPr>
                          <a:rPr lang="en-US" sz="2200" i="1"/>
                        </m:ctrlPr>
                      </m:dPr>
                      <m:e>
                        <m:sSub>
                          <m:sSubPr>
                            <m:ctrlPr>
                              <a:rPr lang="en-US" sz="2200" i="1"/>
                            </m:ctrlPr>
                          </m:sSubPr>
                          <m:e>
                            <m:r>
                              <a:rPr lang="en-US" sz="2200" i="1"/>
                              <m:t>𝑄</m:t>
                            </m:r>
                          </m:e>
                          <m:sub>
                            <m:r>
                              <a:rPr lang="en-US" sz="2200" i="1"/>
                              <m:t>1</m:t>
                            </m:r>
                          </m:sub>
                        </m:sSub>
                        <m:r>
                          <a:rPr lang="en-US" sz="2200"/>
                          <m:t>+</m:t>
                        </m:r>
                        <m:sSub>
                          <m:sSubPr>
                            <m:ctrlPr>
                              <a:rPr lang="en-US" sz="2200" i="1"/>
                            </m:ctrlPr>
                          </m:sSubPr>
                          <m:e>
                            <m:r>
                              <a:rPr lang="en-US" sz="2200" i="1"/>
                              <m:t>𝑄</m:t>
                            </m:r>
                          </m:e>
                          <m:sub>
                            <m:r>
                              <a:rPr lang="en-US" sz="2200" i="1"/>
                              <m:t>2</m:t>
                            </m:r>
                          </m:sub>
                        </m:sSub>
                      </m:e>
                    </m:d>
                    <m:r>
                      <a:rPr lang="en-US" sz="2200" i="1"/>
                      <m:t>𝑋</m:t>
                    </m:r>
                  </m:oMath>
                </a14:m>
                <a:r>
                  <a:rPr lang="en-US" sz="2200" dirty="0">
                    <a:latin typeface="Arial" panose="020B0604020202020204" pitchFamily="34" charset="0"/>
                    <a:cs typeface="Arial" panose="020B0604020202020204" pitchFamily="34" charset="0"/>
                  </a:rPr>
                  <a:t>.</a:t>
                </a:r>
              </a:p>
              <a:p>
                <a:pPr lvl="1">
                  <a:buFont typeface="Courier New" panose="02070309020205020404" pitchFamily="49" charset="0"/>
                  <a:buChar char="o"/>
                </a:pPr>
                <a:r>
                  <a:rPr lang="en-US" sz="2200" dirty="0">
                    <a:latin typeface="Arial" panose="020B0604020202020204" pitchFamily="34" charset="0"/>
                    <a:cs typeface="Arial" panose="020B0604020202020204" pitchFamily="34" charset="0"/>
                  </a:rPr>
                  <a:t>The </a:t>
                </a:r>
                <a14:m>
                  <m:oMath xmlns:m="http://schemas.openxmlformats.org/officeDocument/2006/math">
                    <m:r>
                      <a:rPr lang="en-US" sz="2200" i="1"/>
                      <m:t>𝐿𝑋</m:t>
                    </m:r>
                    <m:r>
                      <a:rPr lang="en-US" sz="2200"/>
                      <m:t>,</m:t>
                    </m:r>
                    <m:r>
                      <a:rPr lang="en-US" sz="2200" i="1"/>
                      <m:t>−</m:t>
                    </m:r>
                    <m:r>
                      <a:rPr lang="en-US" sz="2200" i="1"/>
                      <m:t>𝐼</m:t>
                    </m:r>
                  </m:oMath>
                </a14:m>
                <a:r>
                  <a:rPr lang="en-US" sz="2200" dirty="0">
                    <a:latin typeface="Arial" panose="020B0604020202020204" pitchFamily="34" charset="0"/>
                    <a:cs typeface="Arial" panose="020B0604020202020204" pitchFamily="34" charset="0"/>
                  </a:rPr>
                  <a:t> pair gives </a:t>
                </a:r>
                <a14:m>
                  <m:oMath xmlns:m="http://schemas.openxmlformats.org/officeDocument/2006/math">
                    <m:r>
                      <a:rPr lang="en-US" sz="2200" i="1"/>
                      <m:t>𝑋</m:t>
                    </m:r>
                    <m:sSup>
                      <m:sSupPr>
                        <m:ctrlPr>
                          <a:rPr lang="en-US" sz="2200" i="1"/>
                        </m:ctrlPr>
                      </m:sSupPr>
                      <m:e>
                        <m:r>
                          <a:rPr lang="en-US" sz="2200" i="1"/>
                          <m:t>𝐿</m:t>
                        </m:r>
                      </m:e>
                      <m:sup>
                        <m:r>
                          <a:rPr lang="en-US" sz="2200" i="1"/>
                          <m:t>𝑇</m:t>
                        </m:r>
                      </m:sup>
                    </m:sSup>
                    <m:r>
                      <a:rPr lang="en-US" sz="2200" i="1"/>
                      <m:t>𝐿𝑋</m:t>
                    </m:r>
                  </m:oMath>
                </a14:m>
                <a:r>
                  <a:rPr lang="en-US" sz="2200" dirty="0">
                    <a:latin typeface="Arial" panose="020B0604020202020204" pitchFamily="34" charset="0"/>
                    <a:cs typeface="Arial" panose="020B0604020202020204" pitchFamily="34" charset="0"/>
                  </a:rPr>
                  <a:t>.</a:t>
                </a:r>
              </a:p>
              <a:p>
                <a:pPr lvl="1">
                  <a:buFont typeface="Courier New" panose="02070309020205020404" pitchFamily="49" charset="0"/>
                  <a:buChar char="o"/>
                </a:pPr>
                <a:r>
                  <a:rPr lang="en-US" sz="2200" dirty="0">
                    <a:latin typeface="Arial" panose="020B0604020202020204" pitchFamily="34" charset="0"/>
                    <a:cs typeface="Arial" panose="020B0604020202020204" pitchFamily="34" charset="0"/>
                  </a:rPr>
                  <a:t>The </a:t>
                </a:r>
                <a14:m>
                  <m:oMath xmlns:m="http://schemas.openxmlformats.org/officeDocument/2006/math">
                    <m:d>
                      <m:dPr>
                        <m:ctrlPr>
                          <a:rPr lang="en-US" sz="2200" i="1"/>
                        </m:ctrlPr>
                      </m:dPr>
                      <m:e>
                        <m:sSub>
                          <m:sSubPr>
                            <m:ctrlPr>
                              <a:rPr lang="en-US" sz="2200" i="1"/>
                            </m:ctrlPr>
                          </m:sSubPr>
                          <m:e>
                            <m:r>
                              <a:rPr lang="en-US" sz="2200" i="1"/>
                              <m:t>𝐴</m:t>
                            </m:r>
                          </m:e>
                          <m:sub>
                            <m:r>
                              <a:rPr lang="en-US" sz="2200" i="1"/>
                              <m:t>𝑑</m:t>
                            </m:r>
                          </m:sub>
                        </m:sSub>
                        <m:r>
                          <a:rPr lang="en-US" sz="2200"/>
                          <m:t>+</m:t>
                        </m:r>
                        <m:r>
                          <a:rPr lang="en-US" sz="2200" i="1"/>
                          <m:t>𝐵</m:t>
                        </m:r>
                        <m:sSub>
                          <m:sSubPr>
                            <m:ctrlPr>
                              <a:rPr lang="en-US" sz="2200" i="1"/>
                            </m:ctrlPr>
                          </m:sSubPr>
                          <m:e>
                            <m:r>
                              <a:rPr lang="en-US" sz="2200" i="1"/>
                              <m:t>𝐹</m:t>
                            </m:r>
                          </m:e>
                          <m:sub>
                            <m:r>
                              <a:rPr lang="en-US" sz="2200" i="1"/>
                              <m:t>1</m:t>
                            </m:r>
                          </m:sub>
                        </m:sSub>
                        <m:r>
                          <a:rPr lang="en-US" sz="2200" i="1"/>
                          <m:t>𝐶</m:t>
                        </m:r>
                      </m:e>
                    </m:d>
                    <m:r>
                      <a:rPr lang="en-US" sz="2200"/>
                      <m:t>,</m:t>
                    </m:r>
                    <m:r>
                      <a:rPr lang="en-US" sz="2200" i="1"/>
                      <m:t>−</m:t>
                    </m:r>
                    <m:sSub>
                      <m:sSubPr>
                        <m:ctrlPr>
                          <a:rPr lang="en-US" sz="2200" i="1"/>
                        </m:ctrlPr>
                      </m:sSubPr>
                      <m:e>
                        <m:r>
                          <a:rPr lang="en-US" sz="2200" i="1"/>
                          <m:t>𝑄</m:t>
                        </m:r>
                      </m:e>
                      <m:sub>
                        <m:r>
                          <a:rPr lang="en-US" sz="2200" i="1"/>
                          <m:t>1</m:t>
                        </m:r>
                      </m:sub>
                    </m:sSub>
                  </m:oMath>
                </a14:m>
                <a:r>
                  <a:rPr lang="en-US" sz="2200" dirty="0">
                    <a:latin typeface="Arial" panose="020B0604020202020204" pitchFamily="34" charset="0"/>
                    <a:cs typeface="Arial" panose="020B0604020202020204" pitchFamily="34" charset="0"/>
                  </a:rPr>
                  <a:t> pair yields </a:t>
                </a:r>
                <a14:m>
                  <m:oMath xmlns:m="http://schemas.openxmlformats.org/officeDocument/2006/math">
                    <m:d>
                      <m:dPr>
                        <m:ctrlPr>
                          <a:rPr lang="en-US" sz="2200" i="1"/>
                        </m:ctrlPr>
                      </m:dPr>
                      <m:e>
                        <m:sSub>
                          <m:sSubPr>
                            <m:ctrlPr>
                              <a:rPr lang="en-US" sz="2200" i="1"/>
                            </m:ctrlPr>
                          </m:sSubPr>
                          <m:e>
                            <m:r>
                              <a:rPr lang="en-US" sz="2200" i="1"/>
                              <m:t>𝐴</m:t>
                            </m:r>
                          </m:e>
                          <m:sub>
                            <m:r>
                              <a:rPr lang="en-US" sz="2200" i="1"/>
                              <m:t>𝑑</m:t>
                            </m:r>
                          </m:sub>
                        </m:sSub>
                        <m:r>
                          <a:rPr lang="en-US" sz="2200"/>
                          <m:t>+</m:t>
                        </m:r>
                        <m:r>
                          <a:rPr lang="en-US" sz="2200" i="1"/>
                          <m:t>𝐵</m:t>
                        </m:r>
                        <m:sSub>
                          <m:sSubPr>
                            <m:ctrlPr>
                              <a:rPr lang="en-US" sz="2200" i="1"/>
                            </m:ctrlPr>
                          </m:sSubPr>
                          <m:e>
                            <m:r>
                              <a:rPr lang="en-US" sz="2200" i="1"/>
                              <m:t>𝐹</m:t>
                            </m:r>
                          </m:e>
                          <m:sub>
                            <m:r>
                              <a:rPr lang="en-US" sz="2200" i="1"/>
                              <m:t>1</m:t>
                            </m:r>
                          </m:sub>
                        </m:sSub>
                        <m:r>
                          <a:rPr lang="en-US" sz="2200" i="1"/>
                          <m:t>𝐶</m:t>
                        </m:r>
                      </m:e>
                    </m:d>
                    <m:sSubSup>
                      <m:sSubSupPr>
                        <m:ctrlPr>
                          <a:rPr lang="en-US" sz="2200" i="1"/>
                        </m:ctrlPr>
                      </m:sSubSupPr>
                      <m:e>
                        <m:r>
                          <a:rPr lang="en-US" sz="2200" i="1"/>
                          <m:t>𝑄</m:t>
                        </m:r>
                      </m:e>
                      <m:sub>
                        <m:r>
                          <a:rPr lang="en-US" sz="2200" i="1"/>
                          <m:t>1</m:t>
                        </m:r>
                      </m:sub>
                      <m:sup>
                        <m:r>
                          <a:rPr lang="en-US" sz="2200" i="1"/>
                          <m:t>−1</m:t>
                        </m:r>
                      </m:sup>
                    </m:sSubSup>
                    <m:sSup>
                      <m:sSupPr>
                        <m:ctrlPr>
                          <a:rPr lang="en-US" sz="2200" i="1"/>
                        </m:ctrlPr>
                      </m:sSupPr>
                      <m:e>
                        <m:d>
                          <m:dPr>
                            <m:ctrlPr>
                              <a:rPr lang="en-US" sz="2200" i="1"/>
                            </m:ctrlPr>
                          </m:dPr>
                          <m:e>
                            <m:sSub>
                              <m:sSubPr>
                                <m:ctrlPr>
                                  <a:rPr lang="en-US" sz="2200" i="1"/>
                                </m:ctrlPr>
                              </m:sSubPr>
                              <m:e>
                                <m:r>
                                  <a:rPr lang="en-US" sz="2200" i="1"/>
                                  <m:t>𝐴</m:t>
                                </m:r>
                              </m:e>
                              <m:sub>
                                <m:r>
                                  <a:rPr lang="en-US" sz="2200" i="1"/>
                                  <m:t>𝑑</m:t>
                                </m:r>
                              </m:sub>
                            </m:sSub>
                            <m:r>
                              <a:rPr lang="en-US" sz="2200"/>
                              <m:t>+</m:t>
                            </m:r>
                            <m:r>
                              <a:rPr lang="en-US" sz="2200" i="1"/>
                              <m:t>𝐵</m:t>
                            </m:r>
                            <m:sSub>
                              <m:sSubPr>
                                <m:ctrlPr>
                                  <a:rPr lang="en-US" sz="2200" i="1"/>
                                </m:ctrlPr>
                              </m:sSubPr>
                              <m:e>
                                <m:r>
                                  <a:rPr lang="en-US" sz="2200" i="1"/>
                                  <m:t>𝐹</m:t>
                                </m:r>
                              </m:e>
                              <m:sub>
                                <m:r>
                                  <a:rPr lang="en-US" sz="2200" i="1"/>
                                  <m:t>1</m:t>
                                </m:r>
                              </m:sub>
                            </m:sSub>
                            <m:r>
                              <a:rPr lang="en-US" sz="2200" i="1"/>
                              <m:t>𝐶</m:t>
                            </m:r>
                          </m:e>
                        </m:d>
                      </m:e>
                      <m:sup>
                        <m:r>
                          <a:rPr lang="en-US" sz="2200" i="1"/>
                          <m:t>𝑇</m:t>
                        </m:r>
                      </m:sup>
                    </m:sSup>
                  </m:oMath>
                </a14:m>
                <a:r>
                  <a:rPr lang="en-US" sz="2200" dirty="0">
                    <a:latin typeface="Arial" panose="020B0604020202020204" pitchFamily="34" charset="0"/>
                    <a:cs typeface="Arial" panose="020B0604020202020204" pitchFamily="34" charset="0"/>
                  </a:rPr>
                  <a:t>.</a:t>
                </a:r>
              </a:p>
              <a:p>
                <a:pPr lvl="1">
                  <a:buFont typeface="Courier New" panose="02070309020205020404" pitchFamily="49" charset="0"/>
                  <a:buChar char="o"/>
                </a:pPr>
                <a:r>
                  <a:rPr lang="en-US" sz="2200" dirty="0">
                    <a:latin typeface="Arial" panose="020B0604020202020204" pitchFamily="34" charset="0"/>
                    <a:cs typeface="Arial" panose="020B0604020202020204" pitchFamily="34" charset="0"/>
                  </a:rPr>
                  <a:t>The </a:t>
                </a:r>
                <a14:m>
                  <m:oMath xmlns:m="http://schemas.openxmlformats.org/officeDocument/2006/math">
                    <m:d>
                      <m:dPr>
                        <m:ctrlPr>
                          <a:rPr lang="en-US" sz="2200" i="1"/>
                        </m:ctrlPr>
                      </m:dPr>
                      <m:e>
                        <m:r>
                          <a:rPr lang="en-US" sz="2200" i="1"/>
                          <m:t>𝐵</m:t>
                        </m:r>
                        <m:sSub>
                          <m:sSubPr>
                            <m:ctrlPr>
                              <a:rPr lang="en-US" sz="2200" i="1"/>
                            </m:ctrlPr>
                          </m:sSubPr>
                          <m:e>
                            <m:r>
                              <a:rPr lang="en-US" sz="2200" i="1"/>
                              <m:t>𝐹</m:t>
                            </m:r>
                          </m:e>
                          <m:sub>
                            <m:r>
                              <a:rPr lang="en-US" sz="2200" i="1"/>
                              <m:t>2</m:t>
                            </m:r>
                          </m:sub>
                        </m:sSub>
                        <m:r>
                          <a:rPr lang="en-US" sz="2200" i="1"/>
                          <m:t>𝐶</m:t>
                        </m:r>
                      </m:e>
                    </m:d>
                    <m:r>
                      <a:rPr lang="en-US" sz="2200"/>
                      <m:t>,</m:t>
                    </m:r>
                    <m:r>
                      <a:rPr lang="en-US" sz="2200" i="1"/>
                      <m:t>−</m:t>
                    </m:r>
                    <m:sSub>
                      <m:sSubPr>
                        <m:ctrlPr>
                          <a:rPr lang="en-US" sz="2200" i="1"/>
                        </m:ctrlPr>
                      </m:sSubPr>
                      <m:e>
                        <m:r>
                          <a:rPr lang="en-US" sz="2200" i="1"/>
                          <m:t>𝑄</m:t>
                        </m:r>
                      </m:e>
                      <m:sub>
                        <m:r>
                          <a:rPr lang="en-US" sz="2200" i="1"/>
                          <m:t>2</m:t>
                        </m:r>
                      </m:sub>
                    </m:sSub>
                  </m:oMath>
                </a14:m>
                <a:r>
                  <a:rPr lang="en-US" sz="2200" dirty="0">
                    <a:latin typeface="Arial" panose="020B0604020202020204" pitchFamily="34" charset="0"/>
                    <a:cs typeface="Arial" panose="020B0604020202020204" pitchFamily="34" charset="0"/>
                  </a:rPr>
                  <a:t> pair yields </a:t>
                </a:r>
                <a14:m>
                  <m:oMath xmlns:m="http://schemas.openxmlformats.org/officeDocument/2006/math">
                    <m:r>
                      <a:rPr lang="en-US" sz="2200" i="1"/>
                      <m:t>𝐵</m:t>
                    </m:r>
                    <m:sSub>
                      <m:sSubPr>
                        <m:ctrlPr>
                          <a:rPr lang="en-US" sz="2200" i="1"/>
                        </m:ctrlPr>
                      </m:sSubPr>
                      <m:e>
                        <m:r>
                          <a:rPr lang="en-US" sz="2200" i="1"/>
                          <m:t>𝐹</m:t>
                        </m:r>
                      </m:e>
                      <m:sub>
                        <m:r>
                          <a:rPr lang="en-US" sz="2200" i="1"/>
                          <m:t>2</m:t>
                        </m:r>
                      </m:sub>
                    </m:sSub>
                    <m:r>
                      <a:rPr lang="en-US" sz="2200" i="1"/>
                      <m:t>𝐶</m:t>
                    </m:r>
                    <m:sSubSup>
                      <m:sSubSupPr>
                        <m:ctrlPr>
                          <a:rPr lang="en-US" sz="2200" i="1"/>
                        </m:ctrlPr>
                      </m:sSubSupPr>
                      <m:e>
                        <m:r>
                          <a:rPr lang="en-US" sz="2200" i="1"/>
                          <m:t>𝑄</m:t>
                        </m:r>
                      </m:e>
                      <m:sub>
                        <m:r>
                          <a:rPr lang="en-US" sz="2200" i="1"/>
                          <m:t>2</m:t>
                        </m:r>
                      </m:sub>
                      <m:sup>
                        <m:r>
                          <a:rPr lang="en-US" sz="2200" i="1"/>
                          <m:t>−1</m:t>
                        </m:r>
                      </m:sup>
                    </m:sSubSup>
                    <m:sSup>
                      <m:sSupPr>
                        <m:ctrlPr>
                          <a:rPr lang="en-US" sz="2200" i="1"/>
                        </m:ctrlPr>
                      </m:sSupPr>
                      <m:e>
                        <m:r>
                          <a:rPr lang="en-US" sz="2200" i="1"/>
                          <m:t>𝐶</m:t>
                        </m:r>
                      </m:e>
                      <m:sup>
                        <m:r>
                          <a:rPr lang="en-US" sz="2200" i="1"/>
                          <m:t>𝑇</m:t>
                        </m:r>
                      </m:sup>
                    </m:sSup>
                    <m:sSubSup>
                      <m:sSubSupPr>
                        <m:ctrlPr>
                          <a:rPr lang="en-US" sz="2200" i="1"/>
                        </m:ctrlPr>
                      </m:sSubSupPr>
                      <m:e>
                        <m:r>
                          <a:rPr lang="en-US" sz="2200" i="1"/>
                          <m:t>𝐹</m:t>
                        </m:r>
                      </m:e>
                      <m:sub>
                        <m:r>
                          <a:rPr lang="en-US" sz="2200" i="1"/>
                          <m:t>2</m:t>
                        </m:r>
                      </m:sub>
                      <m:sup>
                        <m:r>
                          <a:rPr lang="en-US" sz="2200" i="1"/>
                          <m:t>𝑇</m:t>
                        </m:r>
                      </m:sup>
                    </m:sSubSup>
                    <m:sSup>
                      <m:sSupPr>
                        <m:ctrlPr>
                          <a:rPr lang="en-US" sz="2200" i="1"/>
                        </m:ctrlPr>
                      </m:sSupPr>
                      <m:e>
                        <m:r>
                          <a:rPr lang="en-US" sz="2200" i="1"/>
                          <m:t>𝐵</m:t>
                        </m:r>
                      </m:e>
                      <m:sup>
                        <m:r>
                          <a:rPr lang="en-US" sz="2200" i="1"/>
                          <m:t>𝑇</m:t>
                        </m:r>
                      </m:sup>
                    </m:sSup>
                  </m:oMath>
                </a14:m>
                <a:r>
                  <a:rPr lang="en-US" sz="2200" dirty="0">
                    <a:latin typeface="Arial" panose="020B0604020202020204" pitchFamily="34" charset="0"/>
                    <a:cs typeface="Arial" panose="020B0604020202020204" pitchFamily="34" charset="0"/>
                  </a:rPr>
                  <a:t>.</a:t>
                </a:r>
              </a:p>
              <a:p>
                <a:pPr lvl="1">
                  <a:buFont typeface="Courier New" panose="02070309020205020404" pitchFamily="49" charset="0"/>
                  <a:buChar char="o"/>
                </a:pPr>
                <a:r>
                  <a:rPr lang="en-US" sz="2200" dirty="0">
                    <a:latin typeface="Arial" panose="020B0604020202020204" pitchFamily="34" charset="0"/>
                    <a:cs typeface="Arial" panose="020B0604020202020204" pitchFamily="34" charset="0"/>
                  </a:rPr>
                  <a:t>The </a:t>
                </a:r>
                <a14:m>
                  <m:oMath xmlns:m="http://schemas.openxmlformats.org/officeDocument/2006/math">
                    <m:d>
                      <m:dPr>
                        <m:ctrlPr>
                          <a:rPr lang="en-US" sz="2200" i="1"/>
                        </m:ctrlPr>
                      </m:dPr>
                      <m:e>
                        <m:r>
                          <a:rPr lang="en-US" sz="2200" i="1"/>
                          <m:t>𝐷</m:t>
                        </m:r>
                      </m:e>
                    </m:d>
                    <m:r>
                      <a:rPr lang="en-US" sz="2200"/>
                      <m:t>,</m:t>
                    </m:r>
                    <m:r>
                      <a:rPr lang="en-US" sz="2200" i="1"/>
                      <m:t>−</m:t>
                    </m:r>
                    <m:sSup>
                      <m:sSupPr>
                        <m:ctrlPr>
                          <a:rPr lang="en-US" sz="2200" i="1"/>
                        </m:ctrlPr>
                      </m:sSupPr>
                      <m:e>
                        <m:r>
                          <a:rPr lang="en-US" sz="2200" i="1"/>
                          <m:t>𝛾</m:t>
                        </m:r>
                      </m:e>
                      <m:sup>
                        <m:r>
                          <a:rPr lang="en-US" sz="2200" i="1"/>
                          <m:t>2</m:t>
                        </m:r>
                      </m:sup>
                    </m:sSup>
                    <m:r>
                      <a:rPr lang="en-US" sz="2200" i="1"/>
                      <m:t>𝐼</m:t>
                    </m:r>
                  </m:oMath>
                </a14:m>
                <a:r>
                  <a:rPr lang="en-US" sz="2200" dirty="0">
                    <a:latin typeface="Arial" panose="020B0604020202020204" pitchFamily="34" charset="0"/>
                    <a:cs typeface="Arial" panose="020B0604020202020204" pitchFamily="34" charset="0"/>
                  </a:rPr>
                  <a:t> pair yields </a:t>
                </a:r>
                <a14:m>
                  <m:oMath xmlns:m="http://schemas.openxmlformats.org/officeDocument/2006/math">
                    <m:sSup>
                      <m:sSupPr>
                        <m:ctrlPr>
                          <a:rPr lang="en-US" sz="2200" i="1"/>
                        </m:ctrlPr>
                      </m:sSupPr>
                      <m:e>
                        <m:r>
                          <a:rPr lang="en-US" sz="2200" i="1"/>
                          <m:t>𝛾</m:t>
                        </m:r>
                      </m:e>
                      <m:sup>
                        <m:r>
                          <a:rPr lang="en-US" sz="2200" i="1"/>
                          <m:t>−2</m:t>
                        </m:r>
                      </m:sup>
                    </m:sSup>
                    <m:r>
                      <a:rPr lang="en-US" sz="2200" i="1"/>
                      <m:t>𝐷</m:t>
                    </m:r>
                    <m:sSup>
                      <m:sSupPr>
                        <m:ctrlPr>
                          <a:rPr lang="en-US" sz="2200" i="1"/>
                        </m:ctrlPr>
                      </m:sSupPr>
                      <m:e>
                        <m:r>
                          <a:rPr lang="en-US" sz="2200" i="1"/>
                          <m:t>𝐷</m:t>
                        </m:r>
                      </m:e>
                      <m:sup>
                        <m:r>
                          <a:rPr lang="en-US" sz="2200" i="1"/>
                          <m:t>𝑇</m:t>
                        </m:r>
                      </m:sup>
                    </m:sSup>
                  </m:oMath>
                </a14:m>
                <a:r>
                  <a:rPr lang="en-US" sz="2200" dirty="0">
                    <a:latin typeface="Arial" panose="020B0604020202020204" pitchFamily="34" charset="0"/>
                    <a:cs typeface="Arial" panose="020B0604020202020204" pitchFamily="34" charset="0"/>
                  </a:rPr>
                  <a:t>.</a:t>
                </a:r>
              </a:p>
              <a:p>
                <a:pPr marL="0" indent="0">
                  <a:buNone/>
                </a:pPr>
                <a:endParaRPr lang="en-US" sz="2200" dirty="0">
                  <a:latin typeface="Arial" panose="020B0604020202020204" pitchFamily="34" charset="0"/>
                  <a:cs typeface="Arial" panose="020B0604020202020204" pitchFamily="34" charset="0"/>
                </a:endParaRPr>
              </a:p>
            </p:txBody>
          </p:sp>
        </mc:Choice>
        <mc:Fallback>
          <p:sp>
            <p:nvSpPr>
              <p:cNvPr id="4" name="Content Placeholder 3">
                <a:extLst>
                  <a:ext uri="{FF2B5EF4-FFF2-40B4-BE49-F238E27FC236}">
                    <a16:creationId xmlns:a16="http://schemas.microsoft.com/office/drawing/2014/main" id="{42BC51EF-29B1-B81B-B660-3DF2F6B87BAE}"/>
                  </a:ext>
                </a:extLst>
              </p:cNvPr>
              <p:cNvSpPr txBox="1">
                <a:spLocks noRot="1" noChangeAspect="1" noMove="1" noResize="1" noEditPoints="1" noAdjustHandles="1" noChangeArrowheads="1" noChangeShapeType="1" noTextEdit="1"/>
              </p:cNvSpPr>
              <p:nvPr/>
            </p:nvSpPr>
            <p:spPr>
              <a:xfrm>
                <a:off x="299582" y="1230283"/>
                <a:ext cx="9110426" cy="5151296"/>
              </a:xfrm>
              <a:prstGeom prst="rect">
                <a:avLst/>
              </a:prstGeom>
              <a:blipFill>
                <a:blip r:embed="rId3"/>
                <a:stretch>
                  <a:fillRect l="-401" t="-710"/>
                </a:stretch>
              </a:blipFill>
            </p:spPr>
            <p:txBody>
              <a:bodyPr/>
              <a:lstStyle/>
              <a:p>
                <a:r>
                  <a:rPr lang="en-US">
                    <a:noFill/>
                  </a:rPr>
                  <a:t> </a:t>
                </a:r>
              </a:p>
            </p:txBody>
          </p:sp>
        </mc:Fallback>
      </mc:AlternateContent>
      <p:sp>
        <p:nvSpPr>
          <p:cNvPr id="5" name="Slide Number Placeholder 2">
            <a:extLst>
              <a:ext uri="{FF2B5EF4-FFF2-40B4-BE49-F238E27FC236}">
                <a16:creationId xmlns:a16="http://schemas.microsoft.com/office/drawing/2014/main" id="{9BFDFB48-DBF8-6492-B5B2-753728E01154}"/>
              </a:ext>
            </a:extLst>
          </p:cNvPr>
          <p:cNvSpPr>
            <a:spLocks noGrp="1"/>
          </p:cNvSpPr>
          <p:nvPr>
            <p:ph type="sldNum" sz="quarter" idx="12"/>
          </p:nvPr>
        </p:nvSpPr>
        <p:spPr>
          <a:xfrm>
            <a:off x="7795578" y="6141113"/>
            <a:ext cx="1096432" cy="716887"/>
          </a:xfrm>
        </p:spPr>
        <p:txBody>
          <a:bodyPr/>
          <a:lstStyle/>
          <a:p>
            <a:r>
              <a:rPr lang="en-US" dirty="0"/>
              <a:t>17</a:t>
            </a:r>
          </a:p>
        </p:txBody>
      </p:sp>
    </p:spTree>
    <p:extLst>
      <p:ext uri="{BB962C8B-B14F-4D97-AF65-F5344CB8AC3E}">
        <p14:creationId xmlns:p14="http://schemas.microsoft.com/office/powerpoint/2010/main" val="2830826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1000"/>
                                        <p:tgtEl>
                                          <p:spTgt spid="4">
                                            <p:txEl>
                                              <p:pRg st="1" end="1"/>
                                            </p:txEl>
                                          </p:spTgt>
                                        </p:tgtEl>
                                      </p:cBhvr>
                                    </p:animEffect>
                                    <p:anim calcmode="lin" valueType="num">
                                      <p:cBhvr>
                                        <p:cTn id="13"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4">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1000"/>
                                        <p:tgtEl>
                                          <p:spTgt spid="4">
                                            <p:txEl>
                                              <p:pRg st="2" end="2"/>
                                            </p:txEl>
                                          </p:spTgt>
                                        </p:tgtEl>
                                      </p:cBhvr>
                                    </p:animEffect>
                                    <p:anim calcmode="lin" valueType="num">
                                      <p:cBhvr>
                                        <p:cTn id="18"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4">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1000"/>
                                        <p:tgtEl>
                                          <p:spTgt spid="4">
                                            <p:txEl>
                                              <p:pRg st="3" end="3"/>
                                            </p:txEl>
                                          </p:spTgt>
                                        </p:tgtEl>
                                      </p:cBhvr>
                                    </p:animEffect>
                                    <p:anim calcmode="lin" valueType="num">
                                      <p:cBhvr>
                                        <p:cTn id="23"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4">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grpId="0" nodeType="with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1000"/>
                                        <p:tgtEl>
                                          <p:spTgt spid="4">
                                            <p:txEl>
                                              <p:pRg st="4" end="4"/>
                                            </p:txEl>
                                          </p:spTgt>
                                        </p:tgtEl>
                                      </p:cBhvr>
                                    </p:animEffect>
                                    <p:anim calcmode="lin" valueType="num">
                                      <p:cBhvr>
                                        <p:cTn id="28"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4">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grpId="0" nodeType="with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1000"/>
                                        <p:tgtEl>
                                          <p:spTgt spid="4">
                                            <p:txEl>
                                              <p:pRg st="5" end="5"/>
                                            </p:txEl>
                                          </p:spTgt>
                                        </p:tgtEl>
                                      </p:cBhvr>
                                    </p:animEffect>
                                    <p:anim calcmode="lin" valueType="num">
                                      <p:cBhvr>
                                        <p:cTn id="33"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9EBAC-08FB-7067-C469-BE38467F2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213D8C-B3C6-256B-ADD6-4C5864DE581A}"/>
              </a:ext>
            </a:extLst>
          </p:cNvPr>
          <p:cNvSpPr>
            <a:spLocks noGrp="1"/>
          </p:cNvSpPr>
          <p:nvPr>
            <p:ph type="title"/>
          </p:nvPr>
        </p:nvSpPr>
        <p:spPr>
          <a:xfrm>
            <a:off x="299581" y="476422"/>
            <a:ext cx="10039396" cy="604234"/>
          </a:xfrm>
        </p:spPr>
        <p:txBody>
          <a:bodyPr>
            <a:normAutofit fontScale="90000"/>
          </a:bodyPr>
          <a:lstStyle/>
          <a:p>
            <a:r>
              <a:rPr lang="en-US" b="1" dirty="0">
                <a:latin typeface="Arial" panose="020B0604020202020204" pitchFamily="34" charset="0"/>
                <a:cs typeface="Arial" panose="020B0604020202020204" pitchFamily="34" charset="0"/>
              </a:rPr>
              <a:t>Reverse Schur complement → Final LMI (3/3)</a:t>
            </a:r>
          </a:p>
        </p:txBody>
      </p:sp>
      <p:sp>
        <p:nvSpPr>
          <p:cNvPr id="6" name="Content Placeholder 3">
            <a:extLst>
              <a:ext uri="{FF2B5EF4-FFF2-40B4-BE49-F238E27FC236}">
                <a16:creationId xmlns:a16="http://schemas.microsoft.com/office/drawing/2014/main" id="{BFAC0F58-9198-81E8-A4C3-DE37E83F4F2B}"/>
              </a:ext>
            </a:extLst>
          </p:cNvPr>
          <p:cNvSpPr txBox="1">
            <a:spLocks/>
          </p:cNvSpPr>
          <p:nvPr/>
        </p:nvSpPr>
        <p:spPr>
          <a:xfrm>
            <a:off x="187283" y="4207555"/>
            <a:ext cx="7047705" cy="275204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US" sz="2400" dirty="0">
              <a:latin typeface="Arial" panose="020B0604020202020204" pitchFamily="34" charset="0"/>
              <a:cs typeface="Arial" panose="020B0604020202020204" pitchFamily="34" charset="0"/>
            </a:endParaRPr>
          </a:p>
          <a:p>
            <a:endParaRPr lang="en-US" sz="2400"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4" name="Content Placeholder 3">
                <a:extLst>
                  <a:ext uri="{FF2B5EF4-FFF2-40B4-BE49-F238E27FC236}">
                    <a16:creationId xmlns:a16="http://schemas.microsoft.com/office/drawing/2014/main" id="{650774AC-D733-B9F1-ECF3-D77BDA628CB1}"/>
                  </a:ext>
                </a:extLst>
              </p:cNvPr>
              <p:cNvSpPr txBox="1">
                <a:spLocks/>
              </p:cNvSpPr>
              <p:nvPr/>
            </p:nvSpPr>
            <p:spPr>
              <a:xfrm>
                <a:off x="299582" y="1230283"/>
                <a:ext cx="9459560" cy="515129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US" sz="2000" dirty="0">
                    <a:latin typeface="Arial" panose="020B0604020202020204" pitchFamily="34" charset="0"/>
                    <a:cs typeface="Arial" panose="020B0604020202020204" pitchFamily="34" charset="0"/>
                  </a:rPr>
                  <a:t>Following that procedure yields the block LMI exactly as paper Eq.(21). Write it explicitly (paper Eq.(21)):</a:t>
                </a:r>
              </a:p>
              <a:p>
                <a:pPr marL="0" indent="0">
                  <a:buNone/>
                </a:pPr>
                <a14:m>
                  <m:oMathPara xmlns:m="http://schemas.openxmlformats.org/officeDocument/2006/math">
                    <m:oMathParaPr>
                      <m:jc m:val="center"/>
                    </m:oMathParaPr>
                    <m:oMath xmlns:m="http://schemas.openxmlformats.org/officeDocument/2006/math">
                      <m:sSub>
                        <m:sSubPr>
                          <m:ctrlPr>
                            <a:rPr lang="en-US" sz="2000" i="1"/>
                          </m:ctrlPr>
                        </m:sSubPr>
                        <m:e>
                          <m:r>
                            <a:rPr lang="en-US" sz="2000" i="1"/>
                            <m:t>ℒ</m:t>
                          </m:r>
                        </m:e>
                        <m:sub>
                          <m:r>
                            <m:rPr>
                              <m:nor/>
                            </m:rPr>
                            <a:rPr lang="en-US" sz="2000">
                              <a:latin typeface="Arial" panose="020B0604020202020204" pitchFamily="34" charset="0"/>
                              <a:cs typeface="Arial" panose="020B0604020202020204" pitchFamily="34" charset="0"/>
                            </a:rPr>
                            <m:t>case</m:t>
                          </m:r>
                          <m:r>
                            <m:rPr>
                              <m:nor/>
                            </m:rPr>
                            <a:rPr lang="en-US" sz="2000">
                              <a:latin typeface="Arial" panose="020B0604020202020204" pitchFamily="34" charset="0"/>
                              <a:cs typeface="Arial" panose="020B0604020202020204" pitchFamily="34" charset="0"/>
                            </a:rPr>
                            <m:t>3</m:t>
                          </m:r>
                        </m:sub>
                      </m:sSub>
                      <m:box>
                        <m:boxPr>
                          <m:ctrlPr>
                            <a:rPr lang="en-US" sz="2000" i="1"/>
                          </m:ctrlPr>
                        </m:boxPr>
                        <m:e>
                          <m:r>
                            <a:rPr lang="en-US" sz="2000"/>
                            <m:t>:=</m:t>
                          </m:r>
                        </m:e>
                      </m:box>
                      <m:d>
                        <m:dPr>
                          <m:begChr m:val="["/>
                          <m:endChr m:val="]"/>
                          <m:ctrlPr>
                            <a:rPr lang="en-US" sz="2000" i="1"/>
                          </m:ctrlPr>
                        </m:dPr>
                        <m:e>
                          <m:m>
                            <m:mPr>
                              <m:plcHide m:val="on"/>
                              <m:mcs>
                                <m:mc>
                                  <m:mcPr>
                                    <m:count m:val="6"/>
                                    <m:mcJc m:val="center"/>
                                  </m:mcPr>
                                </m:mc>
                              </m:mcs>
                              <m:ctrlPr>
                                <a:rPr lang="en-US" sz="2000" i="1"/>
                              </m:ctrlPr>
                            </m:mPr>
                            <m:mr>
                              <m:e>
                                <m:r>
                                  <a:rPr lang="en-US" sz="2000" i="1"/>
                                  <m:t>𝐴𝑋</m:t>
                                </m:r>
                                <m:r>
                                  <a:rPr lang="en-US" sz="2000"/>
                                  <m:t>+</m:t>
                                </m:r>
                                <m:r>
                                  <a:rPr lang="en-US" sz="2000" i="1"/>
                                  <m:t>𝑋</m:t>
                                </m:r>
                                <m:sSup>
                                  <m:sSupPr>
                                    <m:ctrlPr>
                                      <a:rPr lang="en-US" sz="2000" i="1"/>
                                    </m:ctrlPr>
                                  </m:sSupPr>
                                  <m:e>
                                    <m:r>
                                      <a:rPr lang="en-US" sz="2000" i="1"/>
                                      <m:t>𝐴</m:t>
                                    </m:r>
                                  </m:e>
                                  <m:sup>
                                    <m:r>
                                      <a:rPr lang="en-US" sz="2000" i="1"/>
                                      <m:t>𝑇</m:t>
                                    </m:r>
                                  </m:sup>
                                </m:sSup>
                              </m:e>
                              <m:e>
                                <m:r>
                                  <a:rPr lang="en-US" sz="2000" i="1"/>
                                  <m:t>𝑋</m:t>
                                </m:r>
                              </m:e>
                              <m:e>
                                <m:r>
                                  <a:rPr lang="en-US" sz="2000" i="1"/>
                                  <m:t>𝑋</m:t>
                                </m:r>
                                <m:sSup>
                                  <m:sSupPr>
                                    <m:ctrlPr>
                                      <a:rPr lang="en-US" sz="2000" i="1"/>
                                    </m:ctrlPr>
                                  </m:sSupPr>
                                  <m:e>
                                    <m:r>
                                      <a:rPr lang="en-US" sz="2000" i="1"/>
                                      <m:t>𝐿</m:t>
                                    </m:r>
                                  </m:e>
                                  <m:sup>
                                    <m:r>
                                      <a:rPr lang="en-US" sz="2000" i="1"/>
                                      <m:t>𝑇</m:t>
                                    </m:r>
                                  </m:sup>
                                </m:sSup>
                              </m:e>
                              <m:e>
                                <m:sSub>
                                  <m:sSubPr>
                                    <m:ctrlPr>
                                      <a:rPr lang="en-US" sz="2000" i="1"/>
                                    </m:ctrlPr>
                                  </m:sSubPr>
                                  <m:e>
                                    <m:r>
                                      <a:rPr lang="en-US" sz="2000" i="1"/>
                                      <m:t>𝐴</m:t>
                                    </m:r>
                                  </m:e>
                                  <m:sub>
                                    <m:r>
                                      <a:rPr lang="en-US" sz="2000" i="1"/>
                                      <m:t>𝑑</m:t>
                                    </m:r>
                                  </m:sub>
                                </m:sSub>
                                <m:r>
                                  <a:rPr lang="en-US" sz="2000"/>
                                  <m:t>+</m:t>
                                </m:r>
                                <m:r>
                                  <a:rPr lang="en-US" sz="2000" i="1"/>
                                  <m:t>𝐵</m:t>
                                </m:r>
                                <m:sSub>
                                  <m:sSubPr>
                                    <m:ctrlPr>
                                      <a:rPr lang="en-US" sz="2000" i="1"/>
                                    </m:ctrlPr>
                                  </m:sSubPr>
                                  <m:e>
                                    <m:r>
                                      <a:rPr lang="en-US" sz="2000" i="1"/>
                                      <m:t>𝐹</m:t>
                                    </m:r>
                                  </m:e>
                                  <m:sub>
                                    <m:r>
                                      <a:rPr lang="en-US" sz="2000" i="1"/>
                                      <m:t>1</m:t>
                                    </m:r>
                                  </m:sub>
                                </m:sSub>
                                <m:r>
                                  <a:rPr lang="en-US" sz="2000" i="1"/>
                                  <m:t>𝐶</m:t>
                                </m:r>
                              </m:e>
                              <m:e>
                                <m:r>
                                  <a:rPr lang="en-US" sz="2000" i="1"/>
                                  <m:t>𝐵</m:t>
                                </m:r>
                                <m:sSub>
                                  <m:sSubPr>
                                    <m:ctrlPr>
                                      <a:rPr lang="en-US" sz="2000" i="1"/>
                                    </m:ctrlPr>
                                  </m:sSubPr>
                                  <m:e>
                                    <m:r>
                                      <a:rPr lang="en-US" sz="2000" i="1"/>
                                      <m:t>𝐹</m:t>
                                    </m:r>
                                  </m:e>
                                  <m:sub>
                                    <m:r>
                                      <a:rPr lang="en-US" sz="2000" i="1"/>
                                      <m:t>2</m:t>
                                    </m:r>
                                  </m:sub>
                                </m:sSub>
                                <m:r>
                                  <a:rPr lang="en-US" sz="2000" i="1"/>
                                  <m:t>𝐶</m:t>
                                </m:r>
                              </m:e>
                              <m:e>
                                <m:r>
                                  <a:rPr lang="en-US" sz="2000" i="1"/>
                                  <m:t>𝐷</m:t>
                                </m:r>
                              </m:e>
                            </m:mr>
                            <m:mr>
                              <m:e>
                                <m:r>
                                  <a:rPr lang="en-US" sz="2000" i="1"/>
                                  <m:t>𝑋</m:t>
                                </m:r>
                              </m:e>
                              <m:e>
                                <m:r>
                                  <a:rPr lang="en-US" sz="2000" i="1"/>
                                  <m:t>−</m:t>
                                </m:r>
                                <m:sSub>
                                  <m:sSubPr>
                                    <m:ctrlPr>
                                      <a:rPr lang="en-US" sz="2000" i="1"/>
                                    </m:ctrlPr>
                                  </m:sSubPr>
                                  <m:e>
                                    <m:r>
                                      <a:rPr lang="en-US" sz="2000" i="1"/>
                                      <m:t>𝑄</m:t>
                                    </m:r>
                                  </m:e>
                                  <m:sub>
                                    <m:r>
                                      <a:rPr lang="en-US" sz="2000" i="1"/>
                                      <m:t>𝑇</m:t>
                                    </m:r>
                                  </m:sub>
                                </m:sSub>
                              </m:e>
                              <m:e>
                                <m:r>
                                  <a:rPr lang="en-US" sz="2000" i="1"/>
                                  <m:t>0</m:t>
                                </m:r>
                              </m:e>
                              <m:e>
                                <m:r>
                                  <a:rPr lang="en-US" sz="2000" i="1"/>
                                  <m:t>0</m:t>
                                </m:r>
                              </m:e>
                              <m:e>
                                <m:r>
                                  <a:rPr lang="en-US" sz="2000" i="1"/>
                                  <m:t>0</m:t>
                                </m:r>
                              </m:e>
                              <m:e>
                                <m:r>
                                  <a:rPr lang="en-US" sz="2000" i="1"/>
                                  <m:t>0</m:t>
                                </m:r>
                              </m:e>
                            </m:mr>
                            <m:mr>
                              <m:e>
                                <m:r>
                                  <a:rPr lang="en-US" sz="2000" i="1"/>
                                  <m:t>𝐿𝑋</m:t>
                                </m:r>
                              </m:e>
                              <m:e>
                                <m:r>
                                  <a:rPr lang="en-US" sz="2000" i="1"/>
                                  <m:t>0</m:t>
                                </m:r>
                              </m:e>
                              <m:e>
                                <m:r>
                                  <a:rPr lang="en-US" sz="2000" i="1"/>
                                  <m:t>−</m:t>
                                </m:r>
                                <m:r>
                                  <a:rPr lang="en-US" sz="2000" i="1"/>
                                  <m:t>𝐼</m:t>
                                </m:r>
                              </m:e>
                              <m:e>
                                <m:r>
                                  <a:rPr lang="en-US" sz="2000" i="1"/>
                                  <m:t>0</m:t>
                                </m:r>
                              </m:e>
                              <m:e>
                                <m:r>
                                  <a:rPr lang="en-US" sz="2000" i="1"/>
                                  <m:t>0</m:t>
                                </m:r>
                              </m:e>
                              <m:e>
                                <m:r>
                                  <a:rPr lang="en-US" sz="2000" i="1"/>
                                  <m:t>0</m:t>
                                </m:r>
                              </m:e>
                            </m:mr>
                            <m:mr>
                              <m:e>
                                <m:sSup>
                                  <m:sSupPr>
                                    <m:ctrlPr>
                                      <a:rPr lang="en-US" sz="2000" i="1"/>
                                    </m:ctrlPr>
                                  </m:sSupPr>
                                  <m:e>
                                    <m:d>
                                      <m:dPr>
                                        <m:ctrlPr>
                                          <a:rPr lang="en-US" sz="2000" i="1"/>
                                        </m:ctrlPr>
                                      </m:dPr>
                                      <m:e>
                                        <m:sSub>
                                          <m:sSubPr>
                                            <m:ctrlPr>
                                              <a:rPr lang="en-US" sz="2000" i="1"/>
                                            </m:ctrlPr>
                                          </m:sSubPr>
                                          <m:e>
                                            <m:r>
                                              <a:rPr lang="en-US" sz="2000" i="1"/>
                                              <m:t>𝐴</m:t>
                                            </m:r>
                                          </m:e>
                                          <m:sub>
                                            <m:r>
                                              <a:rPr lang="en-US" sz="2000" i="1"/>
                                              <m:t>𝑑</m:t>
                                            </m:r>
                                          </m:sub>
                                        </m:sSub>
                                        <m:r>
                                          <a:rPr lang="en-US" sz="2000"/>
                                          <m:t>+</m:t>
                                        </m:r>
                                        <m:r>
                                          <a:rPr lang="en-US" sz="2000" i="1"/>
                                          <m:t>𝐵</m:t>
                                        </m:r>
                                        <m:sSub>
                                          <m:sSubPr>
                                            <m:ctrlPr>
                                              <a:rPr lang="en-US" sz="2000" i="1"/>
                                            </m:ctrlPr>
                                          </m:sSubPr>
                                          <m:e>
                                            <m:r>
                                              <a:rPr lang="en-US" sz="2000" i="1"/>
                                              <m:t>𝐹</m:t>
                                            </m:r>
                                          </m:e>
                                          <m:sub>
                                            <m:r>
                                              <a:rPr lang="en-US" sz="2000" i="1"/>
                                              <m:t>1</m:t>
                                            </m:r>
                                          </m:sub>
                                        </m:sSub>
                                        <m:r>
                                          <a:rPr lang="en-US" sz="2000" i="1"/>
                                          <m:t>𝐶</m:t>
                                        </m:r>
                                      </m:e>
                                    </m:d>
                                  </m:e>
                                  <m:sup>
                                    <m:r>
                                      <a:rPr lang="en-US" sz="2000" i="1"/>
                                      <m:t>𝑇</m:t>
                                    </m:r>
                                  </m:sup>
                                </m:sSup>
                              </m:e>
                              <m:e>
                                <m:r>
                                  <a:rPr lang="en-US" sz="2000" i="1"/>
                                  <m:t>0</m:t>
                                </m:r>
                              </m:e>
                              <m:e>
                                <m:r>
                                  <a:rPr lang="en-US" sz="2000" i="1"/>
                                  <m:t>0</m:t>
                                </m:r>
                              </m:e>
                              <m:e>
                                <m:r>
                                  <a:rPr lang="en-US" sz="2000" i="1"/>
                                  <m:t>−</m:t>
                                </m:r>
                                <m:sSub>
                                  <m:sSubPr>
                                    <m:ctrlPr>
                                      <a:rPr lang="en-US" sz="2000" i="1"/>
                                    </m:ctrlPr>
                                  </m:sSubPr>
                                  <m:e>
                                    <m:r>
                                      <a:rPr lang="en-US" sz="2000" i="1"/>
                                      <m:t>𝑄</m:t>
                                    </m:r>
                                  </m:e>
                                  <m:sub>
                                    <m:r>
                                      <a:rPr lang="en-US" sz="2000" i="1"/>
                                      <m:t>1</m:t>
                                    </m:r>
                                  </m:sub>
                                </m:sSub>
                              </m:e>
                              <m:e>
                                <m:r>
                                  <a:rPr lang="en-US" sz="2000" i="1"/>
                                  <m:t>0</m:t>
                                </m:r>
                              </m:e>
                              <m:e>
                                <m:r>
                                  <a:rPr lang="en-US" sz="2000" i="1"/>
                                  <m:t>0</m:t>
                                </m:r>
                              </m:e>
                            </m:mr>
                            <m:mr>
                              <m:e>
                                <m:sSup>
                                  <m:sSupPr>
                                    <m:ctrlPr>
                                      <a:rPr lang="en-US" sz="2000" i="1"/>
                                    </m:ctrlPr>
                                  </m:sSupPr>
                                  <m:e>
                                    <m:d>
                                      <m:dPr>
                                        <m:ctrlPr>
                                          <a:rPr lang="en-US" sz="2000" i="1"/>
                                        </m:ctrlPr>
                                      </m:dPr>
                                      <m:e>
                                        <m:r>
                                          <a:rPr lang="en-US" sz="2000" i="1"/>
                                          <m:t>𝐵</m:t>
                                        </m:r>
                                        <m:sSub>
                                          <m:sSubPr>
                                            <m:ctrlPr>
                                              <a:rPr lang="en-US" sz="2000" i="1"/>
                                            </m:ctrlPr>
                                          </m:sSubPr>
                                          <m:e>
                                            <m:r>
                                              <a:rPr lang="en-US" sz="2000" i="1"/>
                                              <m:t>𝐹</m:t>
                                            </m:r>
                                          </m:e>
                                          <m:sub>
                                            <m:r>
                                              <a:rPr lang="en-US" sz="2000" i="1"/>
                                              <m:t>2</m:t>
                                            </m:r>
                                          </m:sub>
                                        </m:sSub>
                                        <m:r>
                                          <a:rPr lang="en-US" sz="2000" i="1"/>
                                          <m:t>𝐶</m:t>
                                        </m:r>
                                      </m:e>
                                    </m:d>
                                  </m:e>
                                  <m:sup>
                                    <m:r>
                                      <a:rPr lang="en-US" sz="2000" i="1"/>
                                      <m:t>𝑇</m:t>
                                    </m:r>
                                  </m:sup>
                                </m:sSup>
                              </m:e>
                              <m:e>
                                <m:r>
                                  <a:rPr lang="en-US" sz="2000" i="1"/>
                                  <m:t>0</m:t>
                                </m:r>
                              </m:e>
                              <m:e>
                                <m:r>
                                  <a:rPr lang="en-US" sz="2000" i="1"/>
                                  <m:t>0</m:t>
                                </m:r>
                              </m:e>
                              <m:e>
                                <m:r>
                                  <a:rPr lang="en-US" sz="2000" i="1"/>
                                  <m:t>0</m:t>
                                </m:r>
                              </m:e>
                              <m:e>
                                <m:r>
                                  <a:rPr lang="en-US" sz="2000" i="1"/>
                                  <m:t>−</m:t>
                                </m:r>
                                <m:sSub>
                                  <m:sSubPr>
                                    <m:ctrlPr>
                                      <a:rPr lang="en-US" sz="2000" i="1"/>
                                    </m:ctrlPr>
                                  </m:sSubPr>
                                  <m:e>
                                    <m:r>
                                      <a:rPr lang="en-US" sz="2000" i="1"/>
                                      <m:t>𝑄</m:t>
                                    </m:r>
                                  </m:e>
                                  <m:sub>
                                    <m:r>
                                      <a:rPr lang="en-US" sz="2000" i="1"/>
                                      <m:t>2</m:t>
                                    </m:r>
                                  </m:sub>
                                </m:sSub>
                              </m:e>
                              <m:e>
                                <m:r>
                                  <a:rPr lang="en-US" sz="2000" i="1"/>
                                  <m:t>0</m:t>
                                </m:r>
                              </m:e>
                            </m:mr>
                            <m:mr>
                              <m:e>
                                <m:sSup>
                                  <m:sSupPr>
                                    <m:ctrlPr>
                                      <a:rPr lang="en-US" sz="2000" i="1"/>
                                    </m:ctrlPr>
                                  </m:sSupPr>
                                  <m:e>
                                    <m:r>
                                      <a:rPr lang="en-US" sz="2000" i="1"/>
                                      <m:t>𝐷</m:t>
                                    </m:r>
                                  </m:e>
                                  <m:sup>
                                    <m:r>
                                      <a:rPr lang="en-US" sz="2000" i="1"/>
                                      <m:t>𝑇</m:t>
                                    </m:r>
                                  </m:sup>
                                </m:sSup>
                              </m:e>
                              <m:e>
                                <m:r>
                                  <a:rPr lang="en-US" sz="2000" i="1"/>
                                  <m:t>0</m:t>
                                </m:r>
                              </m:e>
                              <m:e>
                                <m:r>
                                  <a:rPr lang="en-US" sz="2000" i="1"/>
                                  <m:t>0</m:t>
                                </m:r>
                              </m:e>
                              <m:e>
                                <m:r>
                                  <a:rPr lang="en-US" sz="2000" i="1"/>
                                  <m:t>0</m:t>
                                </m:r>
                              </m:e>
                              <m:e>
                                <m:r>
                                  <a:rPr lang="en-US" sz="2000" i="1"/>
                                  <m:t>0</m:t>
                                </m:r>
                              </m:e>
                              <m:e>
                                <m:r>
                                  <a:rPr lang="en-US" sz="2000" i="1"/>
                                  <m:t>−</m:t>
                                </m:r>
                                <m:sSup>
                                  <m:sSupPr>
                                    <m:ctrlPr>
                                      <a:rPr lang="en-US" sz="2000" i="1"/>
                                    </m:ctrlPr>
                                  </m:sSupPr>
                                  <m:e>
                                    <m:r>
                                      <a:rPr lang="en-US" sz="2000" i="1"/>
                                      <m:t>𝛾</m:t>
                                    </m:r>
                                  </m:e>
                                  <m:sup>
                                    <m:r>
                                      <a:rPr lang="en-US" sz="2000" i="1"/>
                                      <m:t>2</m:t>
                                    </m:r>
                                  </m:sup>
                                </m:sSup>
                                <m:r>
                                  <a:rPr lang="en-US" sz="2000" i="1"/>
                                  <m:t>𝐼</m:t>
                                </m:r>
                              </m:e>
                            </m:mr>
                          </m:m>
                        </m:e>
                      </m:d>
                      <m:r>
                        <a:rPr lang="en-US" sz="2000"/>
                        <m:t>&lt;</m:t>
                      </m:r>
                      <m:r>
                        <a:rPr lang="en-US" sz="2000" i="1"/>
                        <m:t>0</m:t>
                      </m:r>
                      <m:r>
                        <a:rPr lang="en-US" sz="2000"/>
                        <m:t>.</m:t>
                      </m:r>
                    </m:oMath>
                  </m:oMathPara>
                </a14:m>
                <a:endParaRPr lang="en-US" sz="2000" dirty="0">
                  <a:latin typeface="Arial" panose="020B0604020202020204" pitchFamily="34" charset="0"/>
                  <a:cs typeface="Arial" panose="020B0604020202020204" pitchFamily="34" charset="0"/>
                </a:endParaRPr>
              </a:p>
              <a:p>
                <a:pPr marL="0" indent="0">
                  <a:buNone/>
                </a:pPr>
                <a:endParaRPr lang="en-US" sz="2000" dirty="0">
                  <a:latin typeface="Arial" panose="020B0604020202020204" pitchFamily="34" charset="0"/>
                  <a:cs typeface="Arial" panose="020B0604020202020204" pitchFamily="34" charset="0"/>
                </a:endParaRPr>
              </a:p>
              <a:p>
                <a:pPr marL="0" indent="0">
                  <a:buNone/>
                </a:pPr>
                <a:r>
                  <a:rPr lang="en-US" sz="2000" dirty="0">
                    <a:latin typeface="Arial" panose="020B0604020202020204" pitchFamily="34" charset="0"/>
                    <a:cs typeface="Arial" panose="020B0604020202020204" pitchFamily="34" charset="0"/>
                  </a:rPr>
                  <a:t>The final LMI (Eq. (21) in the paper) is returned above as (8.1). </a:t>
                </a:r>
              </a:p>
              <a:p>
                <a:pPr>
                  <a:buFont typeface="Courier New" panose="02070309020205020404" pitchFamily="49" charset="0"/>
                  <a:buChar char="o"/>
                </a:pPr>
                <a:r>
                  <a:rPr lang="en-US" sz="2000" dirty="0">
                    <a:latin typeface="Arial" panose="020B0604020202020204" pitchFamily="34" charset="0"/>
                    <a:cs typeface="Arial" panose="020B0604020202020204" pitchFamily="34" charset="0"/>
                  </a:rPr>
                  <a:t>If we solve (8.1) for </a:t>
                </a:r>
                <a14:m>
                  <m:oMath xmlns:m="http://schemas.openxmlformats.org/officeDocument/2006/math">
                    <m:r>
                      <a:rPr lang="en-US" sz="2000" i="1"/>
                      <m:t>𝑋</m:t>
                    </m:r>
                    <m:r>
                      <a:rPr lang="en-US" sz="2000"/>
                      <m:t>,</m:t>
                    </m:r>
                    <m:sSub>
                      <m:sSubPr>
                        <m:ctrlPr>
                          <a:rPr lang="en-US" sz="2000" i="1"/>
                        </m:ctrlPr>
                      </m:sSubPr>
                      <m:e>
                        <m:r>
                          <a:rPr lang="en-US" sz="2000" i="1"/>
                          <m:t>𝑄</m:t>
                        </m:r>
                      </m:e>
                      <m:sub>
                        <m:r>
                          <a:rPr lang="en-US" sz="2000" i="1"/>
                          <m:t>1</m:t>
                        </m:r>
                      </m:sub>
                    </m:sSub>
                    <m:r>
                      <a:rPr lang="en-US" sz="2000"/>
                      <m:t>,</m:t>
                    </m:r>
                    <m:sSub>
                      <m:sSubPr>
                        <m:ctrlPr>
                          <a:rPr lang="en-US" sz="2000" i="1"/>
                        </m:ctrlPr>
                      </m:sSubPr>
                      <m:e>
                        <m:r>
                          <a:rPr lang="en-US" sz="2000" i="1"/>
                          <m:t>𝑄</m:t>
                        </m:r>
                      </m:e>
                      <m:sub>
                        <m:r>
                          <a:rPr lang="en-US" sz="2000" i="1"/>
                          <m:t>2</m:t>
                        </m:r>
                      </m:sub>
                    </m:sSub>
                    <m:r>
                      <a:rPr lang="en-US" sz="2000"/>
                      <m:t>,</m:t>
                    </m:r>
                    <m:sSub>
                      <m:sSubPr>
                        <m:ctrlPr>
                          <a:rPr lang="en-US" sz="2000" i="1"/>
                        </m:ctrlPr>
                      </m:sSubPr>
                      <m:e>
                        <m:r>
                          <a:rPr lang="en-US" sz="2000" i="1"/>
                          <m:t>𝑄</m:t>
                        </m:r>
                      </m:e>
                      <m:sub>
                        <m:r>
                          <a:rPr lang="en-US" sz="2000" i="1"/>
                          <m:t>𝑇</m:t>
                        </m:r>
                      </m:sub>
                    </m:sSub>
                    <m:r>
                      <a:rPr lang="en-US" sz="2000"/>
                      <m:t>,</m:t>
                    </m:r>
                    <m:r>
                      <a:rPr lang="en-US" sz="2000" i="1"/>
                      <m:t>𝛾</m:t>
                    </m:r>
                  </m:oMath>
                </a14:m>
                <a:r>
                  <a:rPr lang="en-US" sz="2000" dirty="0">
                    <a:latin typeface="Arial" panose="020B0604020202020204" pitchFamily="34" charset="0"/>
                    <a:cs typeface="Arial" panose="020B0604020202020204" pitchFamily="34" charset="0"/>
                  </a:rPr>
                  <a:t> and decision variables representing </a:t>
                </a:r>
                <a14:m>
                  <m:oMath xmlns:m="http://schemas.openxmlformats.org/officeDocument/2006/math">
                    <m:r>
                      <a:rPr lang="en-US" sz="2000" i="1"/>
                      <m:t>𝐵</m:t>
                    </m:r>
                    <m:sSub>
                      <m:sSubPr>
                        <m:ctrlPr>
                          <a:rPr lang="en-US" sz="2000" i="1"/>
                        </m:ctrlPr>
                      </m:sSubPr>
                      <m:e>
                        <m:r>
                          <a:rPr lang="en-US" sz="2000" i="1"/>
                          <m:t>𝐹</m:t>
                        </m:r>
                      </m:e>
                      <m:sub>
                        <m:r>
                          <a:rPr lang="en-US" sz="2000" i="1"/>
                          <m:t>1</m:t>
                        </m:r>
                      </m:sub>
                    </m:sSub>
                    <m:r>
                      <a:rPr lang="en-US" sz="2000" i="1"/>
                      <m:t>𝐶</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m:t>𝐵</m:t>
                    </m:r>
                    <m:sSub>
                      <m:sSubPr>
                        <m:ctrlPr>
                          <a:rPr lang="en-US" sz="2000" i="1"/>
                        </m:ctrlPr>
                      </m:sSubPr>
                      <m:e>
                        <m:r>
                          <a:rPr lang="en-US" sz="2000" i="1"/>
                          <m:t>𝐹</m:t>
                        </m:r>
                      </m:e>
                      <m:sub>
                        <m:r>
                          <a:rPr lang="en-US" sz="2000" i="1"/>
                          <m:t>2</m:t>
                        </m:r>
                      </m:sub>
                    </m:sSub>
                    <m:r>
                      <a:rPr lang="en-US" sz="2000" i="1"/>
                      <m:t>𝐶</m:t>
                    </m:r>
                    <m:r>
                      <a:rPr lang="en-US" sz="2000" b="0" i="0" smtClean="0">
                        <a:latin typeface="Cambria Math" panose="02040503050406030204" pitchFamily="18" charset="0"/>
                      </a:rPr>
                      <m:t>.</m:t>
                    </m:r>
                  </m:oMath>
                </a14:m>
                <a:endParaRPr lang="en-US" sz="2000" dirty="0">
                  <a:latin typeface="Arial" panose="020B0604020202020204" pitchFamily="34" charset="0"/>
                  <a:cs typeface="Arial" panose="020B0604020202020204" pitchFamily="34" charset="0"/>
                </a:endParaRPr>
              </a:p>
              <a:p>
                <a:pPr>
                  <a:buFont typeface="Courier New" panose="02070309020205020404" pitchFamily="49" charset="0"/>
                  <a:buChar char="o"/>
                </a:pPr>
                <a:r>
                  <a:rPr lang="en-US" sz="2000" dirty="0">
                    <a:latin typeface="Arial" panose="020B0604020202020204" pitchFamily="34" charset="0"/>
                    <a:cs typeface="Arial" panose="020B0604020202020204" pitchFamily="34" charset="0"/>
                  </a:rPr>
                  <a:t>We can extract </a:t>
                </a:r>
                <a14:m>
                  <m:oMath xmlns:m="http://schemas.openxmlformats.org/officeDocument/2006/math">
                    <m:sSub>
                      <m:sSubPr>
                        <m:ctrlPr>
                          <a:rPr lang="en-US" sz="2000" i="1"/>
                        </m:ctrlPr>
                      </m:sSubPr>
                      <m:e>
                        <m:r>
                          <a:rPr lang="en-US" sz="2000" i="1"/>
                          <m:t>𝐹</m:t>
                        </m:r>
                      </m:e>
                      <m:sub>
                        <m:r>
                          <a:rPr lang="en-US" sz="2000" i="1"/>
                          <m:t>1</m:t>
                        </m:r>
                      </m:sub>
                    </m:sSub>
                    <m:r>
                      <a:rPr lang="en-US" sz="2000"/>
                      <m:t>,</m:t>
                    </m:r>
                    <m:sSub>
                      <m:sSubPr>
                        <m:ctrlPr>
                          <a:rPr lang="en-US" sz="2000" i="1"/>
                        </m:ctrlPr>
                      </m:sSubPr>
                      <m:e>
                        <m:r>
                          <a:rPr lang="en-US" sz="2000" i="1"/>
                          <m:t>𝐹</m:t>
                        </m:r>
                      </m:e>
                      <m:sub>
                        <m:r>
                          <a:rPr lang="en-US" sz="2000" i="1"/>
                          <m:t>2</m:t>
                        </m:r>
                      </m:sub>
                    </m:sSub>
                  </m:oMath>
                </a14:m>
                <a:r>
                  <a:rPr lang="en-US" sz="2000" dirty="0">
                    <a:latin typeface="Arial" panose="020B0604020202020204" pitchFamily="34" charset="0"/>
                    <a:cs typeface="Arial" panose="020B0604020202020204" pitchFamily="34" charset="0"/>
                  </a:rPr>
                  <a:t> provided </a:t>
                </a:r>
                <a14:m>
                  <m:oMath xmlns:m="http://schemas.openxmlformats.org/officeDocument/2006/math">
                    <m:r>
                      <a:rPr lang="en-US" sz="2000" i="1"/>
                      <m:t>𝐵</m:t>
                    </m:r>
                  </m:oMath>
                </a14:m>
                <a:r>
                  <a:rPr lang="en-US" sz="2000" dirty="0">
                    <a:latin typeface="Arial" panose="020B0604020202020204" pitchFamily="34" charset="0"/>
                    <a:cs typeface="Arial" panose="020B0604020202020204" pitchFamily="34" charset="0"/>
                  </a:rPr>
                  <a:t> and </a:t>
                </a:r>
                <a14:m>
                  <m:oMath xmlns:m="http://schemas.openxmlformats.org/officeDocument/2006/math">
                    <m:r>
                      <a:rPr lang="en-US" sz="2000" i="1"/>
                      <m:t>𝐶</m:t>
                    </m:r>
                  </m:oMath>
                </a14:m>
                <a:r>
                  <a:rPr lang="en-US" sz="2000" dirty="0">
                    <a:latin typeface="Arial" panose="020B0604020202020204" pitchFamily="34" charset="0"/>
                    <a:cs typeface="Arial" panose="020B0604020202020204" pitchFamily="34" charset="0"/>
                  </a:rPr>
                  <a:t> have appropriate dimensions/ranks. This is the computational recipe the paper uses (“Algorithm 2” as named in the paper).</a:t>
                </a:r>
              </a:p>
              <a:p>
                <a:pPr marL="0" indent="0">
                  <a:buNone/>
                </a:pPr>
                <a:endParaRPr lang="en-US" sz="2000" dirty="0">
                  <a:latin typeface="Arial" panose="020B0604020202020204" pitchFamily="34" charset="0"/>
                  <a:cs typeface="Arial" panose="020B0604020202020204" pitchFamily="34" charset="0"/>
                </a:endParaRPr>
              </a:p>
            </p:txBody>
          </p:sp>
        </mc:Choice>
        <mc:Fallback>
          <p:sp>
            <p:nvSpPr>
              <p:cNvPr id="4" name="Content Placeholder 3">
                <a:extLst>
                  <a:ext uri="{FF2B5EF4-FFF2-40B4-BE49-F238E27FC236}">
                    <a16:creationId xmlns:a16="http://schemas.microsoft.com/office/drawing/2014/main" id="{650774AC-D733-B9F1-ECF3-D77BDA628CB1}"/>
                  </a:ext>
                </a:extLst>
              </p:cNvPr>
              <p:cNvSpPr txBox="1">
                <a:spLocks noRot="1" noChangeAspect="1" noMove="1" noResize="1" noEditPoints="1" noAdjustHandles="1" noChangeArrowheads="1" noChangeShapeType="1" noTextEdit="1"/>
              </p:cNvSpPr>
              <p:nvPr/>
            </p:nvSpPr>
            <p:spPr>
              <a:xfrm>
                <a:off x="299582" y="1230283"/>
                <a:ext cx="9459560" cy="5151296"/>
              </a:xfrm>
              <a:prstGeom prst="rect">
                <a:avLst/>
              </a:prstGeom>
              <a:blipFill>
                <a:blip r:embed="rId3"/>
                <a:stretch>
                  <a:fillRect l="-644" t="-592" b="-4260"/>
                </a:stretch>
              </a:blipFill>
            </p:spPr>
            <p:txBody>
              <a:bodyPr/>
              <a:lstStyle/>
              <a:p>
                <a:r>
                  <a:rPr lang="en-US">
                    <a:noFill/>
                  </a:rPr>
                  <a:t> </a:t>
                </a:r>
              </a:p>
            </p:txBody>
          </p:sp>
        </mc:Fallback>
      </mc:AlternateContent>
      <p:sp>
        <p:nvSpPr>
          <p:cNvPr id="5" name="Slide Number Placeholder 2">
            <a:extLst>
              <a:ext uri="{FF2B5EF4-FFF2-40B4-BE49-F238E27FC236}">
                <a16:creationId xmlns:a16="http://schemas.microsoft.com/office/drawing/2014/main" id="{1D130032-B272-793B-3727-A08B17CED6A4}"/>
              </a:ext>
            </a:extLst>
          </p:cNvPr>
          <p:cNvSpPr>
            <a:spLocks noGrp="1"/>
          </p:cNvSpPr>
          <p:nvPr>
            <p:ph type="sldNum" sz="quarter" idx="12"/>
          </p:nvPr>
        </p:nvSpPr>
        <p:spPr>
          <a:xfrm>
            <a:off x="7795578" y="6141113"/>
            <a:ext cx="1096432" cy="716887"/>
          </a:xfrm>
        </p:spPr>
        <p:txBody>
          <a:bodyPr/>
          <a:lstStyle/>
          <a:p>
            <a:r>
              <a:rPr lang="en-US" dirty="0"/>
              <a:t>18</a:t>
            </a:r>
          </a:p>
        </p:txBody>
      </p:sp>
    </p:spTree>
    <p:extLst>
      <p:ext uri="{BB962C8B-B14F-4D97-AF65-F5344CB8AC3E}">
        <p14:creationId xmlns:p14="http://schemas.microsoft.com/office/powerpoint/2010/main" val="1964398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4">
                                            <p:txEl>
                                              <p:pRg st="1" end="1"/>
                                            </p:txEl>
                                          </p:spTgt>
                                        </p:tgtEl>
                                        <p:attrNameLst>
                                          <p:attrName>style.visibility</p:attrName>
                                        </p:attrNameLst>
                                      </p:cBhvr>
                                      <p:to>
                                        <p:strVal val="visible"/>
                                      </p:to>
                                    </p:set>
                                    <p:animEffect transition="in" filter="fade">
                                      <p:cBhvr>
                                        <p:cTn id="14" dur="1000"/>
                                        <p:tgtEl>
                                          <p:spTgt spid="4">
                                            <p:txEl>
                                              <p:pRg st="1" end="1"/>
                                            </p:txEl>
                                          </p:spTgt>
                                        </p:tgtEl>
                                      </p:cBhvr>
                                    </p:animEffect>
                                    <p:anim calcmode="lin" valueType="num">
                                      <p:cBhvr>
                                        <p:cTn id="15" dur="1000" fill="hold"/>
                                        <p:tgtEl>
                                          <p:spTgt spid="4">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xEl>
                                              <p:pRg st="3" end="3"/>
                                            </p:txEl>
                                          </p:spTgt>
                                        </p:tgtEl>
                                        <p:attrNameLst>
                                          <p:attrName>style.visibility</p:attrName>
                                        </p:attrNameLst>
                                      </p:cBhvr>
                                      <p:to>
                                        <p:strVal val="visible"/>
                                      </p:to>
                                    </p:set>
                                    <p:animEffect transition="in" filter="fade">
                                      <p:cBhvr>
                                        <p:cTn id="21" dur="1000"/>
                                        <p:tgtEl>
                                          <p:spTgt spid="4">
                                            <p:txEl>
                                              <p:pRg st="3" end="3"/>
                                            </p:txEl>
                                          </p:spTgt>
                                        </p:tgtEl>
                                      </p:cBhvr>
                                    </p:animEffect>
                                    <p:anim calcmode="lin" valueType="num">
                                      <p:cBhvr>
                                        <p:cTn id="22" dur="1000" fill="hold"/>
                                        <p:tgtEl>
                                          <p:spTgt spid="4">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4">
                                            <p:txEl>
                                              <p:pRg st="4" end="4"/>
                                            </p:txEl>
                                          </p:spTgt>
                                        </p:tgtEl>
                                        <p:attrNameLst>
                                          <p:attrName>style.visibility</p:attrName>
                                        </p:attrNameLst>
                                      </p:cBhvr>
                                      <p:to>
                                        <p:strVal val="visible"/>
                                      </p:to>
                                    </p:set>
                                    <p:animEffect transition="in" filter="fade">
                                      <p:cBhvr>
                                        <p:cTn id="28" dur="1000"/>
                                        <p:tgtEl>
                                          <p:spTgt spid="4">
                                            <p:txEl>
                                              <p:pRg st="4" end="4"/>
                                            </p:txEl>
                                          </p:spTgt>
                                        </p:tgtEl>
                                      </p:cBhvr>
                                    </p:animEffect>
                                    <p:anim calcmode="lin" valueType="num">
                                      <p:cBhvr>
                                        <p:cTn id="29"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4">
                                            <p:txEl>
                                              <p:pRg st="5" end="5"/>
                                            </p:txEl>
                                          </p:spTgt>
                                        </p:tgtEl>
                                        <p:attrNameLst>
                                          <p:attrName>style.visibility</p:attrName>
                                        </p:attrNameLst>
                                      </p:cBhvr>
                                      <p:to>
                                        <p:strVal val="visible"/>
                                      </p:to>
                                    </p:set>
                                    <p:animEffect transition="in" filter="fade">
                                      <p:cBhvr>
                                        <p:cTn id="35" dur="1000"/>
                                        <p:tgtEl>
                                          <p:spTgt spid="4">
                                            <p:txEl>
                                              <p:pRg st="5" end="5"/>
                                            </p:txEl>
                                          </p:spTgt>
                                        </p:tgtEl>
                                      </p:cBhvr>
                                    </p:animEffect>
                                    <p:anim calcmode="lin" valueType="num">
                                      <p:cBhvr>
                                        <p:cTn id="36" dur="1000" fill="hold"/>
                                        <p:tgtEl>
                                          <p:spTgt spid="4">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4">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B860FC-8F0C-B27F-A64B-09A9565FE754}"/>
              </a:ext>
            </a:extLst>
          </p:cNvPr>
          <p:cNvSpPr>
            <a:spLocks noGrp="1"/>
          </p:cNvSpPr>
          <p:nvPr>
            <p:ph type="title"/>
          </p:nvPr>
        </p:nvSpPr>
        <p:spPr>
          <a:xfrm>
            <a:off x="1797517" y="694035"/>
            <a:ext cx="8596668" cy="1320800"/>
          </a:xfrm>
        </p:spPr>
        <p:txBody>
          <a:bodyPr>
            <a:normAutofit/>
          </a:bodyPr>
          <a:lstStyle/>
          <a:p>
            <a:pPr algn="ctr"/>
            <a:r>
              <a:rPr lang="en-US" sz="3200" b="1" dirty="0">
                <a:latin typeface="Arial" panose="020B0604020202020204" pitchFamily="34" charset="0"/>
                <a:cs typeface="Arial" panose="020B0604020202020204" pitchFamily="34" charset="0"/>
              </a:rPr>
              <a:t>Simulation Setup</a:t>
            </a:r>
          </a:p>
        </p:txBody>
      </p:sp>
      <p:sp>
        <p:nvSpPr>
          <p:cNvPr id="3" name="Slide Number Placeholder 2">
            <a:extLst>
              <a:ext uri="{FF2B5EF4-FFF2-40B4-BE49-F238E27FC236}">
                <a16:creationId xmlns:a16="http://schemas.microsoft.com/office/drawing/2014/main" id="{6828E9BD-75AC-E5E8-CF6C-A7C8F452BF36}"/>
              </a:ext>
            </a:extLst>
          </p:cNvPr>
          <p:cNvSpPr>
            <a:spLocks noGrp="1"/>
          </p:cNvSpPr>
          <p:nvPr>
            <p:ph type="sldNum" sz="quarter" idx="12"/>
          </p:nvPr>
        </p:nvSpPr>
        <p:spPr>
          <a:xfrm>
            <a:off x="10643587" y="5965372"/>
            <a:ext cx="1096432" cy="716887"/>
          </a:xfrm>
        </p:spPr>
        <p:txBody>
          <a:bodyPr/>
          <a:lstStyle/>
          <a:p>
            <a:r>
              <a:rPr lang="en-US" dirty="0">
                <a:solidFill>
                  <a:schemeClr val="bg1"/>
                </a:solidFill>
              </a:rPr>
              <a:t>19</a:t>
            </a:r>
          </a:p>
        </p:txBody>
      </p:sp>
      <p:sp>
        <p:nvSpPr>
          <p:cNvPr id="11" name="Google Shape;201;p19">
            <a:extLst>
              <a:ext uri="{FF2B5EF4-FFF2-40B4-BE49-F238E27FC236}">
                <a16:creationId xmlns:a16="http://schemas.microsoft.com/office/drawing/2014/main" id="{98B140A9-4593-0E7E-F555-4207D66AEA12}"/>
              </a:ext>
            </a:extLst>
          </p:cNvPr>
          <p:cNvSpPr txBox="1"/>
          <p:nvPr/>
        </p:nvSpPr>
        <p:spPr>
          <a:xfrm>
            <a:off x="866775" y="3729335"/>
            <a:ext cx="2901850" cy="2031325"/>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650" b="0" i="0" u="none" strike="noStrike" cap="none" dirty="0">
                <a:solidFill>
                  <a:schemeClr val="bg1"/>
                </a:solidFill>
                <a:latin typeface="Inter"/>
                <a:ea typeface="Inter"/>
                <a:cs typeface="Inter"/>
                <a:sym typeface="Inter"/>
              </a:rPr>
              <a:t>Speed of sound changes with gas composition. Solvent vapors can cause massive errors if the sensor assumes air.</a:t>
            </a:r>
            <a:endParaRPr dirty="0">
              <a:solidFill>
                <a:schemeClr val="bg1"/>
              </a:solidFill>
            </a:endParaRPr>
          </a:p>
        </p:txBody>
      </p:sp>
      <p:sp>
        <p:nvSpPr>
          <p:cNvPr id="18" name="Content Placeholder 3">
            <a:extLst>
              <a:ext uri="{FF2B5EF4-FFF2-40B4-BE49-F238E27FC236}">
                <a16:creationId xmlns:a16="http://schemas.microsoft.com/office/drawing/2014/main" id="{081393BB-5162-E324-11BE-6DA8327D997D}"/>
              </a:ext>
            </a:extLst>
          </p:cNvPr>
          <p:cNvSpPr txBox="1">
            <a:spLocks/>
          </p:cNvSpPr>
          <p:nvPr/>
        </p:nvSpPr>
        <p:spPr>
          <a:xfrm>
            <a:off x="299581" y="1465680"/>
            <a:ext cx="10528840" cy="539232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1">
              <a:buFont typeface="Courier New" panose="02070309020205020404" pitchFamily="49" charset="0"/>
              <a:buChar char="o"/>
            </a:pPr>
            <a:endParaRPr lang="en-US" sz="1800" dirty="0">
              <a:latin typeface="Arial" panose="020B060402020202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21" name="Content Placeholder 3">
                <a:extLst>
                  <a:ext uri="{FF2B5EF4-FFF2-40B4-BE49-F238E27FC236}">
                    <a16:creationId xmlns:a16="http://schemas.microsoft.com/office/drawing/2014/main" id="{4EE2BC12-E336-8EF4-D72B-222464A2E6C9}"/>
                  </a:ext>
                </a:extLst>
              </p:cNvPr>
              <p:cNvSpPr txBox="1">
                <a:spLocks/>
              </p:cNvSpPr>
              <p:nvPr/>
            </p:nvSpPr>
            <p:spPr>
              <a:xfrm>
                <a:off x="436146" y="1289939"/>
                <a:ext cx="10070876" cy="539232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000" b="1" dirty="0"/>
                  <a:t>Environment: </a:t>
                </a:r>
                <a:r>
                  <a:rPr lang="en-US" sz="2000" dirty="0"/>
                  <a:t>MATLAB / Simulink</a:t>
                </a:r>
                <a:r>
                  <a:rPr lang="en-US" sz="2000" b="1" dirty="0"/>
                  <a:t>.</a:t>
                </a:r>
              </a:p>
              <a:p>
                <a:r>
                  <a:rPr lang="en-US" sz="2000" b="1" dirty="0"/>
                  <a:t>Parameters:</a:t>
                </a:r>
              </a:p>
              <a:p>
                <a:pPr lvl="1">
                  <a:buFont typeface="Courier New" panose="02070309020205020404" pitchFamily="49" charset="0"/>
                  <a:buChar char="o"/>
                </a:pPr>
                <a:r>
                  <a:rPr lang="en-US" sz="1800" b="1" dirty="0"/>
                  <a:t>Network Load (</a:t>
                </a:r>
                <a14:m>
                  <m:oMath xmlns:m="http://schemas.openxmlformats.org/officeDocument/2006/math">
                    <m:r>
                      <a:rPr lang="en-US" sz="1800" i="1">
                        <a:latin typeface="Cambria Math" panose="02040503050406030204" pitchFamily="18" charset="0"/>
                      </a:rPr>
                      <m:t>𝑁</m:t>
                    </m:r>
                  </m:oMath>
                </a14:m>
                <a:r>
                  <a:rPr lang="en-US" sz="1800" b="1" dirty="0"/>
                  <a:t>):</a:t>
                </a:r>
                <a:r>
                  <a:rPr lang="en-US" sz="1800" dirty="0"/>
                  <a:t> 1200 TCP flows.</a:t>
                </a:r>
              </a:p>
              <a:p>
                <a:pPr lvl="1">
                  <a:buFont typeface="Courier New" panose="02070309020205020404" pitchFamily="49" charset="0"/>
                  <a:buChar char="o"/>
                </a:pPr>
                <a:r>
                  <a:rPr lang="en-US" sz="1800" b="1" dirty="0"/>
                  <a:t>Link Capacity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𝐶</m:t>
                        </m:r>
                      </m:e>
                      <m:sub>
                        <m:r>
                          <a:rPr lang="en-US" sz="1800" i="1">
                            <a:latin typeface="Cambria Math" panose="02040503050406030204" pitchFamily="18" charset="0"/>
                          </a:rPr>
                          <m:t>𝑜</m:t>
                        </m:r>
                      </m:sub>
                    </m:sSub>
                  </m:oMath>
                </a14:m>
                <a:r>
                  <a:rPr lang="en-US" sz="1800" b="1" dirty="0"/>
                  <a:t>):</a:t>
                </a:r>
                <a:r>
                  <a:rPr lang="en-US" sz="1800" dirty="0"/>
                  <a:t> 25,000 packets/s.</a:t>
                </a:r>
              </a:p>
              <a:p>
                <a:pPr lvl="1">
                  <a:buFont typeface="Courier New" panose="02070309020205020404" pitchFamily="49" charset="0"/>
                  <a:buChar char="o"/>
                </a:pPr>
                <a:r>
                  <a:rPr lang="en-US" sz="1800" b="1" dirty="0"/>
                  <a:t>Propagation Delay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𝑇</m:t>
                        </m:r>
                      </m:e>
                      <m:sub>
                        <m:r>
                          <a:rPr lang="en-US" sz="1800" i="1">
                            <a:latin typeface="Cambria Math" panose="02040503050406030204" pitchFamily="18" charset="0"/>
                          </a:rPr>
                          <m:t>𝑃</m:t>
                        </m:r>
                      </m:sub>
                    </m:sSub>
                  </m:oMath>
                </a14:m>
                <a:r>
                  <a:rPr lang="en-US" sz="1800" b="1" dirty="0"/>
                  <a:t>):</a:t>
                </a:r>
                <a:r>
                  <a:rPr lang="en-US" sz="1800" dirty="0"/>
                  <a:t> 0.2 s (200 </a:t>
                </a:r>
                <a:r>
                  <a:rPr lang="en-US" sz="1800" dirty="0" err="1"/>
                  <a:t>ms</a:t>
                </a:r>
                <a:r>
                  <a:rPr lang="en-US" sz="1800" dirty="0"/>
                  <a:t>).</a:t>
                </a:r>
              </a:p>
              <a:p>
                <a:pPr lvl="1">
                  <a:buFont typeface="Courier New" panose="02070309020205020404" pitchFamily="49" charset="0"/>
                  <a:buChar char="o"/>
                </a:pPr>
                <a:r>
                  <a:rPr lang="en-US" sz="1800" b="1" dirty="0"/>
                  <a:t>Operating Point (Queue,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𝑞</m:t>
                        </m:r>
                      </m:e>
                      <m:sub>
                        <m:r>
                          <a:rPr lang="en-US" sz="1800" i="1">
                            <a:latin typeface="Cambria Math" panose="02040503050406030204" pitchFamily="18" charset="0"/>
                          </a:rPr>
                          <m:t>𝑜</m:t>
                        </m:r>
                      </m:sub>
                    </m:sSub>
                  </m:oMath>
                </a14:m>
                <a:r>
                  <a:rPr lang="en-US" sz="1800" b="1" dirty="0"/>
                  <a:t>):</a:t>
                </a:r>
                <a:r>
                  <a:rPr lang="en-US" sz="1800" dirty="0"/>
                  <a:t> 500 packets.</a:t>
                </a:r>
              </a:p>
              <a:p>
                <a:pPr lvl="1">
                  <a:buFont typeface="Courier New" panose="02070309020205020404" pitchFamily="49" charset="0"/>
                  <a:buChar char="o"/>
                </a:pPr>
                <a:r>
                  <a:rPr lang="en-US" sz="1800" b="1" dirty="0"/>
                  <a:t>Operating Point (Window,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𝑊</m:t>
                        </m:r>
                      </m:e>
                      <m:sub>
                        <m:r>
                          <a:rPr lang="en-US" sz="1800" i="1">
                            <a:latin typeface="Cambria Math" panose="02040503050406030204" pitchFamily="18" charset="0"/>
                          </a:rPr>
                          <m:t>𝑜</m:t>
                        </m:r>
                      </m:sub>
                    </m:sSub>
                  </m:oMath>
                </a14:m>
                <a:r>
                  <a:rPr lang="en-US" sz="1800" b="1" dirty="0"/>
                  <a:t>):</a:t>
                </a:r>
                <a:r>
                  <a:rPr lang="en-US" sz="1800" dirty="0"/>
                  <a:t> 5 packets.</a:t>
                </a:r>
              </a:p>
              <a:p>
                <a:pPr lvl="1">
                  <a:buFont typeface="Courier New" panose="02070309020205020404" pitchFamily="49" charset="0"/>
                  <a:buChar char="o"/>
                </a:pPr>
                <a:r>
                  <a:rPr lang="en-US" sz="1800" b="1" dirty="0"/>
                  <a:t>Operating Point (Probability,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𝑝</m:t>
                        </m:r>
                      </m:e>
                      <m:sub>
                        <m:r>
                          <a:rPr lang="en-US" sz="1800" i="1">
                            <a:latin typeface="Cambria Math" panose="02040503050406030204" pitchFamily="18" charset="0"/>
                          </a:rPr>
                          <m:t>𝑜</m:t>
                        </m:r>
                      </m:sub>
                    </m:sSub>
                  </m:oMath>
                </a14:m>
                <a:r>
                  <a:rPr lang="en-US" sz="1800" b="1" dirty="0"/>
                  <a:t>):</a:t>
                </a:r>
                <a:r>
                  <a:rPr lang="en-US" sz="1800" dirty="0"/>
                  <a:t> 0.0952.</a:t>
                </a:r>
              </a:p>
              <a:p>
                <a:pPr lvl="1">
                  <a:buFont typeface="Courier New" panose="02070309020205020404" pitchFamily="49" charset="0"/>
                  <a:buChar char="o"/>
                </a:pPr>
                <a:r>
                  <a:rPr lang="en-US" sz="1800" b="1" dirty="0"/>
                  <a:t>Max Buffer Size (</a:t>
                </a:r>
                <a14:m>
                  <m:oMath xmlns:m="http://schemas.openxmlformats.org/officeDocument/2006/math">
                    <m:bar>
                      <m:barPr>
                        <m:pos m:val="top"/>
                        <m:ctrlPr>
                          <a:rPr lang="en-US" sz="1800" i="1">
                            <a:latin typeface="Cambria Math" panose="02040503050406030204" pitchFamily="18" charset="0"/>
                          </a:rPr>
                        </m:ctrlPr>
                      </m:barPr>
                      <m:e>
                        <m:r>
                          <a:rPr lang="en-US" sz="1800" i="1">
                            <a:latin typeface="Cambria Math" panose="02040503050406030204" pitchFamily="18" charset="0"/>
                          </a:rPr>
                          <m:t>𝑞</m:t>
                        </m:r>
                      </m:e>
                    </m:bar>
                  </m:oMath>
                </a14:m>
                <a:r>
                  <a:rPr lang="en-US" sz="1800" b="1" dirty="0"/>
                  <a:t>):</a:t>
                </a:r>
                <a:r>
                  <a:rPr lang="en-US" sz="1800" dirty="0"/>
                  <a:t> 800 packets.</a:t>
                </a:r>
              </a:p>
              <a:p>
                <a:pPr lvl="1">
                  <a:buFont typeface="Courier New" panose="02070309020205020404" pitchFamily="49" charset="0"/>
                  <a:buChar char="o"/>
                </a:pPr>
                <a:r>
                  <a:rPr lang="en-US" sz="1800" b="1" dirty="0"/>
                  <a:t>Max Window Size (</a:t>
                </a:r>
                <a14:m>
                  <m:oMath xmlns:m="http://schemas.openxmlformats.org/officeDocument/2006/math">
                    <m:bar>
                      <m:barPr>
                        <m:pos m:val="top"/>
                        <m:ctrlPr>
                          <a:rPr lang="en-US" sz="1800" i="1">
                            <a:latin typeface="Cambria Math" panose="02040503050406030204" pitchFamily="18" charset="0"/>
                          </a:rPr>
                        </m:ctrlPr>
                      </m:barPr>
                      <m:e>
                        <m:r>
                          <a:rPr lang="en-US" sz="1800" i="1">
                            <a:latin typeface="Cambria Math" panose="02040503050406030204" pitchFamily="18" charset="0"/>
                          </a:rPr>
                          <m:t>𝑊</m:t>
                        </m:r>
                      </m:e>
                    </m:bar>
                  </m:oMath>
                </a14:m>
                <a:r>
                  <a:rPr lang="en-US" sz="1800" b="1" dirty="0"/>
                  <a:t>):</a:t>
                </a:r>
                <a:r>
                  <a:rPr lang="en-US" sz="1800" dirty="0"/>
                  <a:t> 20.</a:t>
                </a:r>
              </a:p>
              <a:p>
                <a:pPr lvl="1">
                  <a:buFont typeface="Courier New" panose="02070309020205020404" pitchFamily="49" charset="0"/>
                  <a:buChar char="o"/>
                </a:pPr>
                <a:r>
                  <a:rPr lang="en-US" sz="1800" b="1" dirty="0"/>
                  <a:t>Initial Conditions:</a:t>
                </a:r>
                <a:r>
                  <a:rPr lang="en-US" sz="1800" dirty="0"/>
                  <a:t> Initial queue length and window size are </a:t>
                </a:r>
                <a:r>
                  <a:rPr lang="en-US" sz="1800" b="1" dirty="0"/>
                  <a:t>zero</a:t>
                </a:r>
                <a:r>
                  <a:rPr lang="en-US" sz="1800" dirty="0"/>
                  <a:t>.</a:t>
                </a:r>
              </a:p>
              <a:p>
                <a:pPr lvl="1">
                  <a:buFont typeface="Courier New" panose="02070309020205020404" pitchFamily="49" charset="0"/>
                  <a:buChar char="o"/>
                </a:pPr>
                <a:r>
                  <a:rPr lang="en-US" sz="1800" b="1" dirty="0"/>
                  <a:t>Noise:</a:t>
                </a:r>
                <a:r>
                  <a:rPr lang="en-US" sz="1800" dirty="0"/>
                  <a:t> The propagation delay is randomized to simulate network jitter:</a:t>
                </a:r>
              </a:p>
              <a:p>
                <a:pPr marL="457200" lvl="1" indent="0">
                  <a:buNone/>
                </a:pPr>
                <a:r>
                  <a:rPr lang="en-US" sz="1800" dirty="0"/>
                  <a:t> (</a:t>
                </a:r>
                <a14:m>
                  <m:oMath xmlns:m="http://schemas.openxmlformats.org/officeDocument/2006/math">
                    <m:sSub>
                      <m:sSubPr>
                        <m:ctrlPr>
                          <a:rPr lang="en-US" sz="1800" i="1">
                            <a:latin typeface="Cambria Math" panose="02040503050406030204" pitchFamily="18" charset="0"/>
                          </a:rPr>
                        </m:ctrlPr>
                      </m:sSubPr>
                      <m:e>
                        <m:r>
                          <a:rPr lang="en-US" sz="1800" i="1">
                            <a:latin typeface="Cambria Math" panose="02040503050406030204" pitchFamily="18" charset="0"/>
                          </a:rPr>
                          <m:t>𝑇</m:t>
                        </m:r>
                      </m:e>
                      <m:sub>
                        <m:r>
                          <a:rPr lang="en-US" sz="1800" i="1">
                            <a:latin typeface="Cambria Math" panose="02040503050406030204" pitchFamily="18" charset="0"/>
                          </a:rPr>
                          <m:t>𝑝</m:t>
                        </m:r>
                      </m:sub>
                    </m:sSub>
                    <m:r>
                      <a:rPr lang="en-US" sz="1800">
                        <a:latin typeface="Cambria Math" panose="02040503050406030204" pitchFamily="18" charset="0"/>
                      </a:rPr>
                      <m:t>=</m:t>
                    </m:r>
                    <m:d>
                      <m:dPr>
                        <m:ctrlPr>
                          <a:rPr lang="en-US" sz="1800" i="1">
                            <a:latin typeface="Cambria Math" panose="02040503050406030204" pitchFamily="18" charset="0"/>
                          </a:rPr>
                        </m:ctrlPr>
                      </m:dPr>
                      <m:e>
                        <m:r>
                          <a:rPr lang="en-US" sz="1800" i="1">
                            <a:latin typeface="Cambria Math" panose="02040503050406030204" pitchFamily="18" charset="0"/>
                          </a:rPr>
                          <m:t>200</m:t>
                        </m:r>
                        <m:r>
                          <a:rPr lang="en-US" sz="1800">
                            <a:latin typeface="Cambria Math" panose="02040503050406030204" pitchFamily="18" charset="0"/>
                          </a:rPr>
                          <m:t>+</m:t>
                        </m:r>
                        <m:r>
                          <a:rPr lang="en-US" sz="1800" i="1">
                            <a:latin typeface="Cambria Math" panose="02040503050406030204" pitchFamily="18" charset="0"/>
                          </a:rPr>
                          <m:t>40</m:t>
                        </m:r>
                        <m:r>
                          <a:rPr lang="en-US" sz="1800" i="1">
                            <a:latin typeface="Cambria Math" panose="02040503050406030204" pitchFamily="18" charset="0"/>
                          </a:rPr>
                          <m:t>𝜉</m:t>
                        </m:r>
                      </m:e>
                    </m:d>
                  </m:oMath>
                </a14:m>
                <a:r>
                  <a:rPr lang="en-US" sz="1800" b="1" dirty="0"/>
                  <a:t> </a:t>
                </a:r>
                <a:r>
                  <a:rPr lang="en-US" sz="1800" b="1" dirty="0" err="1"/>
                  <a:t>ms</a:t>
                </a:r>
                <a:r>
                  <a:rPr lang="en-US" sz="1800" dirty="0"/>
                  <a:t>, where </a:t>
                </a:r>
                <a14:m>
                  <m:oMath xmlns:m="http://schemas.openxmlformats.org/officeDocument/2006/math">
                    <m:r>
                      <a:rPr lang="en-US" sz="1800" i="1">
                        <a:latin typeface="Cambria Math" panose="02040503050406030204" pitchFamily="18" charset="0"/>
                      </a:rPr>
                      <m:t>𝜉</m:t>
                    </m:r>
                  </m:oMath>
                </a14:m>
                <a:r>
                  <a:rPr lang="en-US" sz="1800" dirty="0"/>
                  <a:t> is a uniform random variable on the interval [-0.5, 0.5].)</a:t>
                </a:r>
              </a:p>
              <a:p>
                <a:endParaRPr lang="en-US" sz="2000" b="1" dirty="0"/>
              </a:p>
            </p:txBody>
          </p:sp>
        </mc:Choice>
        <mc:Fallback xmlns="">
          <p:sp>
            <p:nvSpPr>
              <p:cNvPr id="21" name="Content Placeholder 3">
                <a:extLst>
                  <a:ext uri="{FF2B5EF4-FFF2-40B4-BE49-F238E27FC236}">
                    <a16:creationId xmlns:a16="http://schemas.microsoft.com/office/drawing/2014/main" id="{4EE2BC12-E336-8EF4-D72B-222464A2E6C9}"/>
                  </a:ext>
                </a:extLst>
              </p:cNvPr>
              <p:cNvSpPr txBox="1">
                <a:spLocks noRot="1" noChangeAspect="1" noMove="1" noResize="1" noEditPoints="1" noAdjustHandles="1" noChangeArrowheads="1" noChangeShapeType="1" noTextEdit="1"/>
              </p:cNvSpPr>
              <p:nvPr/>
            </p:nvSpPr>
            <p:spPr>
              <a:xfrm>
                <a:off x="436146" y="1289939"/>
                <a:ext cx="10070876" cy="5392320"/>
              </a:xfrm>
              <a:prstGeom prst="rect">
                <a:avLst/>
              </a:prstGeom>
              <a:blipFill>
                <a:blip r:embed="rId3"/>
                <a:stretch>
                  <a:fillRect l="-303" t="-792"/>
                </a:stretch>
              </a:blipFill>
            </p:spPr>
            <p:txBody>
              <a:bodyPr/>
              <a:lstStyle/>
              <a:p>
                <a:r>
                  <a:rPr lang="en-US">
                    <a:noFill/>
                  </a:rPr>
                  <a:t> </a:t>
                </a:r>
              </a:p>
            </p:txBody>
          </p:sp>
        </mc:Fallback>
      </mc:AlternateContent>
    </p:spTree>
    <p:extLst>
      <p:ext uri="{BB962C8B-B14F-4D97-AF65-F5344CB8AC3E}">
        <p14:creationId xmlns:p14="http://schemas.microsoft.com/office/powerpoint/2010/main" val="2103147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nodePh="1">
                                  <p:stCondLst>
                                    <p:cond delay="0"/>
                                  </p:stCondLst>
                                  <p:endCondLst>
                                    <p:cond evt="begin" delay="0">
                                      <p:tn val="5"/>
                                    </p:cond>
                                  </p:end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1">
                                            <p:txEl>
                                              <p:pRg st="0" end="0"/>
                                            </p:txEl>
                                          </p:spTgt>
                                        </p:tgtEl>
                                        <p:attrNameLst>
                                          <p:attrName>style.visibility</p:attrName>
                                        </p:attrNameLst>
                                      </p:cBhvr>
                                      <p:to>
                                        <p:strVal val="visible"/>
                                      </p:to>
                                    </p:set>
                                    <p:animEffect transition="in" filter="fade">
                                      <p:cBhvr>
                                        <p:cTn id="12" dur="500"/>
                                        <p:tgtEl>
                                          <p:spTgt spid="2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1">
                                            <p:txEl>
                                              <p:pRg st="1" end="1"/>
                                            </p:txEl>
                                          </p:spTgt>
                                        </p:tgtEl>
                                        <p:attrNameLst>
                                          <p:attrName>style.visibility</p:attrName>
                                        </p:attrNameLst>
                                      </p:cBhvr>
                                      <p:to>
                                        <p:strVal val="visible"/>
                                      </p:to>
                                    </p:set>
                                    <p:animEffect transition="in" filter="fade">
                                      <p:cBhvr>
                                        <p:cTn id="17" dur="500"/>
                                        <p:tgtEl>
                                          <p:spTgt spid="2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1">
                                            <p:txEl>
                                              <p:pRg st="2" end="2"/>
                                            </p:txEl>
                                          </p:spTgt>
                                        </p:tgtEl>
                                        <p:attrNameLst>
                                          <p:attrName>style.visibility</p:attrName>
                                        </p:attrNameLst>
                                      </p:cBhvr>
                                      <p:to>
                                        <p:strVal val="visible"/>
                                      </p:to>
                                    </p:set>
                                    <p:animEffect transition="in" filter="fade">
                                      <p:cBhvr>
                                        <p:cTn id="22" dur="500"/>
                                        <p:tgtEl>
                                          <p:spTgt spid="21">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21">
                                            <p:txEl>
                                              <p:pRg st="3" end="3"/>
                                            </p:txEl>
                                          </p:spTgt>
                                        </p:tgtEl>
                                        <p:attrNameLst>
                                          <p:attrName>style.visibility</p:attrName>
                                        </p:attrNameLst>
                                      </p:cBhvr>
                                      <p:to>
                                        <p:strVal val="visible"/>
                                      </p:to>
                                    </p:set>
                                    <p:animEffect transition="in" filter="fade">
                                      <p:cBhvr>
                                        <p:cTn id="27" dur="500"/>
                                        <p:tgtEl>
                                          <p:spTgt spid="21">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1">
                                            <p:txEl>
                                              <p:pRg st="4" end="4"/>
                                            </p:txEl>
                                          </p:spTgt>
                                        </p:tgtEl>
                                        <p:attrNameLst>
                                          <p:attrName>style.visibility</p:attrName>
                                        </p:attrNameLst>
                                      </p:cBhvr>
                                      <p:to>
                                        <p:strVal val="visible"/>
                                      </p:to>
                                    </p:set>
                                    <p:animEffect transition="in" filter="fade">
                                      <p:cBhvr>
                                        <p:cTn id="32" dur="500"/>
                                        <p:tgtEl>
                                          <p:spTgt spid="21">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21">
                                            <p:txEl>
                                              <p:pRg st="5" end="5"/>
                                            </p:txEl>
                                          </p:spTgt>
                                        </p:tgtEl>
                                        <p:attrNameLst>
                                          <p:attrName>style.visibility</p:attrName>
                                        </p:attrNameLst>
                                      </p:cBhvr>
                                      <p:to>
                                        <p:strVal val="visible"/>
                                      </p:to>
                                    </p:set>
                                    <p:animEffect transition="in" filter="fade">
                                      <p:cBhvr>
                                        <p:cTn id="37" dur="500"/>
                                        <p:tgtEl>
                                          <p:spTgt spid="21">
                                            <p:txEl>
                                              <p:pRg st="5" end="5"/>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21">
                                            <p:txEl>
                                              <p:pRg st="6" end="6"/>
                                            </p:txEl>
                                          </p:spTgt>
                                        </p:tgtEl>
                                        <p:attrNameLst>
                                          <p:attrName>style.visibility</p:attrName>
                                        </p:attrNameLst>
                                      </p:cBhvr>
                                      <p:to>
                                        <p:strVal val="visible"/>
                                      </p:to>
                                    </p:set>
                                    <p:animEffect transition="in" filter="fade">
                                      <p:cBhvr>
                                        <p:cTn id="42" dur="500"/>
                                        <p:tgtEl>
                                          <p:spTgt spid="21">
                                            <p:txEl>
                                              <p:pRg st="6" end="6"/>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21">
                                            <p:txEl>
                                              <p:pRg st="7" end="7"/>
                                            </p:txEl>
                                          </p:spTgt>
                                        </p:tgtEl>
                                        <p:attrNameLst>
                                          <p:attrName>style.visibility</p:attrName>
                                        </p:attrNameLst>
                                      </p:cBhvr>
                                      <p:to>
                                        <p:strVal val="visible"/>
                                      </p:to>
                                    </p:set>
                                    <p:animEffect transition="in" filter="fade">
                                      <p:cBhvr>
                                        <p:cTn id="47" dur="500"/>
                                        <p:tgtEl>
                                          <p:spTgt spid="21">
                                            <p:txEl>
                                              <p:pRg st="7" end="7"/>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21">
                                            <p:txEl>
                                              <p:pRg st="8" end="8"/>
                                            </p:txEl>
                                          </p:spTgt>
                                        </p:tgtEl>
                                        <p:attrNameLst>
                                          <p:attrName>style.visibility</p:attrName>
                                        </p:attrNameLst>
                                      </p:cBhvr>
                                      <p:to>
                                        <p:strVal val="visible"/>
                                      </p:to>
                                    </p:set>
                                    <p:animEffect transition="in" filter="fade">
                                      <p:cBhvr>
                                        <p:cTn id="52" dur="500"/>
                                        <p:tgtEl>
                                          <p:spTgt spid="21">
                                            <p:txEl>
                                              <p:pRg st="8" end="8"/>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21">
                                            <p:txEl>
                                              <p:pRg st="9" end="9"/>
                                            </p:txEl>
                                          </p:spTgt>
                                        </p:tgtEl>
                                        <p:attrNameLst>
                                          <p:attrName>style.visibility</p:attrName>
                                        </p:attrNameLst>
                                      </p:cBhvr>
                                      <p:to>
                                        <p:strVal val="visible"/>
                                      </p:to>
                                    </p:set>
                                    <p:animEffect transition="in" filter="fade">
                                      <p:cBhvr>
                                        <p:cTn id="57" dur="500"/>
                                        <p:tgtEl>
                                          <p:spTgt spid="21">
                                            <p:txEl>
                                              <p:pRg st="9" end="9"/>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21">
                                            <p:txEl>
                                              <p:pRg st="10" end="10"/>
                                            </p:txEl>
                                          </p:spTgt>
                                        </p:tgtEl>
                                        <p:attrNameLst>
                                          <p:attrName>style.visibility</p:attrName>
                                        </p:attrNameLst>
                                      </p:cBhvr>
                                      <p:to>
                                        <p:strVal val="visible"/>
                                      </p:to>
                                    </p:set>
                                    <p:animEffect transition="in" filter="fade">
                                      <p:cBhvr>
                                        <p:cTn id="62" dur="500"/>
                                        <p:tgtEl>
                                          <p:spTgt spid="21">
                                            <p:txEl>
                                              <p:pRg st="10" end="10"/>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1">
                                            <p:txEl>
                                              <p:pRg st="11" end="11"/>
                                            </p:txEl>
                                          </p:spTgt>
                                        </p:tgtEl>
                                        <p:attrNameLst>
                                          <p:attrName>style.visibility</p:attrName>
                                        </p:attrNameLst>
                                      </p:cBhvr>
                                      <p:to>
                                        <p:strVal val="visible"/>
                                      </p:to>
                                    </p:set>
                                    <p:animEffect transition="in" filter="fade">
                                      <p:cBhvr>
                                        <p:cTn id="67" dur="500"/>
                                        <p:tgtEl>
                                          <p:spTgt spid="21">
                                            <p:txEl>
                                              <p:pRg st="11" end="11"/>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nodeType="clickEffect">
                                  <p:stCondLst>
                                    <p:cond delay="0"/>
                                  </p:stCondLst>
                                  <p:childTnLst>
                                    <p:set>
                                      <p:cBhvr>
                                        <p:cTn id="71" dur="1" fill="hold">
                                          <p:stCondLst>
                                            <p:cond delay="0"/>
                                          </p:stCondLst>
                                        </p:cTn>
                                        <p:tgtEl>
                                          <p:spTgt spid="21">
                                            <p:txEl>
                                              <p:pRg st="12" end="12"/>
                                            </p:txEl>
                                          </p:spTgt>
                                        </p:tgtEl>
                                        <p:attrNameLst>
                                          <p:attrName>style.visibility</p:attrName>
                                        </p:attrNameLst>
                                      </p:cBhvr>
                                      <p:to>
                                        <p:strVal val="visible"/>
                                      </p:to>
                                    </p:set>
                                    <p:animEffect transition="in" filter="fade">
                                      <p:cBhvr>
                                        <p:cTn id="72" dur="500"/>
                                        <p:tgtEl>
                                          <p:spTgt spid="21">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79F1E-EAE9-5382-A956-D2AD2E1FC16C}"/>
            </a:ext>
          </a:extLst>
        </p:cNvPr>
        <p:cNvGrpSpPr/>
        <p:nvPr/>
      </p:nvGrpSpPr>
      <p:grpSpPr>
        <a:xfrm>
          <a:off x="0" y="0"/>
          <a:ext cx="0" cy="0"/>
          <a:chOff x="0" y="0"/>
          <a:chExt cx="0" cy="0"/>
        </a:xfrm>
      </p:grpSpPr>
      <p:pic>
        <p:nvPicPr>
          <p:cNvPr id="8" name="Picture 7" descr="A graph of a graph&#10;&#10;AI-generated content may be incorrect.">
            <a:extLst>
              <a:ext uri="{FF2B5EF4-FFF2-40B4-BE49-F238E27FC236}">
                <a16:creationId xmlns:a16="http://schemas.microsoft.com/office/drawing/2014/main" id="{860E4AE7-54EB-5566-4D25-DFB07408BCE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44631" y="1118293"/>
            <a:ext cx="11902737" cy="4052224"/>
          </a:xfrm>
          <a:prstGeom prst="rect">
            <a:avLst/>
          </a:prstGeom>
          <a:noFill/>
          <a:ln>
            <a:noFill/>
          </a:ln>
        </p:spPr>
      </p:pic>
      <p:sp>
        <p:nvSpPr>
          <p:cNvPr id="2" name="Title 1">
            <a:extLst>
              <a:ext uri="{FF2B5EF4-FFF2-40B4-BE49-F238E27FC236}">
                <a16:creationId xmlns:a16="http://schemas.microsoft.com/office/drawing/2014/main" id="{96FD5C87-EB4D-B625-185F-5C25F4A691D2}"/>
              </a:ext>
            </a:extLst>
          </p:cNvPr>
          <p:cNvSpPr>
            <a:spLocks noGrp="1"/>
          </p:cNvSpPr>
          <p:nvPr>
            <p:ph type="title"/>
          </p:nvPr>
        </p:nvSpPr>
        <p:spPr>
          <a:xfrm>
            <a:off x="388960" y="531812"/>
            <a:ext cx="8596668" cy="960103"/>
          </a:xfrm>
        </p:spPr>
        <p:txBody>
          <a:bodyPr>
            <a:normAutofit/>
          </a:bodyPr>
          <a:lstStyle/>
          <a:p>
            <a:pPr algn="ctr"/>
            <a:r>
              <a:rPr lang="en-US" b="1" dirty="0">
                <a:latin typeface="Arial" panose="020B0604020202020204" pitchFamily="34" charset="0"/>
                <a:cs typeface="Arial" panose="020B0604020202020204" pitchFamily="34" charset="0"/>
              </a:rPr>
              <a:t>Reproduced Results - Queue Length</a:t>
            </a:r>
          </a:p>
        </p:txBody>
      </p:sp>
      <p:sp>
        <p:nvSpPr>
          <p:cNvPr id="3" name="Slide Number Placeholder 2">
            <a:extLst>
              <a:ext uri="{FF2B5EF4-FFF2-40B4-BE49-F238E27FC236}">
                <a16:creationId xmlns:a16="http://schemas.microsoft.com/office/drawing/2014/main" id="{4038C4B9-CD86-3891-87E2-D75F1FA62356}"/>
              </a:ext>
            </a:extLst>
          </p:cNvPr>
          <p:cNvSpPr>
            <a:spLocks noGrp="1"/>
          </p:cNvSpPr>
          <p:nvPr>
            <p:ph type="sldNum" sz="quarter" idx="12"/>
          </p:nvPr>
        </p:nvSpPr>
        <p:spPr>
          <a:xfrm>
            <a:off x="10950936" y="6005483"/>
            <a:ext cx="1096432" cy="716887"/>
          </a:xfrm>
        </p:spPr>
        <p:txBody>
          <a:bodyPr/>
          <a:lstStyle/>
          <a:p>
            <a:r>
              <a:rPr lang="en-US" dirty="0">
                <a:solidFill>
                  <a:schemeClr val="bg1"/>
                </a:solidFill>
              </a:rPr>
              <a:t>20</a:t>
            </a:r>
          </a:p>
        </p:txBody>
      </p:sp>
      <p:sp>
        <p:nvSpPr>
          <p:cNvPr id="9" name="Content Placeholder 3">
            <a:extLst>
              <a:ext uri="{FF2B5EF4-FFF2-40B4-BE49-F238E27FC236}">
                <a16:creationId xmlns:a16="http://schemas.microsoft.com/office/drawing/2014/main" id="{8A014AF5-E607-964B-2BE1-FF94EF7974BB}"/>
              </a:ext>
            </a:extLst>
          </p:cNvPr>
          <p:cNvSpPr txBox="1">
            <a:spLocks/>
          </p:cNvSpPr>
          <p:nvPr/>
        </p:nvSpPr>
        <p:spPr>
          <a:xfrm>
            <a:off x="388960" y="4848950"/>
            <a:ext cx="8367004" cy="171810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r>
              <a:rPr lang="en-US" sz="2200" b="1" dirty="0">
                <a:latin typeface="Arial" panose="020B0604020202020204" pitchFamily="34" charset="0"/>
                <a:ea typeface="Calibri" panose="020F0502020204030204" pitchFamily="34" charset="0"/>
                <a:cs typeface="Arial" panose="020B0604020202020204" pitchFamily="34" charset="0"/>
              </a:rPr>
              <a:t>Results:</a:t>
            </a:r>
          </a:p>
          <a:p>
            <a:pPr lvl="1">
              <a:lnSpc>
                <a:spcPct val="107000"/>
              </a:lnSpc>
              <a:spcBef>
                <a:spcPts val="0"/>
              </a:spcBef>
              <a:buFont typeface="Courier New" panose="02070309020205020404" pitchFamily="49" charset="0"/>
              <a:buChar char="o"/>
            </a:pPr>
            <a:r>
              <a:rPr lang="en-US" sz="2000" dirty="0">
                <a:latin typeface="Arial" panose="020B0604020202020204" pitchFamily="34" charset="0"/>
                <a:ea typeface="Calibri" panose="020F0502020204030204" pitchFamily="34" charset="0"/>
                <a:cs typeface="Arial" panose="020B0604020202020204" pitchFamily="34" charset="0"/>
              </a:rPr>
              <a:t>Queue rises and stabilizes at the </a:t>
            </a:r>
            <a:r>
              <a:rPr lang="en-US" sz="2000" b="1" dirty="0">
                <a:latin typeface="Arial" panose="020B0604020202020204" pitchFamily="34" charset="0"/>
                <a:ea typeface="Calibri" panose="020F0502020204030204" pitchFamily="34" charset="0"/>
                <a:cs typeface="Arial" panose="020B0604020202020204" pitchFamily="34" charset="0"/>
              </a:rPr>
              <a:t>Target (500 packets).</a:t>
            </a:r>
          </a:p>
          <a:p>
            <a:pPr lvl="1">
              <a:lnSpc>
                <a:spcPct val="107000"/>
              </a:lnSpc>
              <a:spcBef>
                <a:spcPts val="0"/>
              </a:spcBef>
              <a:buFont typeface="Courier New" panose="02070309020205020404" pitchFamily="49" charset="0"/>
              <a:buChar char="o"/>
            </a:pPr>
            <a:r>
              <a:rPr lang="en-US" sz="2000" b="1" dirty="0">
                <a:latin typeface="Arial" panose="020B0604020202020204" pitchFamily="34" charset="0"/>
                <a:ea typeface="Calibri" panose="020F0502020204030204" pitchFamily="34" charset="0"/>
                <a:cs typeface="Arial" panose="020B0604020202020204" pitchFamily="34" charset="0"/>
              </a:rPr>
              <a:t>Rise Time: </a:t>
            </a:r>
            <a:r>
              <a:rPr lang="en-US" sz="2000" dirty="0">
                <a:latin typeface="Arial" panose="020B0604020202020204" pitchFamily="34" charset="0"/>
                <a:ea typeface="Calibri" panose="020F0502020204030204" pitchFamily="34" charset="0"/>
                <a:cs typeface="Arial" panose="020B0604020202020204" pitchFamily="34" charset="0"/>
              </a:rPr>
              <a:t>~1.67 seconds</a:t>
            </a:r>
          </a:p>
          <a:p>
            <a:pPr lvl="1">
              <a:lnSpc>
                <a:spcPct val="107000"/>
              </a:lnSpc>
              <a:spcBef>
                <a:spcPts val="0"/>
              </a:spcBef>
              <a:buFont typeface="Courier New" panose="02070309020205020404" pitchFamily="49" charset="0"/>
              <a:buChar char="o"/>
            </a:pPr>
            <a:r>
              <a:rPr lang="en-US" sz="2000" b="1" dirty="0">
                <a:latin typeface="Arial" panose="020B0604020202020204" pitchFamily="34" charset="0"/>
                <a:ea typeface="Calibri" panose="020F0502020204030204" pitchFamily="34" charset="0"/>
                <a:cs typeface="Arial" panose="020B0604020202020204" pitchFamily="34" charset="0"/>
              </a:rPr>
              <a:t>Performance:</a:t>
            </a:r>
            <a:r>
              <a:rPr lang="en-US" sz="2000" dirty="0">
                <a:latin typeface="Arial" panose="020B0604020202020204" pitchFamily="34" charset="0"/>
                <a:ea typeface="Calibri" panose="020F0502020204030204" pitchFamily="34" charset="0"/>
                <a:cs typeface="Arial" panose="020B0604020202020204" pitchFamily="34" charset="0"/>
              </a:rPr>
              <a:t> No overshoot; critically damped response.</a:t>
            </a:r>
          </a:p>
          <a:p>
            <a:pPr lvl="1">
              <a:lnSpc>
                <a:spcPct val="107000"/>
              </a:lnSpc>
              <a:spcBef>
                <a:spcPts val="0"/>
              </a:spcBef>
              <a:buFont typeface="Courier New" panose="02070309020205020404" pitchFamily="49" charset="0"/>
              <a:buChar char="o"/>
            </a:pPr>
            <a:endParaRPr lang="en-US" sz="2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4494957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1000"/>
                                        <p:tgtEl>
                                          <p:spTgt spid="9">
                                            <p:txEl>
                                              <p:pRg st="1" end="1"/>
                                            </p:txEl>
                                          </p:spTgt>
                                        </p:tgtEl>
                                      </p:cBhvr>
                                    </p:animEffect>
                                    <p:anim calcmode="lin" valueType="num">
                                      <p:cBhvr>
                                        <p:cTn id="13"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1000"/>
                                        <p:tgtEl>
                                          <p:spTgt spid="9">
                                            <p:txEl>
                                              <p:pRg st="2" end="2"/>
                                            </p:txEl>
                                          </p:spTgt>
                                        </p:tgtEl>
                                      </p:cBhvr>
                                    </p:animEffect>
                                    <p:anim calcmode="lin" valueType="num">
                                      <p:cBhvr>
                                        <p:cTn id="1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9">
                                            <p:txEl>
                                              <p:pRg st="3" end="3"/>
                                            </p:txEl>
                                          </p:spTgt>
                                        </p:tgtEl>
                                        <p:attrNameLst>
                                          <p:attrName>style.visibility</p:attrName>
                                        </p:attrNameLst>
                                      </p:cBhvr>
                                      <p:to>
                                        <p:strVal val="visible"/>
                                      </p:to>
                                    </p:set>
                                    <p:animEffect transition="in" filter="fade">
                                      <p:cBhvr>
                                        <p:cTn id="22" dur="1000"/>
                                        <p:tgtEl>
                                          <p:spTgt spid="9">
                                            <p:txEl>
                                              <p:pRg st="3" end="3"/>
                                            </p:txEl>
                                          </p:spTgt>
                                        </p:tgtEl>
                                      </p:cBhvr>
                                    </p:animEffect>
                                    <p:anim calcmode="lin" valueType="num">
                                      <p:cBhvr>
                                        <p:cTn id="23"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47B6BB-57E7-2489-91D6-AF6A6F409DB6}"/>
            </a:ext>
          </a:extLst>
        </p:cNvPr>
        <p:cNvGrpSpPr/>
        <p:nvPr/>
      </p:nvGrpSpPr>
      <p:grpSpPr>
        <a:xfrm>
          <a:off x="0" y="0"/>
          <a:ext cx="0" cy="0"/>
          <a:chOff x="0" y="0"/>
          <a:chExt cx="0" cy="0"/>
        </a:xfrm>
      </p:grpSpPr>
      <p:pic>
        <p:nvPicPr>
          <p:cNvPr id="13" name="Picture 12" descr="A graph showing a line&#10;&#10;AI-generated content may be incorrect.">
            <a:extLst>
              <a:ext uri="{FF2B5EF4-FFF2-40B4-BE49-F238E27FC236}">
                <a16:creationId xmlns:a16="http://schemas.microsoft.com/office/drawing/2014/main" id="{8C900247-41B4-E4DD-009D-1346F6C65D7A}"/>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5944" y="4071272"/>
            <a:ext cx="11764247" cy="2786728"/>
          </a:xfrm>
          <a:prstGeom prst="rect">
            <a:avLst/>
          </a:prstGeom>
          <a:noFill/>
          <a:ln>
            <a:noFill/>
          </a:ln>
        </p:spPr>
      </p:pic>
      <p:pic>
        <p:nvPicPr>
          <p:cNvPr id="12" name="Picture 11" descr="A graph with numbers and a line&#10;&#10;AI-generated content may be incorrect.">
            <a:extLst>
              <a:ext uri="{FF2B5EF4-FFF2-40B4-BE49-F238E27FC236}">
                <a16:creationId xmlns:a16="http://schemas.microsoft.com/office/drawing/2014/main" id="{31187325-AC04-3B76-F059-F593C082DEF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112" y="991865"/>
            <a:ext cx="12116360" cy="3079407"/>
          </a:xfrm>
          <a:prstGeom prst="rect">
            <a:avLst/>
          </a:prstGeom>
          <a:noFill/>
          <a:ln>
            <a:noFill/>
          </a:ln>
        </p:spPr>
      </p:pic>
      <p:sp>
        <p:nvSpPr>
          <p:cNvPr id="2" name="Title 1">
            <a:extLst>
              <a:ext uri="{FF2B5EF4-FFF2-40B4-BE49-F238E27FC236}">
                <a16:creationId xmlns:a16="http://schemas.microsoft.com/office/drawing/2014/main" id="{5FED489A-55A1-F66D-32FC-C403339EF0C1}"/>
              </a:ext>
            </a:extLst>
          </p:cNvPr>
          <p:cNvSpPr>
            <a:spLocks noGrp="1"/>
          </p:cNvSpPr>
          <p:nvPr>
            <p:ph type="title"/>
          </p:nvPr>
        </p:nvSpPr>
        <p:spPr>
          <a:xfrm>
            <a:off x="388960" y="531812"/>
            <a:ext cx="8596668" cy="960103"/>
          </a:xfrm>
        </p:spPr>
        <p:txBody>
          <a:bodyPr>
            <a:normAutofit/>
          </a:bodyPr>
          <a:lstStyle/>
          <a:p>
            <a:pPr algn="ctr"/>
            <a:r>
              <a:rPr lang="en-US" b="1" dirty="0">
                <a:latin typeface="Arial" panose="020B0604020202020204" pitchFamily="34" charset="0"/>
                <a:cs typeface="Arial" panose="020B0604020202020204" pitchFamily="34" charset="0"/>
              </a:rPr>
              <a:t>Reproduced Results - Window &amp; Input</a:t>
            </a:r>
          </a:p>
        </p:txBody>
      </p:sp>
      <mc:AlternateContent xmlns:mc="http://schemas.openxmlformats.org/markup-compatibility/2006" xmlns:a14="http://schemas.microsoft.com/office/drawing/2010/main">
        <mc:Choice Requires="a14">
          <p:sp>
            <p:nvSpPr>
              <p:cNvPr id="9" name="Content Placeholder 3">
                <a:extLst>
                  <a:ext uri="{FF2B5EF4-FFF2-40B4-BE49-F238E27FC236}">
                    <a16:creationId xmlns:a16="http://schemas.microsoft.com/office/drawing/2014/main" id="{58ED1AE8-4C33-C5A6-BC51-ADDAB0A2F680}"/>
                  </a:ext>
                </a:extLst>
              </p:cNvPr>
              <p:cNvSpPr txBox="1">
                <a:spLocks/>
              </p:cNvSpPr>
              <p:nvPr/>
            </p:nvSpPr>
            <p:spPr>
              <a:xfrm>
                <a:off x="2956406" y="2353167"/>
                <a:ext cx="7225498" cy="1718105"/>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r>
                  <a:rPr lang="en-US" sz="2000" b="1" dirty="0">
                    <a:latin typeface="Arial" panose="020B0604020202020204" pitchFamily="34" charset="0"/>
                    <a:cs typeface="Arial" panose="020B0604020202020204" pitchFamily="34" charset="0"/>
                  </a:rPr>
                  <a:t>Window Size (W):</a:t>
                </a:r>
                <a:endParaRPr lang="en-US" sz="2000" b="1" dirty="0">
                  <a:latin typeface="Arial" panose="020B0604020202020204" pitchFamily="34" charset="0"/>
                  <a:ea typeface="Calibri" panose="020F0502020204030204" pitchFamily="34" charset="0"/>
                  <a:cs typeface="Arial" panose="020B0604020202020204" pitchFamily="34" charset="0"/>
                </a:endParaRPr>
              </a:p>
              <a:p>
                <a:pPr lvl="1">
                  <a:lnSpc>
                    <a:spcPct val="107000"/>
                  </a:lnSpc>
                  <a:spcBef>
                    <a:spcPts val="0"/>
                  </a:spcBef>
                  <a:buFont typeface="Courier New" panose="02070309020205020404" pitchFamily="49" charset="0"/>
                  <a:buChar char="o"/>
                </a:pPr>
                <a:r>
                  <a:rPr lang="en-US" sz="2000" dirty="0">
                    <a:latin typeface="Arial" panose="020B0604020202020204" pitchFamily="34" charset="0"/>
                    <a:ea typeface="Calibri" panose="020F0502020204030204" pitchFamily="34" charset="0"/>
                    <a:cs typeface="Arial" panose="020B0604020202020204" pitchFamily="34" charset="0"/>
                  </a:rPr>
                  <a:t>Grows from 0 to equilibrium </a:t>
                </a:r>
                <a14:m>
                  <m:oMath xmlns:m="http://schemas.openxmlformats.org/officeDocument/2006/math">
                    <m:sSub>
                      <m:sSubPr>
                        <m:ctrlPr>
                          <a:rPr lang="en-US" sz="2000" i="1" smtClean="0">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𝑊</m:t>
                        </m:r>
                      </m:e>
                      <m:sub>
                        <m:r>
                          <a:rPr lang="en-US" sz="2000" b="0" i="1" smtClean="0">
                            <a:latin typeface="Cambria Math" panose="02040503050406030204" pitchFamily="18" charset="0"/>
                            <a:cs typeface="Arial" panose="020B0604020202020204" pitchFamily="34" charset="0"/>
                          </a:rPr>
                          <m:t>0</m:t>
                        </m:r>
                      </m:sub>
                    </m:sSub>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4.6</m:t>
                    </m:r>
                  </m:oMath>
                </a14:m>
                <a:r>
                  <a:rPr lang="en-US" sz="2000" dirty="0">
                    <a:latin typeface="Arial" panose="020B0604020202020204" pitchFamily="34" charset="0"/>
                    <a:ea typeface="Calibri" panose="020F0502020204030204" pitchFamily="34" charset="0"/>
                    <a:cs typeface="Arial" panose="020B0604020202020204" pitchFamily="34" charset="0"/>
                  </a:rPr>
                  <a:t> packets</a:t>
                </a:r>
              </a:p>
              <a:p>
                <a:pPr lvl="1">
                  <a:lnSpc>
                    <a:spcPct val="107000"/>
                  </a:lnSpc>
                  <a:spcBef>
                    <a:spcPts val="0"/>
                  </a:spcBef>
                  <a:buFont typeface="Courier New" panose="02070309020205020404" pitchFamily="49" charset="0"/>
                  <a:buChar char="o"/>
                </a:pPr>
                <a:r>
                  <a:rPr lang="en-US" sz="2000" dirty="0">
                    <a:latin typeface="Arial" panose="020B0604020202020204" pitchFamily="34" charset="0"/>
                    <a:ea typeface="Calibri" panose="020F0502020204030204" pitchFamily="34" charset="0"/>
                    <a:cs typeface="Arial" panose="020B0604020202020204" pitchFamily="34" charset="0"/>
                  </a:rPr>
                  <a:t>Smooth convergence confirms correct AIMD modeling.</a:t>
                </a:r>
              </a:p>
            </p:txBody>
          </p:sp>
        </mc:Choice>
        <mc:Fallback xmlns="">
          <p:sp>
            <p:nvSpPr>
              <p:cNvPr id="9" name="Content Placeholder 3">
                <a:extLst>
                  <a:ext uri="{FF2B5EF4-FFF2-40B4-BE49-F238E27FC236}">
                    <a16:creationId xmlns:a16="http://schemas.microsoft.com/office/drawing/2014/main" id="{58ED1AE8-4C33-C5A6-BC51-ADDAB0A2F680}"/>
                  </a:ext>
                </a:extLst>
              </p:cNvPr>
              <p:cNvSpPr txBox="1">
                <a:spLocks noRot="1" noChangeAspect="1" noMove="1" noResize="1" noEditPoints="1" noAdjustHandles="1" noChangeArrowheads="1" noChangeShapeType="1" noTextEdit="1"/>
              </p:cNvSpPr>
              <p:nvPr/>
            </p:nvSpPr>
            <p:spPr>
              <a:xfrm>
                <a:off x="2956406" y="2353167"/>
                <a:ext cx="7225498" cy="1718105"/>
              </a:xfrm>
              <a:prstGeom prst="rect">
                <a:avLst/>
              </a:prstGeom>
              <a:blipFill>
                <a:blip r:embed="rId5"/>
                <a:stretch>
                  <a:fillRect l="-422" t="-17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3">
                <a:extLst>
                  <a:ext uri="{FF2B5EF4-FFF2-40B4-BE49-F238E27FC236}">
                    <a16:creationId xmlns:a16="http://schemas.microsoft.com/office/drawing/2014/main" id="{22029862-4B97-C8AF-8950-656F3C2A1EF8}"/>
                  </a:ext>
                </a:extLst>
              </p:cNvPr>
              <p:cNvSpPr txBox="1">
                <a:spLocks/>
              </p:cNvSpPr>
              <p:nvPr/>
            </p:nvSpPr>
            <p:spPr>
              <a:xfrm>
                <a:off x="2956406" y="4571322"/>
                <a:ext cx="6279188" cy="111829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r>
                  <a:rPr lang="en-US" sz="2000" b="1" dirty="0">
                    <a:latin typeface="Arial" panose="020B0604020202020204" pitchFamily="34" charset="0"/>
                    <a:cs typeface="Arial" panose="020B0604020202020204" pitchFamily="34" charset="0"/>
                  </a:rPr>
                  <a:t>Control Input (p):</a:t>
                </a:r>
                <a:endParaRPr lang="en-US" sz="2000" b="1" dirty="0">
                  <a:latin typeface="Arial" panose="020B0604020202020204" pitchFamily="34" charset="0"/>
                  <a:ea typeface="Calibri" panose="020F0502020204030204" pitchFamily="34" charset="0"/>
                  <a:cs typeface="Arial" panose="020B0604020202020204" pitchFamily="34" charset="0"/>
                </a:endParaRPr>
              </a:p>
              <a:p>
                <a:pPr lvl="1">
                  <a:lnSpc>
                    <a:spcPct val="107000"/>
                  </a:lnSpc>
                  <a:spcBef>
                    <a:spcPts val="0"/>
                  </a:spcBef>
                  <a:buFont typeface="Courier New" panose="02070309020205020404" pitchFamily="49" charset="0"/>
                  <a:buChar char="o"/>
                </a:pPr>
                <a:r>
                  <a:rPr lang="en-US" sz="2000" dirty="0">
                    <a:latin typeface="Arial" panose="020B0604020202020204" pitchFamily="34" charset="0"/>
                    <a:ea typeface="Calibri" panose="020F0502020204030204" pitchFamily="34" charset="0"/>
                    <a:cs typeface="Arial" panose="020B0604020202020204" pitchFamily="34" charset="0"/>
                  </a:rPr>
                  <a:t>Initial dip to allow queue accumulation.</a:t>
                </a:r>
              </a:p>
              <a:p>
                <a:pPr lvl="1">
                  <a:lnSpc>
                    <a:spcPct val="107000"/>
                  </a:lnSpc>
                  <a:spcBef>
                    <a:spcPts val="0"/>
                  </a:spcBef>
                  <a:buFont typeface="Courier New" panose="02070309020205020404" pitchFamily="49" charset="0"/>
                  <a:buChar char="o"/>
                </a:pPr>
                <a:r>
                  <a:rPr lang="en-US" sz="2000" dirty="0">
                    <a:latin typeface="Arial" panose="020B0604020202020204" pitchFamily="34" charset="0"/>
                    <a:cs typeface="Arial" panose="020B0604020202020204" pitchFamily="34" charset="0"/>
                  </a:rPr>
                  <a:t>Settles at equilibrium probability </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𝑝</m:t>
                        </m:r>
                      </m:e>
                      <m:sub>
                        <m:r>
                          <a:rPr lang="en-US" sz="2000" i="1">
                            <a:latin typeface="Cambria Math" panose="02040503050406030204" pitchFamily="18" charset="0"/>
                            <a:cs typeface="Arial" panose="020B0604020202020204" pitchFamily="34" charset="0"/>
                          </a:rPr>
                          <m:t>0</m:t>
                        </m:r>
                      </m:sub>
                    </m:sSub>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0.0952</m:t>
                    </m:r>
                  </m:oMath>
                </a14:m>
                <a:r>
                  <a:rPr lang="en-US" sz="2000" dirty="0">
                    <a:latin typeface="Arial" panose="020B0604020202020204" pitchFamily="34" charset="0"/>
                    <a:cs typeface="Arial" panose="020B0604020202020204" pitchFamily="34" charset="0"/>
                  </a:rPr>
                  <a:t>. </a:t>
                </a:r>
                <a:endParaRPr lang="en-US" sz="2000" dirty="0">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11" name="Content Placeholder 3">
                <a:extLst>
                  <a:ext uri="{FF2B5EF4-FFF2-40B4-BE49-F238E27FC236}">
                    <a16:creationId xmlns:a16="http://schemas.microsoft.com/office/drawing/2014/main" id="{22029862-4B97-C8AF-8950-656F3C2A1EF8}"/>
                  </a:ext>
                </a:extLst>
              </p:cNvPr>
              <p:cNvSpPr txBox="1">
                <a:spLocks noRot="1" noChangeAspect="1" noMove="1" noResize="1" noEditPoints="1" noAdjustHandles="1" noChangeArrowheads="1" noChangeShapeType="1" noTextEdit="1"/>
              </p:cNvSpPr>
              <p:nvPr/>
            </p:nvSpPr>
            <p:spPr>
              <a:xfrm>
                <a:off x="2956406" y="4571322"/>
                <a:ext cx="6279188" cy="1118293"/>
              </a:xfrm>
              <a:prstGeom prst="rect">
                <a:avLst/>
              </a:prstGeom>
              <a:blipFill>
                <a:blip r:embed="rId6"/>
                <a:stretch>
                  <a:fillRect l="-485" t="-3279" b="-3825"/>
                </a:stretch>
              </a:blipFill>
            </p:spPr>
            <p:txBody>
              <a:bodyPr/>
              <a:lstStyle/>
              <a:p>
                <a:r>
                  <a:rPr lang="en-US">
                    <a:noFill/>
                  </a:rPr>
                  <a:t> </a:t>
                </a:r>
              </a:p>
            </p:txBody>
          </p:sp>
        </mc:Fallback>
      </mc:AlternateContent>
      <p:sp>
        <p:nvSpPr>
          <p:cNvPr id="4" name="Slide Number Placeholder 2">
            <a:extLst>
              <a:ext uri="{FF2B5EF4-FFF2-40B4-BE49-F238E27FC236}">
                <a16:creationId xmlns:a16="http://schemas.microsoft.com/office/drawing/2014/main" id="{712EF823-BBB5-52D6-4F2D-896F196B9CDE}"/>
              </a:ext>
            </a:extLst>
          </p:cNvPr>
          <p:cNvSpPr>
            <a:spLocks noGrp="1"/>
          </p:cNvSpPr>
          <p:nvPr>
            <p:ph type="sldNum" sz="quarter" idx="12"/>
          </p:nvPr>
        </p:nvSpPr>
        <p:spPr>
          <a:xfrm>
            <a:off x="10950936" y="6005483"/>
            <a:ext cx="1096432" cy="716887"/>
          </a:xfrm>
        </p:spPr>
        <p:txBody>
          <a:bodyPr/>
          <a:lstStyle/>
          <a:p>
            <a:r>
              <a:rPr lang="en-US" dirty="0"/>
              <a:t>21</a:t>
            </a:r>
          </a:p>
        </p:txBody>
      </p:sp>
    </p:spTree>
    <p:extLst>
      <p:ext uri="{BB962C8B-B14F-4D97-AF65-F5344CB8AC3E}">
        <p14:creationId xmlns:p14="http://schemas.microsoft.com/office/powerpoint/2010/main" val="3902241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1000"/>
                                        <p:tgtEl>
                                          <p:spTgt spid="9">
                                            <p:txEl>
                                              <p:pRg st="1" end="1"/>
                                            </p:txEl>
                                          </p:spTgt>
                                        </p:tgtEl>
                                      </p:cBhvr>
                                    </p:animEffect>
                                    <p:anim calcmode="lin" valueType="num">
                                      <p:cBhvr>
                                        <p:cTn id="13"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1000"/>
                                        <p:tgtEl>
                                          <p:spTgt spid="9">
                                            <p:txEl>
                                              <p:pRg st="2" end="2"/>
                                            </p:txEl>
                                          </p:spTgt>
                                        </p:tgtEl>
                                      </p:cBhvr>
                                    </p:animEffect>
                                    <p:anim calcmode="lin" valueType="num">
                                      <p:cBhvr>
                                        <p:cTn id="1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1">
                                            <p:txEl>
                                              <p:pRg st="0" end="0"/>
                                            </p:txEl>
                                          </p:spTgt>
                                        </p:tgtEl>
                                        <p:attrNameLst>
                                          <p:attrName>style.visibility</p:attrName>
                                        </p:attrNameLst>
                                      </p:cBhvr>
                                      <p:to>
                                        <p:strVal val="visible"/>
                                      </p:to>
                                    </p:set>
                                    <p:animEffect transition="in" filter="fade">
                                      <p:cBhvr>
                                        <p:cTn id="24" dur="1000"/>
                                        <p:tgtEl>
                                          <p:spTgt spid="11">
                                            <p:txEl>
                                              <p:pRg st="0" end="0"/>
                                            </p:txEl>
                                          </p:spTgt>
                                        </p:tgtEl>
                                      </p:cBhvr>
                                    </p:animEffect>
                                    <p:anim calcmode="lin" valueType="num">
                                      <p:cBhvr>
                                        <p:cTn id="25"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
                                            <p:txEl>
                                              <p:pRg st="1" end="1"/>
                                            </p:txEl>
                                          </p:spTgt>
                                        </p:tgtEl>
                                        <p:attrNameLst>
                                          <p:attrName>style.visibility</p:attrName>
                                        </p:attrNameLst>
                                      </p:cBhvr>
                                      <p:to>
                                        <p:strVal val="visible"/>
                                      </p:to>
                                    </p:set>
                                    <p:animEffect transition="in" filter="fade">
                                      <p:cBhvr>
                                        <p:cTn id="29" dur="1000"/>
                                        <p:tgtEl>
                                          <p:spTgt spid="11">
                                            <p:txEl>
                                              <p:pRg st="1" end="1"/>
                                            </p:txEl>
                                          </p:spTgt>
                                        </p:tgtEl>
                                      </p:cBhvr>
                                    </p:animEffect>
                                    <p:anim calcmode="lin" valueType="num">
                                      <p:cBhvr>
                                        <p:cTn id="30"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31" dur="1000" fill="hold"/>
                                        <p:tgtEl>
                                          <p:spTgt spid="11">
                                            <p:txEl>
                                              <p:pRg st="1" end="1"/>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1">
                                            <p:txEl>
                                              <p:pRg st="2" end="2"/>
                                            </p:txEl>
                                          </p:spTgt>
                                        </p:tgtEl>
                                        <p:attrNameLst>
                                          <p:attrName>style.visibility</p:attrName>
                                        </p:attrNameLst>
                                      </p:cBhvr>
                                      <p:to>
                                        <p:strVal val="visible"/>
                                      </p:to>
                                    </p:set>
                                    <p:animEffect transition="in" filter="fade">
                                      <p:cBhvr>
                                        <p:cTn id="34" dur="1000"/>
                                        <p:tgtEl>
                                          <p:spTgt spid="11">
                                            <p:txEl>
                                              <p:pRg st="2" end="2"/>
                                            </p:txEl>
                                          </p:spTgt>
                                        </p:tgtEl>
                                      </p:cBhvr>
                                    </p:animEffect>
                                    <p:anim calcmode="lin" valueType="num">
                                      <p:cBhvr>
                                        <p:cTn id="35"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1"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6C52F-D678-C620-FFBE-6DA5148F1326}"/>
            </a:ext>
          </a:extLst>
        </p:cNvPr>
        <p:cNvGrpSpPr/>
        <p:nvPr/>
      </p:nvGrpSpPr>
      <p:grpSpPr>
        <a:xfrm>
          <a:off x="0" y="0"/>
          <a:ext cx="0" cy="0"/>
          <a:chOff x="0" y="0"/>
          <a:chExt cx="0" cy="0"/>
        </a:xfrm>
      </p:grpSpPr>
      <p:pic>
        <p:nvPicPr>
          <p:cNvPr id="4" name="Picture 3" descr="A blue line graph with white background&#10;&#10;AI-generated content may be incorrect.">
            <a:extLst>
              <a:ext uri="{FF2B5EF4-FFF2-40B4-BE49-F238E27FC236}">
                <a16:creationId xmlns:a16="http://schemas.microsoft.com/office/drawing/2014/main" id="{F9D35FBD-7BC0-5C8A-29D5-0A7F74AF08F7}"/>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30297" y="1101392"/>
            <a:ext cx="10931405" cy="5756608"/>
          </a:xfrm>
          <a:prstGeom prst="rect">
            <a:avLst/>
          </a:prstGeom>
          <a:noFill/>
          <a:ln>
            <a:noFill/>
          </a:ln>
        </p:spPr>
      </p:pic>
      <p:sp>
        <p:nvSpPr>
          <p:cNvPr id="2" name="Title 1">
            <a:extLst>
              <a:ext uri="{FF2B5EF4-FFF2-40B4-BE49-F238E27FC236}">
                <a16:creationId xmlns:a16="http://schemas.microsoft.com/office/drawing/2014/main" id="{A1D06D12-0C88-19B0-1EB8-D41736AD160A}"/>
              </a:ext>
            </a:extLst>
          </p:cNvPr>
          <p:cNvSpPr>
            <a:spLocks noGrp="1"/>
          </p:cNvSpPr>
          <p:nvPr>
            <p:ph type="title"/>
          </p:nvPr>
        </p:nvSpPr>
        <p:spPr>
          <a:xfrm>
            <a:off x="388960" y="531812"/>
            <a:ext cx="9719316" cy="960103"/>
          </a:xfrm>
        </p:spPr>
        <p:txBody>
          <a:bodyPr>
            <a:normAutofit/>
          </a:bodyPr>
          <a:lstStyle/>
          <a:p>
            <a:pPr algn="ctr"/>
            <a:r>
              <a:rPr lang="en-US" b="1" dirty="0">
                <a:latin typeface="Arial" panose="020B0604020202020204" pitchFamily="34" charset="0"/>
                <a:cs typeface="Arial" panose="020B0604020202020204" pitchFamily="34" charset="0"/>
              </a:rPr>
              <a:t>Reproduced Results - RTT &amp; Robustness</a:t>
            </a:r>
          </a:p>
        </p:txBody>
      </p:sp>
      <p:sp>
        <p:nvSpPr>
          <p:cNvPr id="3" name="Slide Number Placeholder 2">
            <a:extLst>
              <a:ext uri="{FF2B5EF4-FFF2-40B4-BE49-F238E27FC236}">
                <a16:creationId xmlns:a16="http://schemas.microsoft.com/office/drawing/2014/main" id="{4E685839-F4D5-D116-E97A-25AD960E83DD}"/>
              </a:ext>
            </a:extLst>
          </p:cNvPr>
          <p:cNvSpPr>
            <a:spLocks noGrp="1"/>
          </p:cNvSpPr>
          <p:nvPr>
            <p:ph type="sldNum" sz="quarter" idx="12"/>
          </p:nvPr>
        </p:nvSpPr>
        <p:spPr>
          <a:xfrm>
            <a:off x="10108276" y="5609301"/>
            <a:ext cx="1096432" cy="716887"/>
          </a:xfrm>
        </p:spPr>
        <p:txBody>
          <a:bodyPr/>
          <a:lstStyle/>
          <a:p>
            <a:r>
              <a:rPr lang="en-US" dirty="0"/>
              <a:t>22</a:t>
            </a:r>
          </a:p>
        </p:txBody>
      </p:sp>
      <p:sp>
        <p:nvSpPr>
          <p:cNvPr id="9" name="Content Placeholder 3">
            <a:extLst>
              <a:ext uri="{FF2B5EF4-FFF2-40B4-BE49-F238E27FC236}">
                <a16:creationId xmlns:a16="http://schemas.microsoft.com/office/drawing/2014/main" id="{C70B656B-5967-C98A-F049-4E92328D2D39}"/>
              </a:ext>
            </a:extLst>
          </p:cNvPr>
          <p:cNvSpPr txBox="1">
            <a:spLocks/>
          </p:cNvSpPr>
          <p:nvPr/>
        </p:nvSpPr>
        <p:spPr>
          <a:xfrm>
            <a:off x="3371928" y="5367377"/>
            <a:ext cx="7225498" cy="121184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r>
              <a:rPr lang="en-US" sz="2000" b="1" dirty="0">
                <a:latin typeface="Arial" panose="020B0604020202020204" pitchFamily="34" charset="0"/>
                <a:cs typeface="Arial" panose="020B0604020202020204" pitchFamily="34" charset="0"/>
              </a:rPr>
              <a:t>Outcome:</a:t>
            </a:r>
            <a:endParaRPr lang="en-US" sz="2000" b="1" dirty="0">
              <a:latin typeface="Arial" panose="020B0604020202020204" pitchFamily="34" charset="0"/>
              <a:ea typeface="Calibri" panose="020F0502020204030204" pitchFamily="34" charset="0"/>
              <a:cs typeface="Arial" panose="020B0604020202020204" pitchFamily="34" charset="0"/>
            </a:endParaRPr>
          </a:p>
          <a:p>
            <a:pPr lvl="1">
              <a:lnSpc>
                <a:spcPct val="107000"/>
              </a:lnSpc>
              <a:spcBef>
                <a:spcPts val="0"/>
              </a:spcBef>
              <a:buFont typeface="Courier New" panose="02070309020205020404" pitchFamily="49" charset="0"/>
              <a:buChar char="o"/>
            </a:pPr>
            <a:r>
              <a:rPr lang="en-US" sz="2000" dirty="0">
                <a:latin typeface="Arial" panose="020B0604020202020204" pitchFamily="34" charset="0"/>
                <a:ea typeface="Calibri" panose="020F0502020204030204" pitchFamily="34" charset="0"/>
                <a:cs typeface="Arial" panose="020B0604020202020204" pitchFamily="34" charset="0"/>
              </a:rPr>
              <a:t>The system remains stable despite significant jitter.</a:t>
            </a:r>
          </a:p>
          <a:p>
            <a:pPr lvl="1">
              <a:lnSpc>
                <a:spcPct val="107000"/>
              </a:lnSpc>
              <a:spcBef>
                <a:spcPts val="0"/>
              </a:spcBef>
              <a:buFont typeface="Courier New" panose="02070309020205020404" pitchFamily="49" charset="0"/>
              <a:buChar char="o"/>
            </a:pPr>
            <a:r>
              <a:rPr lang="en-US" sz="2000" dirty="0">
                <a:latin typeface="Arial" panose="020B0604020202020204" pitchFamily="34" charset="0"/>
                <a:cs typeface="Arial" panose="020B0604020202020204" pitchFamily="34" charset="0"/>
              </a:rPr>
              <a:t>Validates the </a:t>
            </a:r>
            <a:r>
              <a:rPr lang="en-US" sz="2000" b="1" dirty="0">
                <a:latin typeface="Arial" panose="020B0604020202020204" pitchFamily="34" charset="0"/>
                <a:cs typeface="Arial" panose="020B0604020202020204" pitchFamily="34" charset="0"/>
              </a:rPr>
              <a:t>Delay-Independent</a:t>
            </a:r>
            <a:r>
              <a:rPr lang="en-US" sz="2000" dirty="0">
                <a:latin typeface="Arial" panose="020B0604020202020204" pitchFamily="34" charset="0"/>
                <a:cs typeface="Arial" panose="020B0604020202020204" pitchFamily="34" charset="0"/>
              </a:rPr>
              <a:t> stability property.</a:t>
            </a:r>
            <a:endParaRPr lang="en-US" sz="2000" dirty="0">
              <a:latin typeface="Arial" panose="020B0604020202020204" pitchFamily="34" charset="0"/>
              <a:ea typeface="Calibri" panose="020F0502020204030204" pitchFamily="34" charset="0"/>
              <a:cs typeface="Arial" panose="020B0604020202020204" pitchFamily="34" charset="0"/>
            </a:endParaRPr>
          </a:p>
        </p:txBody>
      </p:sp>
      <mc:AlternateContent xmlns:mc="http://schemas.openxmlformats.org/markup-compatibility/2006" xmlns:a14="http://schemas.microsoft.com/office/drawing/2010/main">
        <mc:Choice Requires="a14">
          <p:sp>
            <p:nvSpPr>
              <p:cNvPr id="11" name="Content Placeholder 3">
                <a:extLst>
                  <a:ext uri="{FF2B5EF4-FFF2-40B4-BE49-F238E27FC236}">
                    <a16:creationId xmlns:a16="http://schemas.microsoft.com/office/drawing/2014/main" id="{13F68BA0-B3D6-8AF5-6BEC-FF71C3C0C3E2}"/>
                  </a:ext>
                </a:extLst>
              </p:cNvPr>
              <p:cNvSpPr txBox="1">
                <a:spLocks/>
              </p:cNvSpPr>
              <p:nvPr/>
            </p:nvSpPr>
            <p:spPr>
              <a:xfrm>
                <a:off x="3371928" y="4249084"/>
                <a:ext cx="8189774" cy="1118293"/>
              </a:xfrm>
              <a:prstGeom prst="rect">
                <a:avLst/>
              </a:prstGeom>
            </p:spPr>
            <p:txBody>
              <a:bodyPr vert="horz" lIns="91440" tIns="45720" rIns="91440" bIns="45720" rtlCol="0">
                <a:normAutofit fontScale="92500"/>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r>
                  <a:rPr lang="en-US" sz="2000" b="1" dirty="0">
                    <a:latin typeface="Arial" panose="020B0604020202020204" pitchFamily="34" charset="0"/>
                    <a:cs typeface="Arial" panose="020B0604020202020204" pitchFamily="34" charset="0"/>
                  </a:rPr>
                  <a:t>Robustness Test:</a:t>
                </a:r>
                <a:endParaRPr lang="en-US" sz="2000" b="1" dirty="0">
                  <a:latin typeface="Arial" panose="020B0604020202020204" pitchFamily="34" charset="0"/>
                  <a:ea typeface="Calibri" panose="020F0502020204030204" pitchFamily="34" charset="0"/>
                  <a:cs typeface="Arial" panose="020B0604020202020204" pitchFamily="34" charset="0"/>
                </a:endParaRPr>
              </a:p>
              <a:p>
                <a:pPr lvl="1">
                  <a:lnSpc>
                    <a:spcPct val="107000"/>
                  </a:lnSpc>
                  <a:spcBef>
                    <a:spcPts val="0"/>
                  </a:spcBef>
                  <a:buFont typeface="Courier New" panose="02070309020205020404" pitchFamily="49" charset="0"/>
                  <a:buChar char="o"/>
                </a:pPr>
                <a:r>
                  <a:rPr lang="en-US" sz="2000" b="1" dirty="0">
                    <a:latin typeface="Arial" panose="020B0604020202020204" pitchFamily="34" charset="0"/>
                    <a:ea typeface="Calibri" panose="020F0502020204030204" pitchFamily="34" charset="0"/>
                    <a:cs typeface="Arial" panose="020B0604020202020204" pitchFamily="34" charset="0"/>
                  </a:rPr>
                  <a:t>Scenario: </a:t>
                </a:r>
                <a:r>
                  <a:rPr lang="en-US" sz="2000" dirty="0">
                    <a:latin typeface="Arial" panose="020B0604020202020204" pitchFamily="34" charset="0"/>
                    <a:ea typeface="Calibri" panose="020F0502020204030204" pitchFamily="34" charset="0"/>
                    <a:cs typeface="Arial" panose="020B0604020202020204" pitchFamily="34" charset="0"/>
                  </a:rPr>
                  <a:t>Random noise added to propagation delay(</a:t>
                </a:r>
                <a14:m>
                  <m:oMath xmlns:m="http://schemas.openxmlformats.org/officeDocument/2006/math">
                    <m:sSub>
                      <m:sSubPr>
                        <m:ctrlPr>
                          <a:rPr lang="en-US" sz="2000" i="1">
                            <a:latin typeface="Cambria Math" panose="02040503050406030204" pitchFamily="18" charset="0"/>
                            <a:cs typeface="Arial" panose="020B0604020202020204" pitchFamily="34" charset="0"/>
                          </a:rPr>
                        </m:ctrlPr>
                      </m:sSubPr>
                      <m:e>
                        <m:r>
                          <a:rPr lang="en-US" sz="2000" b="0" i="1" smtClean="0">
                            <a:latin typeface="Cambria Math" panose="02040503050406030204" pitchFamily="18" charset="0"/>
                            <a:cs typeface="Arial" panose="020B0604020202020204" pitchFamily="34" charset="0"/>
                          </a:rPr>
                          <m:t>𝑇</m:t>
                        </m:r>
                      </m:e>
                      <m:sub>
                        <m:r>
                          <a:rPr lang="en-US" sz="2000" b="0" i="1" smtClean="0">
                            <a:latin typeface="Cambria Math" panose="02040503050406030204" pitchFamily="18" charset="0"/>
                            <a:cs typeface="Arial" panose="020B0604020202020204" pitchFamily="34" charset="0"/>
                          </a:rPr>
                          <m:t>𝑝</m:t>
                        </m:r>
                      </m:sub>
                    </m:sSub>
                    <m:r>
                      <a:rPr lang="en-US" sz="2000" i="1" smtClean="0">
                        <a:latin typeface="Cambria Math" panose="02040503050406030204" pitchFamily="18" charset="0"/>
                        <a:ea typeface="Cambria Math" panose="02040503050406030204" pitchFamily="18" charset="0"/>
                        <a:cs typeface="Arial" panose="020B0604020202020204" pitchFamily="34" charset="0"/>
                      </a:rPr>
                      <m:t>±</m:t>
                    </m:r>
                    <m:r>
                      <a:rPr lang="en-US" sz="2000" b="0" i="1" smtClean="0">
                        <a:latin typeface="Cambria Math" panose="02040503050406030204" pitchFamily="18" charset="0"/>
                        <a:ea typeface="Cambria Math" panose="02040503050406030204" pitchFamily="18" charset="0"/>
                        <a:cs typeface="Arial" panose="020B0604020202020204" pitchFamily="34" charset="0"/>
                      </a:rPr>
                      <m:t>40</m:t>
                    </m:r>
                    <m:r>
                      <a:rPr lang="en-US" sz="2000" b="0" i="1" smtClean="0">
                        <a:latin typeface="Cambria Math" panose="02040503050406030204" pitchFamily="18" charset="0"/>
                        <a:ea typeface="Cambria Math" panose="02040503050406030204" pitchFamily="18" charset="0"/>
                        <a:cs typeface="Arial" panose="020B0604020202020204" pitchFamily="34" charset="0"/>
                      </a:rPr>
                      <m:t>𝑚𝑠</m:t>
                    </m:r>
                  </m:oMath>
                </a14:m>
                <a:r>
                  <a:rPr lang="en-US" sz="2000" dirty="0">
                    <a:latin typeface="Arial" panose="020B0604020202020204" pitchFamily="34" charset="0"/>
                    <a:cs typeface="Arial" panose="020B0604020202020204" pitchFamily="34" charset="0"/>
                  </a:rPr>
                  <a:t>) </a:t>
                </a:r>
                <a:r>
                  <a:rPr lang="en-US" sz="2000" dirty="0">
                    <a:latin typeface="Arial" panose="020B0604020202020204" pitchFamily="34" charset="0"/>
                    <a:ea typeface="Calibri" panose="020F0502020204030204" pitchFamily="34" charset="0"/>
                    <a:cs typeface="Arial" panose="020B0604020202020204" pitchFamily="34" charset="0"/>
                  </a:rPr>
                  <a:t>.</a:t>
                </a:r>
              </a:p>
              <a:p>
                <a:pPr lvl="1">
                  <a:lnSpc>
                    <a:spcPct val="107000"/>
                  </a:lnSpc>
                  <a:spcBef>
                    <a:spcPts val="0"/>
                  </a:spcBef>
                  <a:buFont typeface="Courier New" panose="02070309020205020404" pitchFamily="49" charset="0"/>
                  <a:buChar char="o"/>
                </a:pPr>
                <a:r>
                  <a:rPr lang="en-US" sz="2000" b="1" dirty="0">
                    <a:latin typeface="Arial" panose="020B0604020202020204" pitchFamily="34" charset="0"/>
                    <a:cs typeface="Arial" panose="020B0604020202020204" pitchFamily="34" charset="0"/>
                  </a:rPr>
                  <a:t>Dynamics: </a:t>
                </a:r>
                <a:r>
                  <a:rPr lang="en-US" sz="2000" dirty="0">
                    <a:latin typeface="Arial" panose="020B0604020202020204" pitchFamily="34" charset="0"/>
                    <a:cs typeface="Arial" panose="020B0604020202020204" pitchFamily="34" charset="0"/>
                  </a:rPr>
                  <a:t>RTT steps up from 0.2s to 0.22s as queue fills.</a:t>
                </a:r>
                <a:endParaRPr lang="en-US" sz="2000" dirty="0">
                  <a:latin typeface="Arial" panose="020B0604020202020204" pitchFamily="34" charset="0"/>
                  <a:ea typeface="Calibri" panose="020F0502020204030204" pitchFamily="34" charset="0"/>
                  <a:cs typeface="Arial" panose="020B0604020202020204" pitchFamily="34" charset="0"/>
                </a:endParaRPr>
              </a:p>
            </p:txBody>
          </p:sp>
        </mc:Choice>
        <mc:Fallback xmlns="">
          <p:sp>
            <p:nvSpPr>
              <p:cNvPr id="11" name="Content Placeholder 3">
                <a:extLst>
                  <a:ext uri="{FF2B5EF4-FFF2-40B4-BE49-F238E27FC236}">
                    <a16:creationId xmlns:a16="http://schemas.microsoft.com/office/drawing/2014/main" id="{13F68BA0-B3D6-8AF5-6BEC-FF71C3C0C3E2}"/>
                  </a:ext>
                </a:extLst>
              </p:cNvPr>
              <p:cNvSpPr txBox="1">
                <a:spLocks noRot="1" noChangeAspect="1" noMove="1" noResize="1" noEditPoints="1" noAdjustHandles="1" noChangeArrowheads="1" noChangeShapeType="1" noTextEdit="1"/>
              </p:cNvSpPr>
              <p:nvPr/>
            </p:nvSpPr>
            <p:spPr>
              <a:xfrm>
                <a:off x="3371928" y="4249084"/>
                <a:ext cx="8189774" cy="1118293"/>
              </a:xfrm>
              <a:prstGeom prst="rect">
                <a:avLst/>
              </a:prstGeom>
              <a:blipFill>
                <a:blip r:embed="rId4"/>
                <a:stretch>
                  <a:fillRect l="-298" t="-3279" b="-1093"/>
                </a:stretch>
              </a:blipFill>
            </p:spPr>
            <p:txBody>
              <a:bodyPr/>
              <a:lstStyle/>
              <a:p>
                <a:r>
                  <a:rPr lang="en-US">
                    <a:noFill/>
                  </a:rPr>
                  <a:t> </a:t>
                </a:r>
              </a:p>
            </p:txBody>
          </p:sp>
        </mc:Fallback>
      </mc:AlternateContent>
    </p:spTree>
    <p:extLst>
      <p:ext uri="{BB962C8B-B14F-4D97-AF65-F5344CB8AC3E}">
        <p14:creationId xmlns:p14="http://schemas.microsoft.com/office/powerpoint/2010/main" val="743240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1000"/>
                                        <p:tgtEl>
                                          <p:spTgt spid="9">
                                            <p:txEl>
                                              <p:pRg st="1" end="1"/>
                                            </p:txEl>
                                          </p:spTgt>
                                        </p:tgtEl>
                                      </p:cBhvr>
                                    </p:animEffect>
                                    <p:anim calcmode="lin" valueType="num">
                                      <p:cBhvr>
                                        <p:cTn id="13"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9">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fade">
                                      <p:cBhvr>
                                        <p:cTn id="17" dur="1000"/>
                                        <p:tgtEl>
                                          <p:spTgt spid="9">
                                            <p:txEl>
                                              <p:pRg st="2" end="2"/>
                                            </p:txEl>
                                          </p:spTgt>
                                        </p:tgtEl>
                                      </p:cBhvr>
                                    </p:animEffect>
                                    <p:anim calcmode="lin" valueType="num">
                                      <p:cBhvr>
                                        <p:cTn id="18"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11">
                                            <p:txEl>
                                              <p:pRg st="0" end="0"/>
                                            </p:txEl>
                                          </p:spTgt>
                                        </p:tgtEl>
                                        <p:attrNameLst>
                                          <p:attrName>style.visibility</p:attrName>
                                        </p:attrNameLst>
                                      </p:cBhvr>
                                      <p:to>
                                        <p:strVal val="visible"/>
                                      </p:to>
                                    </p:set>
                                    <p:animEffect transition="in" filter="fade">
                                      <p:cBhvr>
                                        <p:cTn id="24" dur="1000"/>
                                        <p:tgtEl>
                                          <p:spTgt spid="11">
                                            <p:txEl>
                                              <p:pRg st="0" end="0"/>
                                            </p:txEl>
                                          </p:spTgt>
                                        </p:tgtEl>
                                      </p:cBhvr>
                                    </p:animEffect>
                                    <p:anim calcmode="lin" valueType="num">
                                      <p:cBhvr>
                                        <p:cTn id="25" dur="1000" fill="hold"/>
                                        <p:tgtEl>
                                          <p:spTgt spid="11">
                                            <p:txEl>
                                              <p:pRg st="0" end="0"/>
                                            </p:txEl>
                                          </p:spTgt>
                                        </p:tgtEl>
                                        <p:attrNameLst>
                                          <p:attrName>ppt_x</p:attrName>
                                        </p:attrNameLst>
                                      </p:cBhvr>
                                      <p:tavLst>
                                        <p:tav tm="0">
                                          <p:val>
                                            <p:strVal val="#ppt_x"/>
                                          </p:val>
                                        </p:tav>
                                        <p:tav tm="100000">
                                          <p:val>
                                            <p:strVal val="#ppt_x"/>
                                          </p:val>
                                        </p:tav>
                                      </p:tavLst>
                                    </p:anim>
                                    <p:anim calcmode="lin" valueType="num">
                                      <p:cBhvr>
                                        <p:cTn id="26" dur="1000" fill="hold"/>
                                        <p:tgtEl>
                                          <p:spTgt spid="11">
                                            <p:txEl>
                                              <p:pRg st="0" end="0"/>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
                                            <p:txEl>
                                              <p:pRg st="1" end="1"/>
                                            </p:txEl>
                                          </p:spTgt>
                                        </p:tgtEl>
                                        <p:attrNameLst>
                                          <p:attrName>style.visibility</p:attrName>
                                        </p:attrNameLst>
                                      </p:cBhvr>
                                      <p:to>
                                        <p:strVal val="visible"/>
                                      </p:to>
                                    </p:set>
                                    <p:animEffect transition="in" filter="fade">
                                      <p:cBhvr>
                                        <p:cTn id="29" dur="1000"/>
                                        <p:tgtEl>
                                          <p:spTgt spid="11">
                                            <p:txEl>
                                              <p:pRg st="1" end="1"/>
                                            </p:txEl>
                                          </p:spTgt>
                                        </p:tgtEl>
                                      </p:cBhvr>
                                    </p:animEffect>
                                    <p:anim calcmode="lin" valueType="num">
                                      <p:cBhvr>
                                        <p:cTn id="30" dur="1000" fill="hold"/>
                                        <p:tgtEl>
                                          <p:spTgt spid="11">
                                            <p:txEl>
                                              <p:pRg st="1" end="1"/>
                                            </p:txEl>
                                          </p:spTgt>
                                        </p:tgtEl>
                                        <p:attrNameLst>
                                          <p:attrName>ppt_x</p:attrName>
                                        </p:attrNameLst>
                                      </p:cBhvr>
                                      <p:tavLst>
                                        <p:tav tm="0">
                                          <p:val>
                                            <p:strVal val="#ppt_x"/>
                                          </p:val>
                                        </p:tav>
                                        <p:tav tm="100000">
                                          <p:val>
                                            <p:strVal val="#ppt_x"/>
                                          </p:val>
                                        </p:tav>
                                      </p:tavLst>
                                    </p:anim>
                                    <p:anim calcmode="lin" valueType="num">
                                      <p:cBhvr>
                                        <p:cTn id="31" dur="1000" fill="hold"/>
                                        <p:tgtEl>
                                          <p:spTgt spid="11">
                                            <p:txEl>
                                              <p:pRg st="1" end="1"/>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1">
                                            <p:txEl>
                                              <p:pRg st="2" end="2"/>
                                            </p:txEl>
                                          </p:spTgt>
                                        </p:tgtEl>
                                        <p:attrNameLst>
                                          <p:attrName>style.visibility</p:attrName>
                                        </p:attrNameLst>
                                      </p:cBhvr>
                                      <p:to>
                                        <p:strVal val="visible"/>
                                      </p:to>
                                    </p:set>
                                    <p:animEffect transition="in" filter="fade">
                                      <p:cBhvr>
                                        <p:cTn id="34" dur="1000"/>
                                        <p:tgtEl>
                                          <p:spTgt spid="11">
                                            <p:txEl>
                                              <p:pRg st="2" end="2"/>
                                            </p:txEl>
                                          </p:spTgt>
                                        </p:tgtEl>
                                      </p:cBhvr>
                                    </p:animEffect>
                                    <p:anim calcmode="lin" valueType="num">
                                      <p:cBhvr>
                                        <p:cTn id="35" dur="1000" fill="hold"/>
                                        <p:tgtEl>
                                          <p:spTgt spid="11">
                                            <p:txEl>
                                              <p:pRg st="2" end="2"/>
                                            </p:txEl>
                                          </p:spTgt>
                                        </p:tgtEl>
                                        <p:attrNameLst>
                                          <p:attrName>ppt_x</p:attrName>
                                        </p:attrNameLst>
                                      </p:cBhvr>
                                      <p:tavLst>
                                        <p:tav tm="0">
                                          <p:val>
                                            <p:strVal val="#ppt_x"/>
                                          </p:val>
                                        </p:tav>
                                        <p:tav tm="100000">
                                          <p:val>
                                            <p:strVal val="#ppt_x"/>
                                          </p:val>
                                        </p:tav>
                                      </p:tavLst>
                                    </p:anim>
                                    <p:anim calcmode="lin" valueType="num">
                                      <p:cBhvr>
                                        <p:cTn id="36" dur="1000" fill="hold"/>
                                        <p:tgtEl>
                                          <p:spTgt spid="11">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uiExpand="1" build="p"/>
      <p:bldP spid="11"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E0547B-1225-81B8-FBFA-7A330B526D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5F404-8E60-2606-A9D0-FC2821E07C28}"/>
              </a:ext>
            </a:extLst>
          </p:cNvPr>
          <p:cNvSpPr>
            <a:spLocks noGrp="1"/>
          </p:cNvSpPr>
          <p:nvPr>
            <p:ph type="title"/>
          </p:nvPr>
        </p:nvSpPr>
        <p:spPr>
          <a:xfrm>
            <a:off x="452251" y="671528"/>
            <a:ext cx="9984418" cy="791281"/>
          </a:xfrm>
        </p:spPr>
        <p:txBody>
          <a:bodyPr>
            <a:normAutofit/>
          </a:bodyPr>
          <a:lstStyle/>
          <a:p>
            <a:pPr algn="ctr"/>
            <a:r>
              <a:rPr lang="en-US" b="1" dirty="0">
                <a:latin typeface="Arial" panose="020B0604020202020204" pitchFamily="34" charset="0"/>
                <a:cs typeface="Arial" panose="020B0604020202020204" pitchFamily="34" charset="0"/>
              </a:rPr>
              <a:t>Discussion &amp; Validation (1/5)</a:t>
            </a:r>
          </a:p>
        </p:txBody>
      </p:sp>
      <p:sp>
        <p:nvSpPr>
          <p:cNvPr id="7" name="Content Placeholder 3">
            <a:extLst>
              <a:ext uri="{FF2B5EF4-FFF2-40B4-BE49-F238E27FC236}">
                <a16:creationId xmlns:a16="http://schemas.microsoft.com/office/drawing/2014/main" id="{B7D7A870-4DBB-4FCE-B570-8FAA36DE2DB4}"/>
              </a:ext>
            </a:extLst>
          </p:cNvPr>
          <p:cNvSpPr txBox="1">
            <a:spLocks/>
          </p:cNvSpPr>
          <p:nvPr/>
        </p:nvSpPr>
        <p:spPr>
          <a:xfrm>
            <a:off x="452250" y="1462808"/>
            <a:ext cx="9456521" cy="472366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sz="2000" dirty="0"/>
              <a:t>These graphs are </a:t>
            </a:r>
            <a:r>
              <a:rPr lang="en-GB" sz="2000" b="1" dirty="0"/>
              <a:t>Histograms</a:t>
            </a:r>
            <a:r>
              <a:rPr lang="en-GB" sz="2000" dirty="0"/>
              <a:t>. They don't show time; they show </a:t>
            </a:r>
            <a:r>
              <a:rPr lang="en-GB" sz="2000" b="1" dirty="0"/>
              <a:t>frequency</a:t>
            </a:r>
            <a:r>
              <a:rPr lang="en-GB" sz="2000" dirty="0"/>
              <a:t> (how many of the 50 runs landed in a specific range).</a:t>
            </a:r>
            <a:endParaRPr lang="en-US" sz="2000" dirty="0"/>
          </a:p>
          <a:p>
            <a:pPr marL="0" indent="0">
              <a:buNone/>
            </a:pPr>
            <a:r>
              <a:rPr lang="en-GB" sz="2000" b="1" dirty="0"/>
              <a:t>Monte Carlo Peak Queue Length </a:t>
            </a:r>
          </a:p>
          <a:p>
            <a:r>
              <a:rPr lang="en-GB" sz="2000" b="1" dirty="0"/>
              <a:t>What it shows:</a:t>
            </a:r>
            <a:r>
              <a:rPr lang="en-GB" sz="2000" dirty="0"/>
              <a:t> The highest queue value reached during the transient phase (the initial spike).</a:t>
            </a:r>
            <a:endParaRPr lang="en-US" sz="2000" dirty="0"/>
          </a:p>
          <a:p>
            <a:pPr lvl="0"/>
            <a:r>
              <a:rPr lang="en-GB" sz="2000" b="1" dirty="0"/>
              <a:t>Analysis:</a:t>
            </a:r>
            <a:endParaRPr lang="en-US" sz="2000" dirty="0"/>
          </a:p>
          <a:p>
            <a:pPr lvl="1">
              <a:buFont typeface="Courier New" panose="02070309020205020404" pitchFamily="49" charset="0"/>
              <a:buChar char="o"/>
            </a:pPr>
            <a:r>
              <a:rPr lang="en-GB" sz="2000" dirty="0"/>
              <a:t>The bars are clustered between </a:t>
            </a:r>
            <a:r>
              <a:rPr lang="en-GB" sz="2000" b="1" dirty="0"/>
              <a:t>525 and 535 packets</a:t>
            </a:r>
            <a:r>
              <a:rPr lang="en-GB" sz="2000" dirty="0"/>
              <a:t>.</a:t>
            </a:r>
            <a:endParaRPr lang="en-US" sz="2000" dirty="0"/>
          </a:p>
          <a:p>
            <a:pPr lvl="1">
              <a:buFont typeface="Courier New" panose="02070309020205020404" pitchFamily="49" charset="0"/>
              <a:buChar char="o"/>
            </a:pPr>
            <a:r>
              <a:rPr lang="en-GB" sz="2000" dirty="0"/>
              <a:t>The absolute worst-case scenario (far right bar) was about </a:t>
            </a:r>
            <a:r>
              <a:rPr lang="en-GB" sz="2000" b="1" dirty="0"/>
              <a:t>545 packets</a:t>
            </a:r>
            <a:r>
              <a:rPr lang="en-GB" sz="2000" dirty="0"/>
              <a:t>.</a:t>
            </a:r>
            <a:endParaRPr lang="en-US" sz="2000" dirty="0"/>
          </a:p>
          <a:p>
            <a:pPr lvl="1">
              <a:buFont typeface="Courier New" panose="02070309020205020404" pitchFamily="49" charset="0"/>
              <a:buChar char="o"/>
            </a:pPr>
            <a:r>
              <a:rPr lang="en-GB" sz="2000" b="1" dirty="0"/>
              <a:t>Conclusion:</a:t>
            </a:r>
            <a:r>
              <a:rPr lang="en-GB" sz="2000" dirty="0"/>
              <a:t> This is excellent. The buffer limit is 800 packets. Since the worst-case peak (545) is far below 800, your controller is </a:t>
            </a:r>
            <a:r>
              <a:rPr lang="en-GB" sz="2000" b="1" dirty="0"/>
              <a:t>Safe</a:t>
            </a:r>
            <a:r>
              <a:rPr lang="en-GB" sz="2000" dirty="0"/>
              <a:t>. It will not overflow even with random noise.</a:t>
            </a:r>
            <a:endParaRPr lang="en-US" sz="2000" dirty="0"/>
          </a:p>
        </p:txBody>
      </p:sp>
      <p:sp>
        <p:nvSpPr>
          <p:cNvPr id="10" name="Content Placeholder 3">
            <a:extLst>
              <a:ext uri="{FF2B5EF4-FFF2-40B4-BE49-F238E27FC236}">
                <a16:creationId xmlns:a16="http://schemas.microsoft.com/office/drawing/2014/main" id="{957DD516-EB67-9D08-ABDC-04CB3653F30D}"/>
              </a:ext>
            </a:extLst>
          </p:cNvPr>
          <p:cNvSpPr txBox="1">
            <a:spLocks/>
          </p:cNvSpPr>
          <p:nvPr/>
        </p:nvSpPr>
        <p:spPr>
          <a:xfrm>
            <a:off x="3107219" y="1847187"/>
            <a:ext cx="8435076" cy="4559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endParaRPr lang="en-US" sz="2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566603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3" end="3"/>
                                            </p:txEl>
                                          </p:spTgt>
                                        </p:tgtEl>
                                        <p:attrNameLst>
                                          <p:attrName>style.visibility</p:attrName>
                                        </p:attrNameLst>
                                      </p:cBhvr>
                                      <p:to>
                                        <p:strVal val="visible"/>
                                      </p:to>
                                    </p:set>
                                    <p:animEffect transition="in" filter="fade">
                                      <p:cBhvr>
                                        <p:cTn id="28" dur="1000"/>
                                        <p:tgtEl>
                                          <p:spTgt spid="7">
                                            <p:txEl>
                                              <p:pRg st="3" end="3"/>
                                            </p:txEl>
                                          </p:spTgt>
                                        </p:tgtEl>
                                      </p:cBhvr>
                                    </p:animEffect>
                                    <p:anim calcmode="lin" valueType="num">
                                      <p:cBhvr>
                                        <p:cTn id="29"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3" end="3"/>
                                            </p:txEl>
                                          </p:spTgt>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7">
                                            <p:txEl>
                                              <p:pRg st="4" end="4"/>
                                            </p:txEl>
                                          </p:spTgt>
                                        </p:tgtEl>
                                        <p:attrNameLst>
                                          <p:attrName>style.visibility</p:attrName>
                                        </p:attrNameLst>
                                      </p:cBhvr>
                                      <p:to>
                                        <p:strVal val="visible"/>
                                      </p:to>
                                    </p:set>
                                    <p:animEffect transition="in" filter="fade">
                                      <p:cBhvr>
                                        <p:cTn id="33" dur="1000"/>
                                        <p:tgtEl>
                                          <p:spTgt spid="7">
                                            <p:txEl>
                                              <p:pRg st="4" end="4"/>
                                            </p:txEl>
                                          </p:spTgt>
                                        </p:tgtEl>
                                      </p:cBhvr>
                                    </p:animEffect>
                                    <p:anim calcmode="lin" valueType="num">
                                      <p:cBhvr>
                                        <p:cTn id="34"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5"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7">
                                            <p:txEl>
                                              <p:pRg st="5" end="5"/>
                                            </p:txEl>
                                          </p:spTgt>
                                        </p:tgtEl>
                                        <p:attrNameLst>
                                          <p:attrName>style.visibility</p:attrName>
                                        </p:attrNameLst>
                                      </p:cBhvr>
                                      <p:to>
                                        <p:strVal val="visible"/>
                                      </p:to>
                                    </p:set>
                                    <p:animEffect transition="in" filter="fade">
                                      <p:cBhvr>
                                        <p:cTn id="38" dur="1000"/>
                                        <p:tgtEl>
                                          <p:spTgt spid="7">
                                            <p:txEl>
                                              <p:pRg st="5" end="5"/>
                                            </p:txEl>
                                          </p:spTgt>
                                        </p:tgtEl>
                                      </p:cBhvr>
                                    </p:animEffect>
                                    <p:anim calcmode="lin" valueType="num">
                                      <p:cBhvr>
                                        <p:cTn id="39"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40" dur="1000" fill="hold"/>
                                        <p:tgtEl>
                                          <p:spTgt spid="7">
                                            <p:txEl>
                                              <p:pRg st="5" end="5"/>
                                            </p:txEl>
                                          </p:spTgt>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7">
                                            <p:txEl>
                                              <p:pRg st="6" end="6"/>
                                            </p:txEl>
                                          </p:spTgt>
                                        </p:tgtEl>
                                        <p:attrNameLst>
                                          <p:attrName>style.visibility</p:attrName>
                                        </p:attrNameLst>
                                      </p:cBhvr>
                                      <p:to>
                                        <p:strVal val="visible"/>
                                      </p:to>
                                    </p:set>
                                    <p:animEffect transition="in" filter="fade">
                                      <p:cBhvr>
                                        <p:cTn id="43" dur="1000"/>
                                        <p:tgtEl>
                                          <p:spTgt spid="7">
                                            <p:txEl>
                                              <p:pRg st="6" end="6"/>
                                            </p:txEl>
                                          </p:spTgt>
                                        </p:tgtEl>
                                      </p:cBhvr>
                                    </p:animEffect>
                                    <p:anim calcmode="lin" valueType="num">
                                      <p:cBhvr>
                                        <p:cTn id="44"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5"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nodePh="1">
                                  <p:stCondLst>
                                    <p:cond delay="0"/>
                                  </p:stCondLst>
                                  <p:endCondLst>
                                    <p:cond evt="begin" delay="0">
                                      <p:tn val="48"/>
                                    </p:cond>
                                  </p:endCondLst>
                                  <p:childTnLst>
                                    <p:set>
                                      <p:cBhvr>
                                        <p:cTn id="49" dur="1" fill="hold">
                                          <p:stCondLst>
                                            <p:cond delay="0"/>
                                          </p:stCondLst>
                                        </p:cTn>
                                        <p:tgtEl>
                                          <p:spTgt spid="10">
                                            <p:txEl>
                                              <p:pRg st="0" end="0"/>
                                            </p:txEl>
                                          </p:spTgt>
                                        </p:tgtEl>
                                        <p:attrNameLst>
                                          <p:attrName>style.visibility</p:attrName>
                                        </p:attrNameLst>
                                      </p:cBhvr>
                                      <p:to>
                                        <p:strVal val="visible"/>
                                      </p:to>
                                    </p:set>
                                    <p:animEffect transition="in" filter="fade">
                                      <p:cBhvr>
                                        <p:cTn id="50" dur="1000"/>
                                        <p:tgtEl>
                                          <p:spTgt spid="10">
                                            <p:txEl>
                                              <p:pRg st="0" end="0"/>
                                            </p:txEl>
                                          </p:spTgt>
                                        </p:tgtEl>
                                      </p:cBhvr>
                                    </p:animEffect>
                                    <p:anim calcmode="lin" valueType="num">
                                      <p:cBhvr>
                                        <p:cTn id="51"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52"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0" grpId="0" uiExpand="1"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82F35D-BACB-A42F-EDFC-CA0680D145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D6B57-DE68-86DF-8FD9-19EC636FA5A1}"/>
              </a:ext>
            </a:extLst>
          </p:cNvPr>
          <p:cNvSpPr>
            <a:spLocks noGrp="1"/>
          </p:cNvSpPr>
          <p:nvPr>
            <p:ph type="title"/>
          </p:nvPr>
        </p:nvSpPr>
        <p:spPr>
          <a:xfrm>
            <a:off x="452251" y="671528"/>
            <a:ext cx="9984418" cy="791281"/>
          </a:xfrm>
        </p:spPr>
        <p:txBody>
          <a:bodyPr>
            <a:normAutofit/>
          </a:bodyPr>
          <a:lstStyle/>
          <a:p>
            <a:pPr algn="ctr"/>
            <a:r>
              <a:rPr lang="en-US" b="1" dirty="0">
                <a:latin typeface="Arial" panose="020B0604020202020204" pitchFamily="34" charset="0"/>
                <a:cs typeface="Arial" panose="020B0604020202020204" pitchFamily="34" charset="0"/>
              </a:rPr>
              <a:t>Discussion &amp; Validation (2/4)</a:t>
            </a:r>
          </a:p>
        </p:txBody>
      </p:sp>
      <p:sp>
        <p:nvSpPr>
          <p:cNvPr id="7" name="Content Placeholder 3">
            <a:extLst>
              <a:ext uri="{FF2B5EF4-FFF2-40B4-BE49-F238E27FC236}">
                <a16:creationId xmlns:a16="http://schemas.microsoft.com/office/drawing/2014/main" id="{DEF5CAAC-721B-01D0-36D5-EEA7BF7C94A4}"/>
              </a:ext>
            </a:extLst>
          </p:cNvPr>
          <p:cNvSpPr txBox="1">
            <a:spLocks/>
          </p:cNvSpPr>
          <p:nvPr/>
        </p:nvSpPr>
        <p:spPr>
          <a:xfrm>
            <a:off x="452250" y="1462808"/>
            <a:ext cx="9456521" cy="472366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sz="2000" dirty="0"/>
          </a:p>
        </p:txBody>
      </p:sp>
      <p:sp>
        <p:nvSpPr>
          <p:cNvPr id="10" name="Content Placeholder 3">
            <a:extLst>
              <a:ext uri="{FF2B5EF4-FFF2-40B4-BE49-F238E27FC236}">
                <a16:creationId xmlns:a16="http://schemas.microsoft.com/office/drawing/2014/main" id="{E03DBE6D-40AA-1713-1FCA-68491A866DC4}"/>
              </a:ext>
            </a:extLst>
          </p:cNvPr>
          <p:cNvSpPr txBox="1">
            <a:spLocks/>
          </p:cNvSpPr>
          <p:nvPr/>
        </p:nvSpPr>
        <p:spPr>
          <a:xfrm>
            <a:off x="3107219" y="1847187"/>
            <a:ext cx="8435076" cy="4559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endParaRPr lang="en-US" sz="2200" dirty="0">
              <a:latin typeface="Arial" panose="020B0604020202020204" pitchFamily="34" charset="0"/>
              <a:ea typeface="Calibri" panose="020F0502020204030204" pitchFamily="34" charset="0"/>
              <a:cs typeface="Arial" panose="020B0604020202020204" pitchFamily="34" charset="0"/>
            </a:endParaRPr>
          </a:p>
        </p:txBody>
      </p:sp>
      <p:pic>
        <p:nvPicPr>
          <p:cNvPr id="4" name="Picture 3" descr="A graph of blue bars&#10;&#10;AI-generated content may be incorrect.">
            <a:extLst>
              <a:ext uri="{FF2B5EF4-FFF2-40B4-BE49-F238E27FC236}">
                <a16:creationId xmlns:a16="http://schemas.microsoft.com/office/drawing/2014/main" id="{1CA621CD-B0B0-E7AB-E575-A82B52F0D733}"/>
              </a:ext>
            </a:extLst>
          </p:cNvPr>
          <p:cNvPicPr>
            <a:picLocks noChangeAspect="1"/>
          </p:cNvPicPr>
          <p:nvPr/>
        </p:nvPicPr>
        <p:blipFill>
          <a:blip r:embed="rId3"/>
          <a:stretch>
            <a:fillRect/>
          </a:stretch>
        </p:blipFill>
        <p:spPr>
          <a:xfrm>
            <a:off x="0" y="1914282"/>
            <a:ext cx="12232715" cy="3820716"/>
          </a:xfrm>
          <a:prstGeom prst="rect">
            <a:avLst/>
          </a:prstGeom>
        </p:spPr>
      </p:pic>
    </p:spTree>
    <p:extLst>
      <p:ext uri="{BB962C8B-B14F-4D97-AF65-F5344CB8AC3E}">
        <p14:creationId xmlns:p14="http://schemas.microsoft.com/office/powerpoint/2010/main" val="3128218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10">
                                            <p:txEl>
                                              <p:pRg st="0" end="0"/>
                                            </p:txEl>
                                          </p:spTgt>
                                        </p:tgtEl>
                                        <p:attrNameLst>
                                          <p:attrName>style.visibility</p:attrName>
                                        </p:attrNameLst>
                                      </p:cBhvr>
                                      <p:to>
                                        <p:strVal val="visible"/>
                                      </p:to>
                                    </p:set>
                                    <p:animEffect transition="in" filter="fade">
                                      <p:cBhvr>
                                        <p:cTn id="14" dur="1000"/>
                                        <p:tgtEl>
                                          <p:spTgt spid="10">
                                            <p:txEl>
                                              <p:pRg st="0" end="0"/>
                                            </p:txEl>
                                          </p:spTgt>
                                        </p:tgtEl>
                                      </p:cBhvr>
                                    </p:animEffect>
                                    <p:anim calcmode="lin" valueType="num">
                                      <p:cBhvr>
                                        <p:cTn id="15"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0" grpId="0" uiExpand="1"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A3A1C-D1E8-46E2-07E1-0238B3CD8A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91CC06-D2A8-2BED-8EC1-3C14903CB59D}"/>
              </a:ext>
            </a:extLst>
          </p:cNvPr>
          <p:cNvSpPr>
            <a:spLocks noGrp="1"/>
          </p:cNvSpPr>
          <p:nvPr>
            <p:ph type="title"/>
          </p:nvPr>
        </p:nvSpPr>
        <p:spPr>
          <a:xfrm>
            <a:off x="452251" y="671528"/>
            <a:ext cx="9984418" cy="791281"/>
          </a:xfrm>
        </p:spPr>
        <p:txBody>
          <a:bodyPr>
            <a:normAutofit/>
          </a:bodyPr>
          <a:lstStyle/>
          <a:p>
            <a:pPr algn="ctr"/>
            <a:r>
              <a:rPr lang="en-US" b="1" dirty="0">
                <a:latin typeface="Arial" panose="020B0604020202020204" pitchFamily="34" charset="0"/>
                <a:cs typeface="Arial" panose="020B0604020202020204" pitchFamily="34" charset="0"/>
              </a:rPr>
              <a:t>Discussion &amp; Validation (3/5)</a:t>
            </a:r>
          </a:p>
        </p:txBody>
      </p:sp>
      <p:sp>
        <p:nvSpPr>
          <p:cNvPr id="7" name="Content Placeholder 3">
            <a:extLst>
              <a:ext uri="{FF2B5EF4-FFF2-40B4-BE49-F238E27FC236}">
                <a16:creationId xmlns:a16="http://schemas.microsoft.com/office/drawing/2014/main" id="{F426333D-E036-F8F0-548D-4096E00CA72E}"/>
              </a:ext>
            </a:extLst>
          </p:cNvPr>
          <p:cNvSpPr txBox="1">
            <a:spLocks/>
          </p:cNvSpPr>
          <p:nvPr/>
        </p:nvSpPr>
        <p:spPr>
          <a:xfrm>
            <a:off x="452250" y="1462808"/>
            <a:ext cx="9456521" cy="472366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r>
              <a:rPr lang="en-GB" sz="2000" b="1" dirty="0"/>
              <a:t>Monte Carlo Steady-State Queue </a:t>
            </a:r>
          </a:p>
          <a:p>
            <a:r>
              <a:rPr lang="en-GB" sz="2000" b="1" dirty="0"/>
              <a:t>What it shows:</a:t>
            </a:r>
            <a:r>
              <a:rPr lang="en-GB" sz="2000" dirty="0"/>
              <a:t> Where the queue settled down after the simulation finished (the accuracy).</a:t>
            </a:r>
            <a:endParaRPr lang="en-US" sz="2000" dirty="0"/>
          </a:p>
          <a:p>
            <a:pPr lvl="0"/>
            <a:r>
              <a:rPr lang="en-GB" sz="2000" b="1" dirty="0"/>
              <a:t>Analysis:</a:t>
            </a:r>
            <a:endParaRPr lang="en-US" sz="2000" dirty="0"/>
          </a:p>
          <a:p>
            <a:pPr lvl="1">
              <a:buFont typeface="Courier New" panose="02070309020205020404" pitchFamily="49" charset="0"/>
              <a:buChar char="o"/>
            </a:pPr>
            <a:r>
              <a:rPr lang="en-GB" sz="2000" dirty="0"/>
              <a:t>The Target is </a:t>
            </a:r>
            <a:r>
              <a:rPr lang="en-GB" sz="2000" b="1" dirty="0"/>
              <a:t>500 packets</a:t>
            </a:r>
            <a:r>
              <a:rPr lang="en-GB" sz="2000" dirty="0"/>
              <a:t>.</a:t>
            </a:r>
            <a:endParaRPr lang="en-US" sz="2000" dirty="0"/>
          </a:p>
          <a:p>
            <a:pPr lvl="1">
              <a:buFont typeface="Courier New" panose="02070309020205020404" pitchFamily="49" charset="0"/>
              <a:buChar char="o"/>
            </a:pPr>
            <a:r>
              <a:rPr lang="en-GB" sz="2000" dirty="0"/>
              <a:t>Most runs settled between </a:t>
            </a:r>
            <a:r>
              <a:rPr lang="en-GB" sz="2000" b="1" dirty="0"/>
              <a:t>505 and 512 packets</a:t>
            </a:r>
            <a:r>
              <a:rPr lang="en-GB" sz="2000" dirty="0"/>
              <a:t>.</a:t>
            </a:r>
            <a:endParaRPr lang="en-US" sz="2000" dirty="0"/>
          </a:p>
          <a:p>
            <a:pPr lvl="1">
              <a:buFont typeface="Courier New" panose="02070309020205020404" pitchFamily="49" charset="0"/>
              <a:buChar char="o"/>
            </a:pPr>
            <a:r>
              <a:rPr lang="en-GB" sz="2000" dirty="0"/>
              <a:t>The spread is small (about +/- 15 packets from target).</a:t>
            </a:r>
            <a:endParaRPr lang="en-US" sz="2000" dirty="0"/>
          </a:p>
          <a:p>
            <a:pPr lvl="1">
              <a:buFont typeface="Courier New" panose="02070309020205020404" pitchFamily="49" charset="0"/>
              <a:buChar char="o"/>
            </a:pPr>
            <a:r>
              <a:rPr lang="en-GB" sz="2000" b="1" dirty="0"/>
              <a:t>Conclusion:</a:t>
            </a:r>
            <a:r>
              <a:rPr lang="en-GB" sz="2000" dirty="0"/>
              <a:t> This proves </a:t>
            </a:r>
            <a:r>
              <a:rPr lang="en-GB" sz="2000" b="1" dirty="0"/>
              <a:t>Precision</a:t>
            </a:r>
            <a:r>
              <a:rPr lang="en-GB" sz="2000" dirty="0"/>
              <a:t>. Even with constant random jitter in the network delay, the H-infinity controller keeps the queue very close to the target of 500. It doesn't drift away.</a:t>
            </a:r>
            <a:endParaRPr lang="en-US" sz="2000" dirty="0"/>
          </a:p>
          <a:p>
            <a:pPr marL="0" indent="0">
              <a:buNone/>
            </a:pPr>
            <a:endParaRPr lang="en-US" sz="2000" dirty="0"/>
          </a:p>
        </p:txBody>
      </p:sp>
      <p:sp>
        <p:nvSpPr>
          <p:cNvPr id="10" name="Content Placeholder 3">
            <a:extLst>
              <a:ext uri="{FF2B5EF4-FFF2-40B4-BE49-F238E27FC236}">
                <a16:creationId xmlns:a16="http://schemas.microsoft.com/office/drawing/2014/main" id="{DEFA51BF-8A1C-89A3-7E8D-0458DEE5E6AE}"/>
              </a:ext>
            </a:extLst>
          </p:cNvPr>
          <p:cNvSpPr txBox="1">
            <a:spLocks/>
          </p:cNvSpPr>
          <p:nvPr/>
        </p:nvSpPr>
        <p:spPr>
          <a:xfrm>
            <a:off x="3107219" y="1847187"/>
            <a:ext cx="8435076" cy="4559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endParaRPr lang="en-US" sz="2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470845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animEffect transition="in" filter="fade">
                                      <p:cBhvr>
                                        <p:cTn id="14" dur="1000"/>
                                        <p:tgtEl>
                                          <p:spTgt spid="7">
                                            <p:txEl>
                                              <p:pRg st="1" end="1"/>
                                            </p:txEl>
                                          </p:spTgt>
                                        </p:tgtEl>
                                      </p:cBhvr>
                                    </p:animEffect>
                                    <p:anim calcmode="lin" valueType="num">
                                      <p:cBhvr>
                                        <p:cTn id="15"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2" end="2"/>
                                            </p:txEl>
                                          </p:spTgt>
                                        </p:tgtEl>
                                        <p:attrNameLst>
                                          <p:attrName>style.visibility</p:attrName>
                                        </p:attrNameLst>
                                      </p:cBhvr>
                                      <p:to>
                                        <p:strVal val="visible"/>
                                      </p:to>
                                    </p:set>
                                    <p:animEffect transition="in" filter="fade">
                                      <p:cBhvr>
                                        <p:cTn id="21" dur="1000"/>
                                        <p:tgtEl>
                                          <p:spTgt spid="7">
                                            <p:txEl>
                                              <p:pRg st="2" end="2"/>
                                            </p:txEl>
                                          </p:spTgt>
                                        </p:tgtEl>
                                      </p:cBhvr>
                                    </p:animEffect>
                                    <p:anim calcmode="lin" valueType="num">
                                      <p:cBhvr>
                                        <p:cTn id="22"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7">
                                            <p:txEl>
                                              <p:pRg st="3" end="3"/>
                                            </p:txEl>
                                          </p:spTgt>
                                        </p:tgtEl>
                                        <p:attrNameLst>
                                          <p:attrName>style.visibility</p:attrName>
                                        </p:attrNameLst>
                                      </p:cBhvr>
                                      <p:to>
                                        <p:strVal val="visible"/>
                                      </p:to>
                                    </p:set>
                                    <p:animEffect transition="in" filter="fade">
                                      <p:cBhvr>
                                        <p:cTn id="26" dur="1000"/>
                                        <p:tgtEl>
                                          <p:spTgt spid="7">
                                            <p:txEl>
                                              <p:pRg st="3" end="3"/>
                                            </p:txEl>
                                          </p:spTgt>
                                        </p:tgtEl>
                                      </p:cBhvr>
                                    </p:animEffect>
                                    <p:anim calcmode="lin" valueType="num">
                                      <p:cBhvr>
                                        <p:cTn id="27"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8"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7">
                                            <p:txEl>
                                              <p:pRg st="4" end="4"/>
                                            </p:txEl>
                                          </p:spTgt>
                                        </p:tgtEl>
                                        <p:attrNameLst>
                                          <p:attrName>style.visibility</p:attrName>
                                        </p:attrNameLst>
                                      </p:cBhvr>
                                      <p:to>
                                        <p:strVal val="visible"/>
                                      </p:to>
                                    </p:set>
                                    <p:animEffect transition="in" filter="fade">
                                      <p:cBhvr>
                                        <p:cTn id="31" dur="1000"/>
                                        <p:tgtEl>
                                          <p:spTgt spid="7">
                                            <p:txEl>
                                              <p:pRg st="4" end="4"/>
                                            </p:txEl>
                                          </p:spTgt>
                                        </p:tgtEl>
                                      </p:cBhvr>
                                    </p:animEffect>
                                    <p:anim calcmode="lin" valueType="num">
                                      <p:cBhvr>
                                        <p:cTn id="32"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3"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7">
                                            <p:txEl>
                                              <p:pRg st="5" end="5"/>
                                            </p:txEl>
                                          </p:spTgt>
                                        </p:tgtEl>
                                        <p:attrNameLst>
                                          <p:attrName>style.visibility</p:attrName>
                                        </p:attrNameLst>
                                      </p:cBhvr>
                                      <p:to>
                                        <p:strVal val="visible"/>
                                      </p:to>
                                    </p:set>
                                    <p:animEffect transition="in" filter="fade">
                                      <p:cBhvr>
                                        <p:cTn id="36" dur="1000"/>
                                        <p:tgtEl>
                                          <p:spTgt spid="7">
                                            <p:txEl>
                                              <p:pRg st="5" end="5"/>
                                            </p:txEl>
                                          </p:spTgt>
                                        </p:tgtEl>
                                      </p:cBhvr>
                                    </p:animEffect>
                                    <p:anim calcmode="lin" valueType="num">
                                      <p:cBhvr>
                                        <p:cTn id="37"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8" dur="1000" fill="hold"/>
                                        <p:tgtEl>
                                          <p:spTgt spid="7">
                                            <p:txEl>
                                              <p:pRg st="5" end="5"/>
                                            </p:txEl>
                                          </p:spTgt>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7">
                                            <p:txEl>
                                              <p:pRg st="6" end="6"/>
                                            </p:txEl>
                                          </p:spTgt>
                                        </p:tgtEl>
                                        <p:attrNameLst>
                                          <p:attrName>style.visibility</p:attrName>
                                        </p:attrNameLst>
                                      </p:cBhvr>
                                      <p:to>
                                        <p:strVal val="visible"/>
                                      </p:to>
                                    </p:set>
                                    <p:animEffect transition="in" filter="fade">
                                      <p:cBhvr>
                                        <p:cTn id="41" dur="1000"/>
                                        <p:tgtEl>
                                          <p:spTgt spid="7">
                                            <p:txEl>
                                              <p:pRg st="6" end="6"/>
                                            </p:txEl>
                                          </p:spTgt>
                                        </p:tgtEl>
                                      </p:cBhvr>
                                    </p:animEffect>
                                    <p:anim calcmode="lin" valueType="num">
                                      <p:cBhvr>
                                        <p:cTn id="42" dur="1000" fill="hold"/>
                                        <p:tgtEl>
                                          <p:spTgt spid="7">
                                            <p:txEl>
                                              <p:pRg st="6" end="6"/>
                                            </p:txEl>
                                          </p:spTgt>
                                        </p:tgtEl>
                                        <p:attrNameLst>
                                          <p:attrName>ppt_x</p:attrName>
                                        </p:attrNameLst>
                                      </p:cBhvr>
                                      <p:tavLst>
                                        <p:tav tm="0">
                                          <p:val>
                                            <p:strVal val="#ppt_x"/>
                                          </p:val>
                                        </p:tav>
                                        <p:tav tm="100000">
                                          <p:val>
                                            <p:strVal val="#ppt_x"/>
                                          </p:val>
                                        </p:tav>
                                      </p:tavLst>
                                    </p:anim>
                                    <p:anim calcmode="lin" valueType="num">
                                      <p:cBhvr>
                                        <p:cTn id="43" dur="1000" fill="hold"/>
                                        <p:tgtEl>
                                          <p:spTgt spid="7">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nodePh="1">
                                  <p:stCondLst>
                                    <p:cond delay="0"/>
                                  </p:stCondLst>
                                  <p:endCondLst>
                                    <p:cond evt="begin" delay="0">
                                      <p:tn val="46"/>
                                    </p:cond>
                                  </p:endCondLst>
                                  <p:childTnLst>
                                    <p:set>
                                      <p:cBhvr>
                                        <p:cTn id="47" dur="1" fill="hold">
                                          <p:stCondLst>
                                            <p:cond delay="0"/>
                                          </p:stCondLst>
                                        </p:cTn>
                                        <p:tgtEl>
                                          <p:spTgt spid="10">
                                            <p:txEl>
                                              <p:pRg st="0" end="0"/>
                                            </p:txEl>
                                          </p:spTgt>
                                        </p:tgtEl>
                                        <p:attrNameLst>
                                          <p:attrName>style.visibility</p:attrName>
                                        </p:attrNameLst>
                                      </p:cBhvr>
                                      <p:to>
                                        <p:strVal val="visible"/>
                                      </p:to>
                                    </p:set>
                                    <p:animEffect transition="in" filter="fade">
                                      <p:cBhvr>
                                        <p:cTn id="48" dur="1000"/>
                                        <p:tgtEl>
                                          <p:spTgt spid="10">
                                            <p:txEl>
                                              <p:pRg st="0" end="0"/>
                                            </p:txEl>
                                          </p:spTgt>
                                        </p:tgtEl>
                                      </p:cBhvr>
                                    </p:animEffect>
                                    <p:anim calcmode="lin" valueType="num">
                                      <p:cBhvr>
                                        <p:cTn id="49"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50"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0"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43212-4815-D574-C457-5D89284E72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2FD89B-5E03-971A-9D73-2C2E4F720CE9}"/>
              </a:ext>
            </a:extLst>
          </p:cNvPr>
          <p:cNvSpPr>
            <a:spLocks noGrp="1"/>
          </p:cNvSpPr>
          <p:nvPr>
            <p:ph type="title"/>
          </p:nvPr>
        </p:nvSpPr>
        <p:spPr>
          <a:xfrm>
            <a:off x="452251" y="671528"/>
            <a:ext cx="9984418" cy="791281"/>
          </a:xfrm>
        </p:spPr>
        <p:txBody>
          <a:bodyPr>
            <a:normAutofit/>
          </a:bodyPr>
          <a:lstStyle/>
          <a:p>
            <a:pPr algn="ctr"/>
            <a:r>
              <a:rPr lang="en-US" b="1" dirty="0">
                <a:latin typeface="Arial" panose="020B0604020202020204" pitchFamily="34" charset="0"/>
                <a:cs typeface="Arial" panose="020B0604020202020204" pitchFamily="34" charset="0"/>
              </a:rPr>
              <a:t>Discussion &amp; Validation (4/5)</a:t>
            </a:r>
          </a:p>
        </p:txBody>
      </p:sp>
      <p:sp>
        <p:nvSpPr>
          <p:cNvPr id="7" name="Content Placeholder 3">
            <a:extLst>
              <a:ext uri="{FF2B5EF4-FFF2-40B4-BE49-F238E27FC236}">
                <a16:creationId xmlns:a16="http://schemas.microsoft.com/office/drawing/2014/main" id="{1C9254EF-0812-9BB0-2845-CE644E4899E1}"/>
              </a:ext>
            </a:extLst>
          </p:cNvPr>
          <p:cNvSpPr txBox="1">
            <a:spLocks/>
          </p:cNvSpPr>
          <p:nvPr/>
        </p:nvSpPr>
        <p:spPr>
          <a:xfrm>
            <a:off x="452250" y="1462808"/>
            <a:ext cx="9456521" cy="472366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a:buNone/>
            </a:pPr>
            <a:endParaRPr lang="en-US" sz="2000" dirty="0"/>
          </a:p>
        </p:txBody>
      </p:sp>
      <p:sp>
        <p:nvSpPr>
          <p:cNvPr id="10" name="Content Placeholder 3">
            <a:extLst>
              <a:ext uri="{FF2B5EF4-FFF2-40B4-BE49-F238E27FC236}">
                <a16:creationId xmlns:a16="http://schemas.microsoft.com/office/drawing/2014/main" id="{99A41149-9AC7-7B8C-164B-CB60FE7D49C3}"/>
              </a:ext>
            </a:extLst>
          </p:cNvPr>
          <p:cNvSpPr txBox="1">
            <a:spLocks/>
          </p:cNvSpPr>
          <p:nvPr/>
        </p:nvSpPr>
        <p:spPr>
          <a:xfrm>
            <a:off x="3107219" y="1847187"/>
            <a:ext cx="8435076" cy="4559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endParaRPr lang="en-US" sz="2200" dirty="0">
              <a:latin typeface="Arial" panose="020B0604020202020204" pitchFamily="34" charset="0"/>
              <a:ea typeface="Calibri" panose="020F0502020204030204" pitchFamily="34" charset="0"/>
              <a:cs typeface="Arial" panose="020B0604020202020204" pitchFamily="34" charset="0"/>
            </a:endParaRPr>
          </a:p>
        </p:txBody>
      </p:sp>
      <p:pic>
        <p:nvPicPr>
          <p:cNvPr id="5" name="Picture 4" descr="A graph of blue bars&#10;&#10;AI-generated content may be incorrect.">
            <a:extLst>
              <a:ext uri="{FF2B5EF4-FFF2-40B4-BE49-F238E27FC236}">
                <a16:creationId xmlns:a16="http://schemas.microsoft.com/office/drawing/2014/main" id="{EB4008A8-342E-543B-0A22-746D3A3F705D}"/>
              </a:ext>
            </a:extLst>
          </p:cNvPr>
          <p:cNvPicPr>
            <a:picLocks noChangeAspect="1"/>
          </p:cNvPicPr>
          <p:nvPr/>
        </p:nvPicPr>
        <p:blipFill>
          <a:blip r:embed="rId3"/>
          <a:stretch>
            <a:fillRect/>
          </a:stretch>
        </p:blipFill>
        <p:spPr>
          <a:xfrm>
            <a:off x="-71924" y="1847187"/>
            <a:ext cx="12335848" cy="3837819"/>
          </a:xfrm>
          <a:prstGeom prst="rect">
            <a:avLst/>
          </a:prstGeom>
        </p:spPr>
      </p:pic>
    </p:spTree>
    <p:extLst>
      <p:ext uri="{BB962C8B-B14F-4D97-AF65-F5344CB8AC3E}">
        <p14:creationId xmlns:p14="http://schemas.microsoft.com/office/powerpoint/2010/main" val="221817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10">
                                            <p:txEl>
                                              <p:pRg st="0" end="0"/>
                                            </p:txEl>
                                          </p:spTgt>
                                        </p:tgtEl>
                                        <p:attrNameLst>
                                          <p:attrName>style.visibility</p:attrName>
                                        </p:attrNameLst>
                                      </p:cBhvr>
                                      <p:to>
                                        <p:strVal val="visible"/>
                                      </p:to>
                                    </p:set>
                                    <p:animEffect transition="in" filter="fade">
                                      <p:cBhvr>
                                        <p:cTn id="14" dur="1000"/>
                                        <p:tgtEl>
                                          <p:spTgt spid="10">
                                            <p:txEl>
                                              <p:pRg st="0" end="0"/>
                                            </p:txEl>
                                          </p:spTgt>
                                        </p:tgtEl>
                                      </p:cBhvr>
                                    </p:animEffect>
                                    <p:anim calcmode="lin" valueType="num">
                                      <p:cBhvr>
                                        <p:cTn id="15"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0"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750B6-D5F8-D710-7D75-D7357E5C65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8A0C75E-B436-5B8F-10D2-A9B6945FC9F7}"/>
              </a:ext>
            </a:extLst>
          </p:cNvPr>
          <p:cNvSpPr>
            <a:spLocks noGrp="1"/>
          </p:cNvSpPr>
          <p:nvPr>
            <p:ph type="title"/>
          </p:nvPr>
        </p:nvSpPr>
        <p:spPr>
          <a:xfrm>
            <a:off x="452251" y="671528"/>
            <a:ext cx="9984418" cy="791281"/>
          </a:xfrm>
        </p:spPr>
        <p:txBody>
          <a:bodyPr>
            <a:normAutofit/>
          </a:bodyPr>
          <a:lstStyle/>
          <a:p>
            <a:pPr algn="ctr"/>
            <a:r>
              <a:rPr lang="en-US" b="1" dirty="0">
                <a:latin typeface="Arial" panose="020B0604020202020204" pitchFamily="34" charset="0"/>
                <a:cs typeface="Arial" panose="020B0604020202020204" pitchFamily="34" charset="0"/>
              </a:rPr>
              <a:t>Discussion &amp; Validation (5/5)</a:t>
            </a:r>
          </a:p>
        </p:txBody>
      </p:sp>
      <p:sp>
        <p:nvSpPr>
          <p:cNvPr id="4" name="Slide Number Placeholder 3">
            <a:extLst>
              <a:ext uri="{FF2B5EF4-FFF2-40B4-BE49-F238E27FC236}">
                <a16:creationId xmlns:a16="http://schemas.microsoft.com/office/drawing/2014/main" id="{317AE2FE-5BFE-3B72-0EC3-09F64CE73D0D}"/>
              </a:ext>
            </a:extLst>
          </p:cNvPr>
          <p:cNvSpPr>
            <a:spLocks noGrp="1"/>
          </p:cNvSpPr>
          <p:nvPr>
            <p:ph type="sldNum" sz="quarter" idx="12"/>
          </p:nvPr>
        </p:nvSpPr>
        <p:spPr/>
        <p:txBody>
          <a:bodyPr/>
          <a:lstStyle/>
          <a:p>
            <a:r>
              <a:rPr lang="en-US" dirty="0"/>
              <a:t>27</a:t>
            </a:r>
          </a:p>
        </p:txBody>
      </p:sp>
      <p:sp>
        <p:nvSpPr>
          <p:cNvPr id="7" name="Content Placeholder 3">
            <a:extLst>
              <a:ext uri="{FF2B5EF4-FFF2-40B4-BE49-F238E27FC236}">
                <a16:creationId xmlns:a16="http://schemas.microsoft.com/office/drawing/2014/main" id="{1C64FEF5-775A-8128-C83B-9D8FB117DEBC}"/>
              </a:ext>
            </a:extLst>
          </p:cNvPr>
          <p:cNvSpPr txBox="1">
            <a:spLocks/>
          </p:cNvSpPr>
          <p:nvPr/>
        </p:nvSpPr>
        <p:spPr>
          <a:xfrm>
            <a:off x="452250" y="1462809"/>
            <a:ext cx="9306891" cy="4559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r>
              <a:rPr lang="en-US" sz="2400" b="1" dirty="0">
                <a:latin typeface="Arial" panose="020B0604020202020204" pitchFamily="34" charset="0"/>
                <a:ea typeface="Calibri" panose="020F0502020204030204" pitchFamily="34" charset="0"/>
                <a:cs typeface="Arial" panose="020B0604020202020204" pitchFamily="34" charset="0"/>
              </a:rPr>
              <a:t>Reproduction Success:</a:t>
            </a:r>
          </a:p>
          <a:p>
            <a:pPr lvl="1">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MATLAB simulation accurately implements the "Case 3" nonlinear system.</a:t>
            </a:r>
          </a:p>
          <a:p>
            <a:pPr lvl="1">
              <a:lnSpc>
                <a:spcPct val="107000"/>
              </a:lnSpc>
              <a:spcBef>
                <a:spcPts val="0"/>
              </a:spcBef>
              <a:buFont typeface="Courier New" panose="02070309020205020404" pitchFamily="49" charset="0"/>
              <a:buChar char="o"/>
            </a:pPr>
            <a:r>
              <a:rPr lang="en-US" sz="2200" b="1" dirty="0">
                <a:latin typeface="Arial" panose="020B0604020202020204" pitchFamily="34" charset="0"/>
                <a:ea typeface="Calibri" panose="020F0502020204030204" pitchFamily="34" charset="0"/>
                <a:cs typeface="Arial" panose="020B0604020202020204" pitchFamily="34" charset="0"/>
              </a:rPr>
              <a:t>Requirement</a:t>
            </a:r>
            <a:r>
              <a:rPr lang="en-US" sz="2200" dirty="0">
                <a:latin typeface="Arial" panose="020B0604020202020204" pitchFamily="34" charset="0"/>
                <a:ea typeface="Calibri" panose="020F0502020204030204" pitchFamily="34" charset="0"/>
                <a:cs typeface="Arial" panose="020B0604020202020204" pitchFamily="34" charset="0"/>
              </a:rPr>
              <a:t>: Trajectories for Queue, Window, and RTT are visually and numerically identical to the reference paper's "Pro" results.</a:t>
            </a:r>
          </a:p>
          <a:p>
            <a:pPr>
              <a:lnSpc>
                <a:spcPct val="107000"/>
              </a:lnSpc>
              <a:spcBef>
                <a:spcPts val="0"/>
              </a:spcBef>
            </a:pPr>
            <a:r>
              <a:rPr lang="en-US" sz="2400" b="1" dirty="0">
                <a:latin typeface="Arial" panose="020B0604020202020204" pitchFamily="34" charset="0"/>
                <a:ea typeface="Calibri" panose="020F0502020204030204" pitchFamily="34" charset="0"/>
                <a:cs typeface="Arial" panose="020B0604020202020204" pitchFamily="34" charset="0"/>
              </a:rPr>
              <a:t>Key Validation: </a:t>
            </a:r>
          </a:p>
          <a:p>
            <a:pPr lvl="1">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Confirmed stability without full-state information.</a:t>
            </a:r>
          </a:p>
          <a:p>
            <a:pPr lvl="1">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Confirmed robustness against link capacity disturbances.</a:t>
            </a:r>
          </a:p>
        </p:txBody>
      </p:sp>
      <p:sp>
        <p:nvSpPr>
          <p:cNvPr id="10" name="Content Placeholder 3">
            <a:extLst>
              <a:ext uri="{FF2B5EF4-FFF2-40B4-BE49-F238E27FC236}">
                <a16:creationId xmlns:a16="http://schemas.microsoft.com/office/drawing/2014/main" id="{CC0E8586-DE83-926C-5F23-A3445EDBA90A}"/>
              </a:ext>
            </a:extLst>
          </p:cNvPr>
          <p:cNvSpPr txBox="1">
            <a:spLocks/>
          </p:cNvSpPr>
          <p:nvPr/>
        </p:nvSpPr>
        <p:spPr>
          <a:xfrm>
            <a:off x="3107219" y="1847187"/>
            <a:ext cx="8435076" cy="4559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endParaRPr lang="en-US" sz="2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142016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grpId="0" nodeType="clickEffect">
                                  <p:stCondLst>
                                    <p:cond delay="0"/>
                                  </p:stCondLst>
                                  <p:childTnLst>
                                    <p:set>
                                      <p:cBhvr>
                                        <p:cTn id="23" dur="1" fill="hold">
                                          <p:stCondLst>
                                            <p:cond delay="0"/>
                                          </p:stCondLst>
                                        </p:cTn>
                                        <p:tgtEl>
                                          <p:spTgt spid="7">
                                            <p:txEl>
                                              <p:pRg st="3" end="3"/>
                                            </p:txEl>
                                          </p:spTgt>
                                        </p:tgtEl>
                                        <p:attrNameLst>
                                          <p:attrName>style.visibility</p:attrName>
                                        </p:attrNameLst>
                                      </p:cBhvr>
                                      <p:to>
                                        <p:strVal val="visible"/>
                                      </p:to>
                                    </p:set>
                                    <p:animEffect transition="in" filter="fade">
                                      <p:cBhvr>
                                        <p:cTn id="24" dur="1000"/>
                                        <p:tgtEl>
                                          <p:spTgt spid="7">
                                            <p:txEl>
                                              <p:pRg st="3" end="3"/>
                                            </p:txEl>
                                          </p:spTgt>
                                        </p:tgtEl>
                                      </p:cBhvr>
                                    </p:animEffect>
                                    <p:anim calcmode="lin" valueType="num">
                                      <p:cBhvr>
                                        <p:cTn id="25"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6" dur="1000" fill="hold"/>
                                        <p:tgtEl>
                                          <p:spTgt spid="7">
                                            <p:txEl>
                                              <p:pRg st="3" end="3"/>
                                            </p:txEl>
                                          </p:spTgt>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fade">
                                      <p:cBhvr>
                                        <p:cTn id="29" dur="1000"/>
                                        <p:tgtEl>
                                          <p:spTgt spid="7">
                                            <p:txEl>
                                              <p:pRg st="4" end="4"/>
                                            </p:txEl>
                                          </p:spTgt>
                                        </p:tgtEl>
                                      </p:cBhvr>
                                    </p:animEffect>
                                    <p:anim calcmode="lin" valueType="num">
                                      <p:cBhvr>
                                        <p:cTn id="30"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5" end="5"/>
                                            </p:txEl>
                                          </p:spTgt>
                                        </p:tgtEl>
                                        <p:attrNameLst>
                                          <p:attrName>style.visibility</p:attrName>
                                        </p:attrNameLst>
                                      </p:cBhvr>
                                      <p:to>
                                        <p:strVal val="visible"/>
                                      </p:to>
                                    </p:set>
                                    <p:animEffect transition="in" filter="fade">
                                      <p:cBhvr>
                                        <p:cTn id="34" dur="1000"/>
                                        <p:tgtEl>
                                          <p:spTgt spid="7">
                                            <p:txEl>
                                              <p:pRg st="5" end="5"/>
                                            </p:txEl>
                                          </p:spTgt>
                                        </p:tgtEl>
                                      </p:cBhvr>
                                    </p:animEffect>
                                    <p:anim calcmode="lin" valueType="num">
                                      <p:cBhvr>
                                        <p:cTn id="35"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grpId="0" nodeType="clickEffect" nodePh="1">
                                  <p:stCondLst>
                                    <p:cond delay="0"/>
                                  </p:stCondLst>
                                  <p:endCondLst>
                                    <p:cond evt="begin" delay="0">
                                      <p:tn val="39"/>
                                    </p:cond>
                                  </p:endCondLst>
                                  <p:childTnLst>
                                    <p:set>
                                      <p:cBhvr>
                                        <p:cTn id="40" dur="1" fill="hold">
                                          <p:stCondLst>
                                            <p:cond delay="0"/>
                                          </p:stCondLst>
                                        </p:cTn>
                                        <p:tgtEl>
                                          <p:spTgt spid="10">
                                            <p:txEl>
                                              <p:pRg st="0" end="0"/>
                                            </p:txEl>
                                          </p:spTgt>
                                        </p:tgtEl>
                                        <p:attrNameLst>
                                          <p:attrName>style.visibility</p:attrName>
                                        </p:attrNameLst>
                                      </p:cBhvr>
                                      <p:to>
                                        <p:strVal val="visible"/>
                                      </p:to>
                                    </p:set>
                                    <p:animEffect transition="in" filter="fade">
                                      <p:cBhvr>
                                        <p:cTn id="41" dur="1000"/>
                                        <p:tgtEl>
                                          <p:spTgt spid="10">
                                            <p:txEl>
                                              <p:pRg st="0" end="0"/>
                                            </p:txEl>
                                          </p:spTgt>
                                        </p:tgtEl>
                                      </p:cBhvr>
                                    </p:animEffect>
                                    <p:anim calcmode="lin" valueType="num">
                                      <p:cBhvr>
                                        <p:cTn id="4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0"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B8E2B-96CE-4A1B-AB99-53F68B4474C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2C0443A-3A23-92C5-F30C-D58BC1A5E6C8}"/>
              </a:ext>
            </a:extLst>
          </p:cNvPr>
          <p:cNvPicPr>
            <a:picLocks noChangeAspect="1"/>
          </p:cNvPicPr>
          <p:nvPr/>
        </p:nvPicPr>
        <p:blipFill>
          <a:blip r:embed="rId3"/>
          <a:stretch>
            <a:fillRect/>
          </a:stretch>
        </p:blipFill>
        <p:spPr>
          <a:xfrm>
            <a:off x="452249" y="1140275"/>
            <a:ext cx="10789920" cy="5717725"/>
          </a:xfrm>
          <a:prstGeom prst="rect">
            <a:avLst/>
          </a:prstGeom>
        </p:spPr>
      </p:pic>
      <p:sp>
        <p:nvSpPr>
          <p:cNvPr id="2" name="Title 1">
            <a:extLst>
              <a:ext uri="{FF2B5EF4-FFF2-40B4-BE49-F238E27FC236}">
                <a16:creationId xmlns:a16="http://schemas.microsoft.com/office/drawing/2014/main" id="{24C3F67E-F290-D7B0-E6CF-3526F331985C}"/>
              </a:ext>
            </a:extLst>
          </p:cNvPr>
          <p:cNvSpPr>
            <a:spLocks noGrp="1"/>
          </p:cNvSpPr>
          <p:nvPr>
            <p:ph type="title"/>
          </p:nvPr>
        </p:nvSpPr>
        <p:spPr>
          <a:xfrm>
            <a:off x="452251" y="671528"/>
            <a:ext cx="9984418" cy="791281"/>
          </a:xfrm>
        </p:spPr>
        <p:txBody>
          <a:bodyPr>
            <a:normAutofit fontScale="90000"/>
          </a:bodyPr>
          <a:lstStyle/>
          <a:p>
            <a:pPr algn="ctr"/>
            <a:r>
              <a:rPr lang="en-GB" b="1" dirty="0">
                <a:latin typeface="Arial" panose="020B0604020202020204" pitchFamily="34" charset="0"/>
                <a:cs typeface="Arial" panose="020B0604020202020204" pitchFamily="34" charset="0"/>
              </a:rPr>
              <a:t>Extension: H infinity SOF AQM vs PI AQM</a:t>
            </a:r>
            <a:br>
              <a:rPr lang="en-US" b="1" dirty="0">
                <a:latin typeface="Arial" panose="020B0604020202020204" pitchFamily="34" charset="0"/>
                <a:cs typeface="Arial" panose="020B0604020202020204" pitchFamily="34" charset="0"/>
              </a:rPr>
            </a:br>
            <a:br>
              <a:rPr lang="en-US" b="1" dirty="0">
                <a:latin typeface="Arial" panose="020B0604020202020204" pitchFamily="34" charset="0"/>
                <a:cs typeface="Arial" panose="020B0604020202020204" pitchFamily="34" charset="0"/>
              </a:rPr>
            </a:br>
            <a:endParaRPr lang="en-US" b="1"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26F42C1-F7C8-41D4-3DCE-B812EC2CDB31}"/>
              </a:ext>
            </a:extLst>
          </p:cNvPr>
          <p:cNvSpPr>
            <a:spLocks noGrp="1"/>
          </p:cNvSpPr>
          <p:nvPr>
            <p:ph type="sldNum" sz="quarter" idx="12"/>
          </p:nvPr>
        </p:nvSpPr>
        <p:spPr/>
        <p:txBody>
          <a:bodyPr/>
          <a:lstStyle/>
          <a:p>
            <a:r>
              <a:rPr lang="en-US" dirty="0"/>
              <a:t>28</a:t>
            </a:r>
          </a:p>
        </p:txBody>
      </p:sp>
      <p:sp>
        <p:nvSpPr>
          <p:cNvPr id="7" name="Content Placeholder 3">
            <a:extLst>
              <a:ext uri="{FF2B5EF4-FFF2-40B4-BE49-F238E27FC236}">
                <a16:creationId xmlns:a16="http://schemas.microsoft.com/office/drawing/2014/main" id="{BCE2AEC9-E061-70CD-642C-514D4E689182}"/>
              </a:ext>
            </a:extLst>
          </p:cNvPr>
          <p:cNvSpPr txBox="1">
            <a:spLocks/>
          </p:cNvSpPr>
          <p:nvPr/>
        </p:nvSpPr>
        <p:spPr>
          <a:xfrm>
            <a:off x="452250" y="1462809"/>
            <a:ext cx="9306891" cy="4559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endParaRPr lang="en-US" sz="2200" b="1" dirty="0">
              <a:latin typeface="Arial" panose="020B0604020202020204" pitchFamily="34" charset="0"/>
              <a:ea typeface="Calibri" panose="020F0502020204030204" pitchFamily="34" charset="0"/>
              <a:cs typeface="Arial" panose="020B0604020202020204" pitchFamily="34" charset="0"/>
            </a:endParaRPr>
          </a:p>
        </p:txBody>
      </p:sp>
      <p:sp>
        <p:nvSpPr>
          <p:cNvPr id="10" name="Content Placeholder 3">
            <a:extLst>
              <a:ext uri="{FF2B5EF4-FFF2-40B4-BE49-F238E27FC236}">
                <a16:creationId xmlns:a16="http://schemas.microsoft.com/office/drawing/2014/main" id="{55317F39-D8E2-F097-1DAA-712B2946CC8E}"/>
              </a:ext>
            </a:extLst>
          </p:cNvPr>
          <p:cNvSpPr txBox="1">
            <a:spLocks/>
          </p:cNvSpPr>
          <p:nvPr/>
        </p:nvSpPr>
        <p:spPr>
          <a:xfrm>
            <a:off x="3107219" y="1847187"/>
            <a:ext cx="8435076" cy="4559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endParaRPr lang="en-US" sz="2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978589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nodePh="1">
                                  <p:stCondLst>
                                    <p:cond delay="0"/>
                                  </p:stCondLst>
                                  <p:endCondLst>
                                    <p:cond evt="begin" delay="0">
                                      <p:tn val="5"/>
                                    </p:cond>
                                  </p:end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10">
                                            <p:txEl>
                                              <p:pRg st="0" end="0"/>
                                            </p:txEl>
                                          </p:spTgt>
                                        </p:tgtEl>
                                        <p:attrNameLst>
                                          <p:attrName>style.visibility</p:attrName>
                                        </p:attrNameLst>
                                      </p:cBhvr>
                                      <p:to>
                                        <p:strVal val="visible"/>
                                      </p:to>
                                    </p:set>
                                    <p:animEffect transition="in" filter="fade">
                                      <p:cBhvr>
                                        <p:cTn id="14" dur="1000"/>
                                        <p:tgtEl>
                                          <p:spTgt spid="10">
                                            <p:txEl>
                                              <p:pRg st="0" end="0"/>
                                            </p:txEl>
                                          </p:spTgt>
                                        </p:tgtEl>
                                      </p:cBhvr>
                                    </p:animEffect>
                                    <p:anim calcmode="lin" valueType="num">
                                      <p:cBhvr>
                                        <p:cTn id="15"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0" grpId="0" uiExpand="1"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B89C1C-9DB6-215F-E426-436B202F286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9FE0C77-7808-05B7-A95E-CA2BC4E34A0C}"/>
              </a:ext>
            </a:extLst>
          </p:cNvPr>
          <p:cNvSpPr/>
          <p:nvPr/>
        </p:nvSpPr>
        <p:spPr>
          <a:xfrm>
            <a:off x="1059366" y="4382430"/>
            <a:ext cx="8586439" cy="1527716"/>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D890D6-4D9C-654B-56D0-38F71FC8F2DA}"/>
              </a:ext>
            </a:extLst>
          </p:cNvPr>
          <p:cNvSpPr>
            <a:spLocks noGrp="1"/>
          </p:cNvSpPr>
          <p:nvPr>
            <p:ph type="title"/>
          </p:nvPr>
        </p:nvSpPr>
        <p:spPr>
          <a:xfrm>
            <a:off x="452251" y="671528"/>
            <a:ext cx="9984418" cy="791281"/>
          </a:xfrm>
        </p:spPr>
        <p:txBody>
          <a:bodyPr>
            <a:normAutofit/>
          </a:bodyPr>
          <a:lstStyle/>
          <a:p>
            <a:pPr algn="ctr"/>
            <a:r>
              <a:rPr lang="en-US" b="1" dirty="0">
                <a:latin typeface="Arial" panose="020B0604020202020204" pitchFamily="34" charset="0"/>
                <a:cs typeface="Arial" panose="020B0604020202020204" pitchFamily="34" charset="0"/>
              </a:rPr>
              <a:t>Conclusion</a:t>
            </a:r>
          </a:p>
        </p:txBody>
      </p:sp>
      <p:sp>
        <p:nvSpPr>
          <p:cNvPr id="4" name="Slide Number Placeholder 3">
            <a:extLst>
              <a:ext uri="{FF2B5EF4-FFF2-40B4-BE49-F238E27FC236}">
                <a16:creationId xmlns:a16="http://schemas.microsoft.com/office/drawing/2014/main" id="{9107AB42-740D-C5D5-AB42-EA3F05B72D4E}"/>
              </a:ext>
            </a:extLst>
          </p:cNvPr>
          <p:cNvSpPr>
            <a:spLocks noGrp="1"/>
          </p:cNvSpPr>
          <p:nvPr>
            <p:ph type="sldNum" sz="quarter" idx="12"/>
          </p:nvPr>
        </p:nvSpPr>
        <p:spPr>
          <a:xfrm>
            <a:off x="10643318" y="6022109"/>
            <a:ext cx="1096432" cy="716887"/>
          </a:xfrm>
        </p:spPr>
        <p:txBody>
          <a:bodyPr/>
          <a:lstStyle/>
          <a:p>
            <a:r>
              <a:rPr lang="en-US" dirty="0">
                <a:solidFill>
                  <a:schemeClr val="bg1"/>
                </a:solidFill>
              </a:rPr>
              <a:t>29</a:t>
            </a:r>
          </a:p>
        </p:txBody>
      </p:sp>
      <mc:AlternateContent xmlns:mc="http://schemas.openxmlformats.org/markup-compatibility/2006" xmlns:a14="http://schemas.microsoft.com/office/drawing/2010/main">
        <mc:Choice Requires="a14">
          <p:sp>
            <p:nvSpPr>
              <p:cNvPr id="7" name="Content Placeholder 3">
                <a:extLst>
                  <a:ext uri="{FF2B5EF4-FFF2-40B4-BE49-F238E27FC236}">
                    <a16:creationId xmlns:a16="http://schemas.microsoft.com/office/drawing/2014/main" id="{6FE12DA6-0F50-3270-6CB1-078270DD9E79}"/>
                  </a:ext>
                </a:extLst>
              </p:cNvPr>
              <p:cNvSpPr txBox="1">
                <a:spLocks/>
              </p:cNvSpPr>
              <p:nvPr/>
            </p:nvSpPr>
            <p:spPr>
              <a:xfrm>
                <a:off x="452250" y="1462809"/>
                <a:ext cx="9306891" cy="4559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r>
                  <a:rPr lang="en-US" sz="2400" b="1" dirty="0">
                    <a:latin typeface="Arial" panose="020B0604020202020204" pitchFamily="34" charset="0"/>
                    <a:ea typeface="Calibri" panose="020F0502020204030204" pitchFamily="34" charset="0"/>
                    <a:cs typeface="Arial" panose="020B0604020202020204" pitchFamily="34" charset="0"/>
                  </a:rPr>
                  <a:t>Summary:</a:t>
                </a:r>
              </a:p>
              <a:p>
                <a:pPr lvl="1">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MATLAB Reproduced an </a:t>
                </a:r>
                <a14:m>
                  <m:oMath xmlns:m="http://schemas.openxmlformats.org/officeDocument/2006/math">
                    <m:sSub>
                      <m:sSubPr>
                        <m:ctrlPr>
                          <a:rPr lang="en-US" sz="2400" b="1" i="1">
                            <a:latin typeface="Cambria Math" panose="02040503050406030204" pitchFamily="18" charset="0"/>
                          </a:rPr>
                        </m:ctrlPr>
                      </m:sSubPr>
                      <m:e>
                        <m:r>
                          <a:rPr lang="en-US" sz="2400" b="1" i="1">
                            <a:latin typeface="Cambria Math" panose="02040503050406030204" pitchFamily="18" charset="0"/>
                          </a:rPr>
                          <m:t>𝑯</m:t>
                        </m:r>
                      </m:e>
                      <m:sub>
                        <m:r>
                          <m:rPr>
                            <m:nor/>
                          </m:rPr>
                          <a:rPr lang="en-US" sz="2400" b="1">
                            <a:ea typeface="Cambria Math" panose="02040503050406030204" pitchFamily="18" charset="0"/>
                          </a:rPr>
                          <m:t>∞</m:t>
                        </m:r>
                      </m:sub>
                    </m:sSub>
                    <m:r>
                      <a:rPr lang="en-US" sz="2400" b="1" i="1">
                        <a:latin typeface="Cambria Math" panose="02040503050406030204" pitchFamily="18" charset="0"/>
                        <a:ea typeface="Cambria Math" panose="02040503050406030204" pitchFamily="18" charset="0"/>
                      </a:rPr>
                      <m:t> </m:t>
                    </m:r>
                  </m:oMath>
                </a14:m>
                <a:r>
                  <a:rPr lang="en-US" sz="2200" dirty="0">
                    <a:latin typeface="Arial" panose="020B0604020202020204" pitchFamily="34" charset="0"/>
                    <a:ea typeface="Calibri" panose="020F0502020204030204" pitchFamily="34" charset="0"/>
                    <a:cs typeface="Arial" panose="020B0604020202020204" pitchFamily="34" charset="0"/>
                  </a:rPr>
                  <a:t>SOF controller for TCP/AQM routers.</a:t>
                </a:r>
              </a:p>
              <a:p>
                <a:pPr lvl="1">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Validated the theoretical LMI conditions for </a:t>
                </a:r>
                <a:r>
                  <a:rPr lang="en-US" sz="2200" b="1" dirty="0">
                    <a:latin typeface="Arial" panose="020B0604020202020204" pitchFamily="34" charset="0"/>
                    <a:ea typeface="Calibri" panose="020F0502020204030204" pitchFamily="34" charset="0"/>
                    <a:cs typeface="Arial" panose="020B0604020202020204" pitchFamily="34" charset="0"/>
                  </a:rPr>
                  <a:t>Case 3 (</a:t>
                </a:r>
                <a:r>
                  <a:rPr lang="en-US" sz="2200" b="1" i="1" dirty="0">
                    <a:latin typeface="Arial" panose="020B0604020202020204" pitchFamily="34" charset="0"/>
                    <a:ea typeface="Calibri" panose="020F0502020204030204" pitchFamily="34" charset="0"/>
                    <a:cs typeface="Arial" panose="020B0604020202020204" pitchFamily="34" charset="0"/>
                  </a:rPr>
                  <a:t>h = d</a:t>
                </a:r>
                <a:r>
                  <a:rPr lang="en-US" sz="2200" b="1" dirty="0">
                    <a:latin typeface="Arial" panose="020B0604020202020204" pitchFamily="34" charset="0"/>
                    <a:ea typeface="Calibri" panose="020F0502020204030204" pitchFamily="34" charset="0"/>
                    <a:cs typeface="Arial" panose="020B0604020202020204" pitchFamily="34" charset="0"/>
                  </a:rPr>
                  <a:t>).</a:t>
                </a:r>
              </a:p>
              <a:p>
                <a:pPr lvl="1">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Demonstrated effective stabilization and disturbance rejection.</a:t>
                </a:r>
              </a:p>
              <a:p>
                <a:pPr>
                  <a:lnSpc>
                    <a:spcPct val="107000"/>
                  </a:lnSpc>
                  <a:spcBef>
                    <a:spcPts val="0"/>
                  </a:spcBef>
                </a:pPr>
                <a:r>
                  <a:rPr lang="en-US" sz="2400" b="1" dirty="0">
                    <a:latin typeface="Arial" panose="020B0604020202020204" pitchFamily="34" charset="0"/>
                    <a:ea typeface="Calibri" panose="020F0502020204030204" pitchFamily="34" charset="0"/>
                    <a:cs typeface="Arial" panose="020B0604020202020204" pitchFamily="34" charset="0"/>
                  </a:rPr>
                  <a:t>Impact: </a:t>
                </a:r>
                <a:endParaRPr lang="en-US" sz="2200" dirty="0">
                  <a:latin typeface="Arial" panose="020B0604020202020204" pitchFamily="34" charset="0"/>
                  <a:ea typeface="Calibri" panose="020F0502020204030204" pitchFamily="34" charset="0"/>
                  <a:cs typeface="Arial" panose="020B0604020202020204" pitchFamily="34" charset="0"/>
                </a:endParaRPr>
              </a:p>
              <a:p>
                <a:pPr lvl="1">
                  <a:lnSpc>
                    <a:spcPct val="107000"/>
                  </a:lnSpc>
                  <a:spcBef>
                    <a:spcPts val="0"/>
                  </a:spcBef>
                  <a:buFont typeface="Courier New" panose="02070309020205020404" pitchFamily="49" charset="0"/>
                  <a:buChar char="o"/>
                </a:pPr>
                <a:r>
                  <a:rPr lang="en-US" sz="2200" dirty="0">
                    <a:latin typeface="Arial" panose="020B0604020202020204" pitchFamily="34" charset="0"/>
                    <a:ea typeface="Calibri" panose="020F0502020204030204" pitchFamily="34" charset="0"/>
                    <a:cs typeface="Arial" panose="020B0604020202020204" pitchFamily="34" charset="0"/>
                  </a:rPr>
                  <a:t>Provides a practical, low-complexity solution for high-speed routers</a:t>
                </a:r>
              </a:p>
              <a:p>
                <a:pPr lvl="1">
                  <a:lnSpc>
                    <a:spcPct val="107000"/>
                  </a:lnSpc>
                  <a:spcBef>
                    <a:spcPts val="0"/>
                  </a:spcBef>
                  <a:buFont typeface="Courier New" panose="02070309020205020404" pitchFamily="49" charset="0"/>
                  <a:buChar char="o"/>
                </a:pPr>
                <a:endParaRPr lang="en-US" sz="2200" dirty="0">
                  <a:latin typeface="Arial" panose="020B0604020202020204" pitchFamily="34" charset="0"/>
                  <a:ea typeface="Calibri" panose="020F0502020204030204" pitchFamily="34" charset="0"/>
                  <a:cs typeface="Arial" panose="020B0604020202020204" pitchFamily="34" charset="0"/>
                </a:endParaRPr>
              </a:p>
              <a:p>
                <a:pPr lvl="1">
                  <a:lnSpc>
                    <a:spcPct val="107000"/>
                  </a:lnSpc>
                  <a:spcBef>
                    <a:spcPts val="0"/>
                  </a:spcBef>
                  <a:buFont typeface="Courier New" panose="02070309020205020404" pitchFamily="49" charset="0"/>
                  <a:buChar char="o"/>
                </a:pPr>
                <a:endParaRPr lang="en-US" sz="2200" dirty="0">
                  <a:latin typeface="Arial" panose="020B0604020202020204" pitchFamily="34" charset="0"/>
                  <a:ea typeface="Calibri" panose="020F0502020204030204" pitchFamily="34" charset="0"/>
                  <a:cs typeface="Arial" panose="020B0604020202020204" pitchFamily="34" charset="0"/>
                </a:endParaRPr>
              </a:p>
              <a:p>
                <a:pPr marL="457200" lvl="1" indent="0" algn="ctr">
                  <a:lnSpc>
                    <a:spcPct val="107000"/>
                  </a:lnSpc>
                  <a:spcBef>
                    <a:spcPts val="0"/>
                  </a:spcBef>
                  <a:buNone/>
                </a:pPr>
                <a:r>
                  <a:rPr lang="en-US" sz="2200" b="1" dirty="0">
                    <a:solidFill>
                      <a:schemeClr val="bg1"/>
                    </a:solidFill>
                    <a:latin typeface="Arial" panose="020B0604020202020204" pitchFamily="34" charset="0"/>
                    <a:ea typeface="Calibri" panose="020F0502020204030204" pitchFamily="34" charset="0"/>
                    <a:cs typeface="Arial" panose="020B0604020202020204" pitchFamily="34" charset="0"/>
                  </a:rPr>
                  <a:t>In conclusion, we have successfully implemented and validated a robust controller that is both effective and simple enough for real-world application. It stabilizes the queue and rejects disturbances using only local measurements.</a:t>
                </a:r>
              </a:p>
            </p:txBody>
          </p:sp>
        </mc:Choice>
        <mc:Fallback xmlns="">
          <p:sp>
            <p:nvSpPr>
              <p:cNvPr id="7" name="Content Placeholder 3">
                <a:extLst>
                  <a:ext uri="{FF2B5EF4-FFF2-40B4-BE49-F238E27FC236}">
                    <a16:creationId xmlns:a16="http://schemas.microsoft.com/office/drawing/2014/main" id="{6FE12DA6-0F50-3270-6CB1-078270DD9E79}"/>
                  </a:ext>
                </a:extLst>
              </p:cNvPr>
              <p:cNvSpPr txBox="1">
                <a:spLocks noRot="1" noChangeAspect="1" noMove="1" noResize="1" noEditPoints="1" noAdjustHandles="1" noChangeArrowheads="1" noChangeShapeType="1" noTextEdit="1"/>
              </p:cNvSpPr>
              <p:nvPr/>
            </p:nvSpPr>
            <p:spPr>
              <a:xfrm>
                <a:off x="452250" y="1462809"/>
                <a:ext cx="9306891" cy="4559300"/>
              </a:xfrm>
              <a:prstGeom prst="rect">
                <a:avLst/>
              </a:prstGeom>
              <a:blipFill>
                <a:blip r:embed="rId3"/>
                <a:stretch>
                  <a:fillRect l="-524" t="-1070" r="-720" b="-535"/>
                </a:stretch>
              </a:blipFill>
            </p:spPr>
            <p:txBody>
              <a:bodyPr/>
              <a:lstStyle/>
              <a:p>
                <a:r>
                  <a:rPr lang="en-US">
                    <a:noFill/>
                  </a:rPr>
                  <a:t> </a:t>
                </a:r>
              </a:p>
            </p:txBody>
          </p:sp>
        </mc:Fallback>
      </mc:AlternateContent>
      <p:sp>
        <p:nvSpPr>
          <p:cNvPr id="10" name="Content Placeholder 3">
            <a:extLst>
              <a:ext uri="{FF2B5EF4-FFF2-40B4-BE49-F238E27FC236}">
                <a16:creationId xmlns:a16="http://schemas.microsoft.com/office/drawing/2014/main" id="{7FE8454C-B1A7-8FC6-B90B-FA2D9BD266AA}"/>
              </a:ext>
            </a:extLst>
          </p:cNvPr>
          <p:cNvSpPr txBox="1">
            <a:spLocks/>
          </p:cNvSpPr>
          <p:nvPr/>
        </p:nvSpPr>
        <p:spPr>
          <a:xfrm>
            <a:off x="3107219" y="1847187"/>
            <a:ext cx="8435076" cy="4559300"/>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lnSpc>
                <a:spcPct val="107000"/>
              </a:lnSpc>
              <a:spcBef>
                <a:spcPts val="0"/>
              </a:spcBef>
            </a:pPr>
            <a:endParaRPr lang="en-US" sz="2200" dirty="0">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245266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1000"/>
                                        <p:tgtEl>
                                          <p:spTgt spid="7">
                                            <p:txEl>
                                              <p:pRg st="0" end="0"/>
                                            </p:txEl>
                                          </p:spTgt>
                                        </p:tgtEl>
                                      </p:cBhvr>
                                    </p:animEffect>
                                    <p:anim calcmode="lin" valueType="num">
                                      <p:cBhvr>
                                        <p:cTn id="8"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7">
                                            <p:txEl>
                                              <p:pRg st="0" end="0"/>
                                            </p:txEl>
                                          </p:spTgt>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fade">
                                      <p:cBhvr>
                                        <p:cTn id="12" dur="1000"/>
                                        <p:tgtEl>
                                          <p:spTgt spid="7">
                                            <p:txEl>
                                              <p:pRg st="1" end="1"/>
                                            </p:txEl>
                                          </p:spTgt>
                                        </p:tgtEl>
                                      </p:cBhvr>
                                    </p:animEffect>
                                    <p:anim calcmode="lin" valueType="num">
                                      <p:cBhvr>
                                        <p:cTn id="13"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7">
                                            <p:txEl>
                                              <p:pRg st="1" end="1"/>
                                            </p:txEl>
                                          </p:spTgt>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fade">
                                      <p:cBhvr>
                                        <p:cTn id="17" dur="1000"/>
                                        <p:tgtEl>
                                          <p:spTgt spid="7">
                                            <p:txEl>
                                              <p:pRg st="2" end="2"/>
                                            </p:txEl>
                                          </p:spTgt>
                                        </p:tgtEl>
                                      </p:cBhvr>
                                    </p:animEffect>
                                    <p:anim calcmode="lin" valueType="num">
                                      <p:cBhvr>
                                        <p:cTn id="18"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7">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grpId="0" nodeType="with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fade">
                                      <p:cBhvr>
                                        <p:cTn id="22" dur="1000"/>
                                        <p:tgtEl>
                                          <p:spTgt spid="7">
                                            <p:txEl>
                                              <p:pRg st="3" end="3"/>
                                            </p:txEl>
                                          </p:spTgt>
                                        </p:tgtEl>
                                      </p:cBhvr>
                                    </p:animEffect>
                                    <p:anim calcmode="lin" valueType="num">
                                      <p:cBhvr>
                                        <p:cTn id="23"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grpId="0" nodeType="clickEffect">
                                  <p:stCondLst>
                                    <p:cond delay="0"/>
                                  </p:stCondLst>
                                  <p:childTnLst>
                                    <p:set>
                                      <p:cBhvr>
                                        <p:cTn id="28" dur="1" fill="hold">
                                          <p:stCondLst>
                                            <p:cond delay="0"/>
                                          </p:stCondLst>
                                        </p:cTn>
                                        <p:tgtEl>
                                          <p:spTgt spid="7">
                                            <p:txEl>
                                              <p:pRg st="4" end="4"/>
                                            </p:txEl>
                                          </p:spTgt>
                                        </p:tgtEl>
                                        <p:attrNameLst>
                                          <p:attrName>style.visibility</p:attrName>
                                        </p:attrNameLst>
                                      </p:cBhvr>
                                      <p:to>
                                        <p:strVal val="visible"/>
                                      </p:to>
                                    </p:set>
                                    <p:animEffect transition="in" filter="fade">
                                      <p:cBhvr>
                                        <p:cTn id="29" dur="1000"/>
                                        <p:tgtEl>
                                          <p:spTgt spid="7">
                                            <p:txEl>
                                              <p:pRg st="4" end="4"/>
                                            </p:txEl>
                                          </p:spTgt>
                                        </p:tgtEl>
                                      </p:cBhvr>
                                    </p:animEffect>
                                    <p:anim calcmode="lin" valueType="num">
                                      <p:cBhvr>
                                        <p:cTn id="30"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31" dur="1000" fill="hold"/>
                                        <p:tgtEl>
                                          <p:spTgt spid="7">
                                            <p:txEl>
                                              <p:pRg st="4" end="4"/>
                                            </p:txEl>
                                          </p:spTgt>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7">
                                            <p:txEl>
                                              <p:pRg st="5" end="5"/>
                                            </p:txEl>
                                          </p:spTgt>
                                        </p:tgtEl>
                                        <p:attrNameLst>
                                          <p:attrName>style.visibility</p:attrName>
                                        </p:attrNameLst>
                                      </p:cBhvr>
                                      <p:to>
                                        <p:strVal val="visible"/>
                                      </p:to>
                                    </p:set>
                                    <p:animEffect transition="in" filter="fade">
                                      <p:cBhvr>
                                        <p:cTn id="34" dur="1000"/>
                                        <p:tgtEl>
                                          <p:spTgt spid="7">
                                            <p:txEl>
                                              <p:pRg st="5" end="5"/>
                                            </p:txEl>
                                          </p:spTgt>
                                        </p:tgtEl>
                                      </p:cBhvr>
                                    </p:animEffect>
                                    <p:anim calcmode="lin" valueType="num">
                                      <p:cBhvr>
                                        <p:cTn id="35"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36" dur="1000" fill="hold"/>
                                        <p:tgtEl>
                                          <p:spTgt spid="7">
                                            <p:txEl>
                                              <p:pRg st="5" end="5"/>
                                            </p:txEl>
                                          </p:spTgt>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animEffect transition="in" filter="fade">
                                      <p:cBhvr>
                                        <p:cTn id="39" dur="1000"/>
                                        <p:tgtEl>
                                          <p:spTgt spid="7">
                                            <p:txEl>
                                              <p:pRg st="8" end="8"/>
                                            </p:txEl>
                                          </p:spTgt>
                                        </p:tgtEl>
                                      </p:cBhvr>
                                    </p:animEffect>
                                    <p:anim calcmode="lin" valueType="num">
                                      <p:cBhvr>
                                        <p:cTn id="40" dur="1000" fill="hold"/>
                                        <p:tgtEl>
                                          <p:spTgt spid="7">
                                            <p:txEl>
                                              <p:pRg st="8" end="8"/>
                                            </p:txEl>
                                          </p:spTgt>
                                        </p:tgtEl>
                                        <p:attrNameLst>
                                          <p:attrName>ppt_x</p:attrName>
                                        </p:attrNameLst>
                                      </p:cBhvr>
                                      <p:tavLst>
                                        <p:tav tm="0">
                                          <p:val>
                                            <p:strVal val="#ppt_x"/>
                                          </p:val>
                                        </p:tav>
                                        <p:tav tm="100000">
                                          <p:val>
                                            <p:strVal val="#ppt_x"/>
                                          </p:val>
                                        </p:tav>
                                      </p:tavLst>
                                    </p:anim>
                                    <p:anim calcmode="lin" valueType="num">
                                      <p:cBhvr>
                                        <p:cTn id="41" dur="1000" fill="hold"/>
                                        <p:tgtEl>
                                          <p:spTgt spid="7">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nodePh="1">
                                  <p:stCondLst>
                                    <p:cond delay="0"/>
                                  </p:stCondLst>
                                  <p:endCondLst>
                                    <p:cond evt="begin" delay="0">
                                      <p:tn val="44"/>
                                    </p:cond>
                                  </p:endCondLst>
                                  <p:childTnLst>
                                    <p:set>
                                      <p:cBhvr>
                                        <p:cTn id="45" dur="1" fill="hold">
                                          <p:stCondLst>
                                            <p:cond delay="0"/>
                                          </p:stCondLst>
                                        </p:cTn>
                                        <p:tgtEl>
                                          <p:spTgt spid="10">
                                            <p:txEl>
                                              <p:pRg st="0" end="0"/>
                                            </p:txEl>
                                          </p:spTgt>
                                        </p:tgtEl>
                                        <p:attrNameLst>
                                          <p:attrName>style.visibility</p:attrName>
                                        </p:attrNameLst>
                                      </p:cBhvr>
                                      <p:to>
                                        <p:strVal val="visible"/>
                                      </p:to>
                                    </p:set>
                                    <p:animEffect transition="in" filter="fade">
                                      <p:cBhvr>
                                        <p:cTn id="46" dur="1000"/>
                                        <p:tgtEl>
                                          <p:spTgt spid="10">
                                            <p:txEl>
                                              <p:pRg st="0" end="0"/>
                                            </p:txEl>
                                          </p:spTgt>
                                        </p:tgtEl>
                                      </p:cBhvr>
                                    </p:animEffect>
                                    <p:anim calcmode="lin" valueType="num">
                                      <p:cBhvr>
                                        <p:cTn id="47"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48"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uiExpand="1" build="p"/>
      <p:bldP spid="10"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2CA7103-BD4E-458A-15AA-050DF64B1D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9" name="Title 1">
            <a:extLst>
              <a:ext uri="{FF2B5EF4-FFF2-40B4-BE49-F238E27FC236}">
                <a16:creationId xmlns:a16="http://schemas.microsoft.com/office/drawing/2014/main" id="{A64EE789-8CA7-227F-8B87-F76318B7D0B4}"/>
              </a:ext>
            </a:extLst>
          </p:cNvPr>
          <p:cNvSpPr>
            <a:spLocks noGrp="1"/>
          </p:cNvSpPr>
          <p:nvPr>
            <p:ph type="title"/>
          </p:nvPr>
        </p:nvSpPr>
        <p:spPr>
          <a:xfrm>
            <a:off x="1797666" y="4267200"/>
            <a:ext cx="8596668" cy="1320800"/>
          </a:xfrm>
        </p:spPr>
        <p:txBody>
          <a:bodyPr/>
          <a:lstStyle/>
          <a:p>
            <a:pPr algn="ctr"/>
            <a:r>
              <a:rPr lang="en-US" dirty="0">
                <a:solidFill>
                  <a:schemeClr val="bg1"/>
                </a:solidFill>
                <a:latin typeface="Arial" panose="020B0604020202020204" pitchFamily="34" charset="0"/>
                <a:cs typeface="Arial" panose="020B0604020202020204" pitchFamily="34" charset="0"/>
              </a:rPr>
              <a:t>Any Questions?</a:t>
            </a:r>
          </a:p>
        </p:txBody>
      </p:sp>
    </p:spTree>
    <p:extLst>
      <p:ext uri="{BB962C8B-B14F-4D97-AF65-F5344CB8AC3E}">
        <p14:creationId xmlns:p14="http://schemas.microsoft.com/office/powerpoint/2010/main" val="335138200"/>
      </p:ext>
    </p:extLst>
  </p:cSld>
  <p:clrMapOvr>
    <a:masterClrMapping/>
  </p:clrMapOvr>
</p:sld>
</file>

<file path=ppt/theme/theme1.xml><?xml version="1.0" encoding="utf-8"?>
<a:theme xmlns:a="http://schemas.openxmlformats.org/drawingml/2006/main" name="Facet">
  <a:themeElements>
    <a:clrScheme name="Violet II">
      <a:dk1>
        <a:sysClr val="windowText" lastClr="000000"/>
      </a:dk1>
      <a:lt1>
        <a:sysClr val="window" lastClr="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2209</TotalTime>
  <Words>2864</Words>
  <Application>Microsoft Office PowerPoint</Application>
  <PresentationFormat>Widescreen</PresentationFormat>
  <Paragraphs>313</Paragraphs>
  <Slides>32</Slides>
  <Notes>28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32</vt:i4>
      </vt:variant>
    </vt:vector>
  </HeadingPairs>
  <TitlesOfParts>
    <vt:vector size="40" baseType="lpstr">
      <vt:lpstr>Arial</vt:lpstr>
      <vt:lpstr>Calibri</vt:lpstr>
      <vt:lpstr>Cambria Math</vt:lpstr>
      <vt:lpstr>Courier New</vt:lpstr>
      <vt:lpstr>Inter</vt:lpstr>
      <vt:lpstr>Trebuchet MS</vt:lpstr>
      <vt:lpstr>Wingdings 3</vt:lpstr>
      <vt:lpstr>Facet</vt:lpstr>
      <vt:lpstr>PowerPoint Presentation</vt:lpstr>
      <vt:lpstr>Robust H_"∞"   Static Output Feedback for TCP-AQM Routers</vt:lpstr>
      <vt:lpstr>Contents</vt:lpstr>
      <vt:lpstr>Introduction &amp; Motivation</vt:lpstr>
      <vt:lpstr>Problem Statement</vt:lpstr>
      <vt:lpstr>System Modeling (Nonlinear Fluid Model)</vt:lpstr>
      <vt:lpstr>Linearization &amp; State-Space Model</vt:lpstr>
      <vt:lpstr>Linearized State-Space Model</vt:lpstr>
      <vt:lpstr>Controller Design (Case 3)</vt:lpstr>
      <vt:lpstr>Theoretical Framework (LMI)</vt:lpstr>
      <vt:lpstr>Case 3 (Lemmas used)</vt:lpstr>
      <vt:lpstr>Computing V ̇ along trajectories of the closed-loop system</vt:lpstr>
      <vt:lpstr>Build the block matrix M_"case3"  (1/2)</vt:lpstr>
      <vt:lpstr>Build the block matrix M_"case3"  (2/2)</vt:lpstr>
      <vt:lpstr>Schur complement of M_"case3"  → ARI (1/2)</vt:lpstr>
      <vt:lpstr>Schur complement of M_"case3"  → ARI (2/2)</vt:lpstr>
      <vt:lpstr>Left and right multiply by X=P^(-1) (linearization)</vt:lpstr>
      <vt:lpstr>Reverse Schur complement → Final LMI (1/3)</vt:lpstr>
      <vt:lpstr>Reverse Schur complement → Final LMI (2/3)</vt:lpstr>
      <vt:lpstr>Reverse Schur complement → Final LMI (3/3)</vt:lpstr>
      <vt:lpstr>Simulation Setup</vt:lpstr>
      <vt:lpstr>Reproduced Results - Queue Length</vt:lpstr>
      <vt:lpstr>Reproduced Results - Window &amp; Input</vt:lpstr>
      <vt:lpstr>Reproduced Results - RTT &amp; Robustness</vt:lpstr>
      <vt:lpstr>Discussion &amp; Validation (1/5)</vt:lpstr>
      <vt:lpstr>Discussion &amp; Validation (2/4)</vt:lpstr>
      <vt:lpstr>Discussion &amp; Validation (3/5)</vt:lpstr>
      <vt:lpstr>Discussion &amp; Validation (4/5)</vt:lpstr>
      <vt:lpstr>Discussion &amp; Validation (5/5)</vt:lpstr>
      <vt:lpstr>Extension: H infinity SOF AQM vs PI AQM  </vt:lpstr>
      <vt:lpstr>Conclusion</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Ali Haider</dc:creator>
  <cp:lastModifiedBy>Muaz Rauf</cp:lastModifiedBy>
  <cp:revision>65</cp:revision>
  <dcterms:created xsi:type="dcterms:W3CDTF">2022-12-20T14:16:18Z</dcterms:created>
  <dcterms:modified xsi:type="dcterms:W3CDTF">2025-12-16T20:25:22Z</dcterms:modified>
</cp:coreProperties>
</file>